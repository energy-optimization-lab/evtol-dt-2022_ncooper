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 id="2147483700" r:id="rId5"/>
    <p:sldMasterId id="2147483713" r:id="rId6"/>
  </p:sldMasterIdLst>
  <p:notesMasterIdLst>
    <p:notesMasterId r:id="rId45"/>
  </p:notesMasterIdLst>
  <p:sldIdLst>
    <p:sldId id="256" r:id="rId7"/>
    <p:sldId id="257" r:id="rId8"/>
    <p:sldId id="258" r:id="rId9"/>
    <p:sldId id="259" r:id="rId10"/>
    <p:sldId id="260" r:id="rId11"/>
    <p:sldId id="262" r:id="rId12"/>
    <p:sldId id="263" r:id="rId13"/>
    <p:sldId id="264" r:id="rId14"/>
    <p:sldId id="265" r:id="rId15"/>
    <p:sldId id="294"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42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presProps" Target="presProps.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37"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pPr algn="ctr">
              <a:buNone/>
            </a:pPr>
            <a:r>
              <a:rPr lang="en-US" sz="4400" b="0" strike="noStrike" spc="-1">
                <a:latin typeface="Arial"/>
              </a:rPr>
              <a:t>Click to move the slide</a:t>
            </a:r>
          </a:p>
        </p:txBody>
      </p:sp>
      <p:sp>
        <p:nvSpPr>
          <p:cNvPr id="238"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r>
              <a:rPr lang="en-US" sz="2000" b="0" strike="noStrike" spc="-1">
                <a:latin typeface="Arial"/>
              </a:rPr>
              <a:t>Click to edit the notes format</a:t>
            </a:r>
          </a:p>
        </p:txBody>
      </p:sp>
      <p:sp>
        <p:nvSpPr>
          <p:cNvPr id="239"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r>
              <a:rPr lang="en-US" sz="1400" b="0" strike="noStrike" spc="-1">
                <a:latin typeface="Times New Roman"/>
              </a:rPr>
              <a:t>&lt;header&gt;</a:t>
            </a:r>
          </a:p>
        </p:txBody>
      </p:sp>
      <p:sp>
        <p:nvSpPr>
          <p:cNvPr id="240" name="PlaceHolder 4"/>
          <p:cNvSpPr>
            <a:spLocks noGrp="1"/>
          </p:cNvSpPr>
          <p:nvPr>
            <p:ph type="dt" idx="7"/>
          </p:nvPr>
        </p:nvSpPr>
        <p:spPr>
          <a:xfrm>
            <a:off x="4399200" y="0"/>
            <a:ext cx="3372840" cy="502560"/>
          </a:xfrm>
          <a:prstGeom prst="rect">
            <a:avLst/>
          </a:prstGeom>
          <a:noFill/>
          <a:ln w="0">
            <a:noFill/>
          </a:ln>
        </p:spPr>
        <p:txBody>
          <a:bodyPr lIns="0" tIns="0" rIns="0" bIns="0" anchor="t">
            <a:noAutofit/>
          </a:bodyPr>
          <a:lstStyle>
            <a:lvl1pPr algn="r">
              <a:buNone/>
              <a:defRPr lang="en-US" sz="1400" b="0" strike="noStrike" spc="-1">
                <a:latin typeface="Times New Roman"/>
              </a:defRPr>
            </a:lvl1pPr>
          </a:lstStyle>
          <a:p>
            <a:pPr algn="r">
              <a:buNone/>
            </a:pPr>
            <a:r>
              <a:rPr lang="en-US" sz="1400" b="0" strike="noStrike" spc="-1">
                <a:latin typeface="Times New Roman"/>
              </a:rPr>
              <a:t>&lt;date/time&gt;</a:t>
            </a:r>
          </a:p>
        </p:txBody>
      </p:sp>
      <p:sp>
        <p:nvSpPr>
          <p:cNvPr id="241" name="PlaceHolder 5"/>
          <p:cNvSpPr>
            <a:spLocks noGrp="1"/>
          </p:cNvSpPr>
          <p:nvPr>
            <p:ph type="ftr" idx="8"/>
          </p:nvPr>
        </p:nvSpPr>
        <p:spPr>
          <a:xfrm>
            <a:off x="0" y="9555480"/>
            <a:ext cx="3372840" cy="502560"/>
          </a:xfrm>
          <a:prstGeom prst="rect">
            <a:avLst/>
          </a:prstGeom>
          <a:noFill/>
          <a:ln w="0">
            <a:noFill/>
          </a:ln>
        </p:spPr>
        <p:txBody>
          <a:bodyPr lIns="0" tIns="0" rIns="0" bIns="0" anchor="b">
            <a:noAutofit/>
          </a:bodyPr>
          <a:lstStyle>
            <a:lvl1pPr>
              <a:defRPr lang="en-US" sz="1400" b="0" strike="noStrike" spc="-1">
                <a:latin typeface="Times New Roman"/>
              </a:defRPr>
            </a:lvl1pPr>
          </a:lstStyle>
          <a:p>
            <a:r>
              <a:rPr lang="en-US" sz="1400" b="0" strike="noStrike" spc="-1">
                <a:latin typeface="Times New Roman"/>
              </a:rPr>
              <a:t>&lt;footer&gt;</a:t>
            </a:r>
          </a:p>
        </p:txBody>
      </p:sp>
      <p:sp>
        <p:nvSpPr>
          <p:cNvPr id="242" name="PlaceHolder 6"/>
          <p:cNvSpPr>
            <a:spLocks noGrp="1"/>
          </p:cNvSpPr>
          <p:nvPr>
            <p:ph type="sldNum" idx="9"/>
          </p:nvPr>
        </p:nvSpPr>
        <p:spPr>
          <a:xfrm>
            <a:off x="4399200" y="9555480"/>
            <a:ext cx="3372840" cy="502560"/>
          </a:xfrm>
          <a:prstGeom prst="rect">
            <a:avLst/>
          </a:prstGeom>
          <a:noFill/>
          <a:ln w="0">
            <a:noFill/>
          </a:ln>
        </p:spPr>
        <p:txBody>
          <a:bodyPr lIns="0" tIns="0" rIns="0" bIns="0" anchor="b">
            <a:noAutofit/>
          </a:bodyPr>
          <a:lstStyle>
            <a:lvl1pPr algn="r">
              <a:buNone/>
              <a:defRPr lang="en-US" sz="1400" b="0" strike="noStrike" spc="-1">
                <a:latin typeface="Times New Roman"/>
              </a:defRPr>
            </a:lvl1pPr>
          </a:lstStyle>
          <a:p>
            <a:pPr algn="r">
              <a:buNone/>
            </a:pPr>
            <a:fld id="{5A5B6781-B34D-4DDB-A474-E11B2F123DA1}" type="slidenum">
              <a:rPr lang="en-US" sz="1400" b="0" strike="noStrike" spc="-1">
                <a:latin typeface="Times New Roman"/>
              </a:rP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 name="PlaceHolder 1"/>
          <p:cNvSpPr>
            <a:spLocks noGrp="1" noRot="1" noChangeAspect="1"/>
          </p:cNvSpPr>
          <p:nvPr>
            <p:ph type="sldImg"/>
          </p:nvPr>
        </p:nvSpPr>
        <p:spPr>
          <a:xfrm>
            <a:off x="685800" y="1143000"/>
            <a:ext cx="5485320" cy="3085200"/>
          </a:xfrm>
          <a:prstGeom prst="rect">
            <a:avLst/>
          </a:prstGeom>
          <a:ln w="0">
            <a:noFill/>
          </a:ln>
        </p:spPr>
      </p:sp>
      <p:sp>
        <p:nvSpPr>
          <p:cNvPr id="392"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endParaRPr lang="en-US" sz="2000" b="0" strike="noStrike" spc="-1">
              <a:latin typeface="Arial"/>
            </a:endParaRPr>
          </a:p>
        </p:txBody>
      </p:sp>
      <p:sp>
        <p:nvSpPr>
          <p:cNvPr id="393" name="PlaceHolder 3"/>
          <p:cNvSpPr>
            <a:spLocks noGrp="1"/>
          </p:cNvSpPr>
          <p:nvPr>
            <p:ph type="sldNum" idx="12"/>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3F4554F2-879D-4BA6-BE49-1273C27C84A7}" type="slidenum">
              <a:rPr lang="en-US" sz="1200" b="0" strike="noStrike" spc="-1">
                <a:latin typeface="Times New Roman"/>
              </a:rPr>
              <a:t>2</a:t>
            </a:fld>
            <a:endParaRPr lang="en-US" sz="1200" b="0" strike="noStrike" spc="-1">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PlaceHolder 1"/>
          <p:cNvSpPr>
            <a:spLocks noGrp="1" noRot="1" noChangeAspect="1"/>
          </p:cNvSpPr>
          <p:nvPr>
            <p:ph type="sldImg"/>
          </p:nvPr>
        </p:nvSpPr>
        <p:spPr>
          <a:xfrm>
            <a:off x="685800" y="1143000"/>
            <a:ext cx="5484813" cy="3084513"/>
          </a:xfrm>
          <a:prstGeom prst="rect">
            <a:avLst/>
          </a:prstGeom>
          <a:ln w="0">
            <a:noFill/>
          </a:ln>
        </p:spPr>
      </p:sp>
      <p:sp>
        <p:nvSpPr>
          <p:cNvPr id="395"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endParaRPr lang="en-US" sz="2000" b="0" strike="noStrike" spc="-1">
              <a:latin typeface="Arial"/>
            </a:endParaRPr>
          </a:p>
        </p:txBody>
      </p:sp>
      <p:sp>
        <p:nvSpPr>
          <p:cNvPr id="396" name="PlaceHolder 3"/>
          <p:cNvSpPr>
            <a:spLocks noGrp="1"/>
          </p:cNvSpPr>
          <p:nvPr>
            <p:ph type="sldNum" idx="13"/>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A76B408D-5595-4453-B0C7-7861909FF0E0}" type="slidenum">
              <a:rPr lang="en-US" sz="1200" b="0" strike="noStrike" spc="-1">
                <a:latin typeface="Times New Roman"/>
              </a:rPr>
              <a:t>3</a:t>
            </a:fld>
            <a:endParaRPr lang="en-US" sz="1200" b="0" strike="noStrike" spc="-1">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 name="PlaceHolder 1"/>
          <p:cNvSpPr>
            <a:spLocks noGrp="1" noRot="1" noChangeAspect="1"/>
          </p:cNvSpPr>
          <p:nvPr>
            <p:ph type="sldImg"/>
          </p:nvPr>
        </p:nvSpPr>
        <p:spPr>
          <a:xfrm>
            <a:off x="685800" y="1143000"/>
            <a:ext cx="5484813" cy="3084513"/>
          </a:xfrm>
          <a:prstGeom prst="rect">
            <a:avLst/>
          </a:prstGeom>
          <a:ln w="0">
            <a:noFill/>
          </a:ln>
        </p:spPr>
      </p:sp>
      <p:sp>
        <p:nvSpPr>
          <p:cNvPr id="398"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endParaRPr lang="en-US" sz="2000" b="0" strike="noStrike" spc="-1">
              <a:latin typeface="Arial"/>
            </a:endParaRPr>
          </a:p>
        </p:txBody>
      </p:sp>
      <p:sp>
        <p:nvSpPr>
          <p:cNvPr id="399" name="PlaceHolder 3"/>
          <p:cNvSpPr>
            <a:spLocks noGrp="1"/>
          </p:cNvSpPr>
          <p:nvPr>
            <p:ph type="sldNum" idx="14"/>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3E2004CB-731E-4526-8E8C-07F14FFA4B35}" type="slidenum">
              <a:rPr lang="en-US" sz="1200" b="0" strike="noStrike" spc="-1">
                <a:latin typeface="Times New Roman"/>
              </a:rPr>
              <a:t>4</a:t>
            </a:fld>
            <a:endParaRPr lang="en-US" sz="1200" b="0" strike="noStrike" spc="-1">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 name="PlaceHolder 1"/>
          <p:cNvSpPr>
            <a:spLocks noGrp="1" noRot="1" noChangeAspect="1"/>
          </p:cNvSpPr>
          <p:nvPr>
            <p:ph type="sldImg"/>
          </p:nvPr>
        </p:nvSpPr>
        <p:spPr>
          <a:xfrm>
            <a:off x="685800" y="1143000"/>
            <a:ext cx="5484813" cy="3084513"/>
          </a:xfrm>
          <a:prstGeom prst="rect">
            <a:avLst/>
          </a:prstGeom>
          <a:ln w="0">
            <a:noFill/>
          </a:ln>
        </p:spPr>
      </p:sp>
      <p:sp>
        <p:nvSpPr>
          <p:cNvPr id="401"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endParaRPr lang="en-US" sz="2000" b="0" strike="noStrike" spc="-1">
              <a:latin typeface="Arial"/>
            </a:endParaRPr>
          </a:p>
        </p:txBody>
      </p:sp>
      <p:sp>
        <p:nvSpPr>
          <p:cNvPr id="402" name="PlaceHolder 3"/>
          <p:cNvSpPr>
            <a:spLocks noGrp="1"/>
          </p:cNvSpPr>
          <p:nvPr>
            <p:ph type="sldNum" idx="15"/>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99A59662-98B8-4EDD-802C-4B2A51982DFA}" type="slidenum">
              <a:rPr lang="en-US" sz="1200" b="0" strike="noStrike" spc="-1">
                <a:latin typeface="Times New Roman"/>
              </a:rPr>
              <a:t>5</a:t>
            </a:fld>
            <a:endParaRPr lang="en-US" sz="1200" b="0" strike="noStrike" spc="-1">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 name="PlaceHolder 1"/>
          <p:cNvSpPr>
            <a:spLocks noGrp="1" noRot="1" noChangeAspect="1"/>
          </p:cNvSpPr>
          <p:nvPr>
            <p:ph type="sldImg"/>
          </p:nvPr>
        </p:nvSpPr>
        <p:spPr>
          <a:xfrm>
            <a:off x="685800" y="1143000"/>
            <a:ext cx="5484813" cy="3084513"/>
          </a:xfrm>
          <a:prstGeom prst="rect">
            <a:avLst/>
          </a:prstGeom>
          <a:ln w="0">
            <a:noFill/>
          </a:ln>
        </p:spPr>
      </p:sp>
      <p:sp>
        <p:nvSpPr>
          <p:cNvPr id="407"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endParaRPr lang="en-US" sz="2000" b="0" strike="noStrike" spc="-1">
              <a:latin typeface="Arial"/>
            </a:endParaRPr>
          </a:p>
        </p:txBody>
      </p:sp>
      <p:sp>
        <p:nvSpPr>
          <p:cNvPr id="408" name="PlaceHolder 3"/>
          <p:cNvSpPr>
            <a:spLocks noGrp="1"/>
          </p:cNvSpPr>
          <p:nvPr>
            <p:ph type="sldNum" idx="17"/>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111967A6-F942-4F41-A95B-2FFAB61896BF}" type="slidenum">
              <a:rPr lang="en-US" sz="1200" b="0" strike="noStrike" spc="-1">
                <a:latin typeface="Times New Roman"/>
              </a:rPr>
              <a:t>6</a:t>
            </a:fld>
            <a:endParaRPr lang="en-US" sz="1200" b="0" strike="noStrike" spc="-1">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 name="PlaceHolder 1"/>
          <p:cNvSpPr>
            <a:spLocks noGrp="1" noRot="1" noChangeAspect="1"/>
          </p:cNvSpPr>
          <p:nvPr>
            <p:ph type="sldImg"/>
          </p:nvPr>
        </p:nvSpPr>
        <p:spPr>
          <a:xfrm>
            <a:off x="685800" y="1143000"/>
            <a:ext cx="5484813" cy="3084513"/>
          </a:xfrm>
          <a:prstGeom prst="rect">
            <a:avLst/>
          </a:prstGeom>
          <a:ln w="0">
            <a:noFill/>
          </a:ln>
        </p:spPr>
      </p:sp>
      <p:sp>
        <p:nvSpPr>
          <p:cNvPr id="410"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endParaRPr lang="en-US" sz="2000" b="0" strike="noStrike" spc="-1">
              <a:latin typeface="Arial"/>
            </a:endParaRPr>
          </a:p>
        </p:txBody>
      </p:sp>
      <p:sp>
        <p:nvSpPr>
          <p:cNvPr id="411" name="PlaceHolder 3"/>
          <p:cNvSpPr>
            <a:spLocks noGrp="1"/>
          </p:cNvSpPr>
          <p:nvPr>
            <p:ph type="sldNum" idx="18"/>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B9981FDD-3A1A-4DB3-B740-52A504809612}" type="slidenum">
              <a:rPr lang="en-US" sz="1200" b="0" strike="noStrike" spc="-1">
                <a:latin typeface="Times New Roman"/>
              </a:rPr>
              <a:t>7</a:t>
            </a:fld>
            <a:endParaRPr lang="en-US" sz="1200" b="0" strike="noStrike" spc="-1">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 name="PlaceHolder 1"/>
          <p:cNvSpPr>
            <a:spLocks noGrp="1" noRot="1" noChangeAspect="1"/>
          </p:cNvSpPr>
          <p:nvPr>
            <p:ph type="sldImg"/>
          </p:nvPr>
        </p:nvSpPr>
        <p:spPr>
          <a:xfrm>
            <a:off x="685800" y="1143000"/>
            <a:ext cx="5484813" cy="3084513"/>
          </a:xfrm>
          <a:prstGeom prst="rect">
            <a:avLst/>
          </a:prstGeom>
          <a:ln w="0">
            <a:noFill/>
          </a:ln>
        </p:spPr>
      </p:sp>
      <p:sp>
        <p:nvSpPr>
          <p:cNvPr id="413"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endParaRPr lang="en-US" sz="2000" b="0" strike="noStrike" spc="-1">
              <a:latin typeface="Arial"/>
            </a:endParaRPr>
          </a:p>
        </p:txBody>
      </p:sp>
      <p:sp>
        <p:nvSpPr>
          <p:cNvPr id="414" name="PlaceHolder 3"/>
          <p:cNvSpPr>
            <a:spLocks noGrp="1"/>
          </p:cNvSpPr>
          <p:nvPr>
            <p:ph type="sldNum" idx="19"/>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A1CF4B1A-AD56-4DC4-BAA2-32D47040FF7B}" type="slidenum">
              <a:rPr lang="en-US" sz="1200" b="0" strike="noStrike" spc="-1">
                <a:latin typeface="Times New Roman"/>
              </a:rPr>
              <a:t>8</a:t>
            </a:fld>
            <a:endParaRPr lang="en-US" sz="1200" b="0" strike="noStrike" spc="-1">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79589-F991-E23A-1DE9-E610C931F871}"/>
            </a:ext>
          </a:extLst>
        </p:cNvPr>
        <p:cNvGrpSpPr/>
        <p:nvPr/>
      </p:nvGrpSpPr>
      <p:grpSpPr>
        <a:xfrm>
          <a:off x="0" y="0"/>
          <a:ext cx="0" cy="0"/>
          <a:chOff x="0" y="0"/>
          <a:chExt cx="0" cy="0"/>
        </a:xfrm>
      </p:grpSpPr>
      <p:sp>
        <p:nvSpPr>
          <p:cNvPr id="418" name="PlaceHolder 1">
            <a:extLst>
              <a:ext uri="{FF2B5EF4-FFF2-40B4-BE49-F238E27FC236}">
                <a16:creationId xmlns:a16="http://schemas.microsoft.com/office/drawing/2014/main" id="{81296F27-3513-67BA-E753-86CA39B5D60A}"/>
              </a:ext>
            </a:extLst>
          </p:cNvPr>
          <p:cNvSpPr>
            <a:spLocks noGrp="1" noRot="1" noChangeAspect="1"/>
          </p:cNvSpPr>
          <p:nvPr>
            <p:ph type="sldImg"/>
          </p:nvPr>
        </p:nvSpPr>
        <p:spPr>
          <a:xfrm>
            <a:off x="685800" y="1143000"/>
            <a:ext cx="5484813" cy="3084513"/>
          </a:xfrm>
          <a:prstGeom prst="rect">
            <a:avLst/>
          </a:prstGeom>
          <a:ln w="0">
            <a:noFill/>
          </a:ln>
        </p:spPr>
      </p:sp>
      <p:sp>
        <p:nvSpPr>
          <p:cNvPr id="419" name="PlaceHolder 2">
            <a:extLst>
              <a:ext uri="{FF2B5EF4-FFF2-40B4-BE49-F238E27FC236}">
                <a16:creationId xmlns:a16="http://schemas.microsoft.com/office/drawing/2014/main" id="{9386D118-BCA8-45E7-CBA3-9EF8CE6DBCF1}"/>
              </a:ext>
            </a:extLst>
          </p:cNvPr>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endParaRPr lang="en-US" sz="2000" b="0" strike="noStrike" spc="-1">
              <a:latin typeface="Arial"/>
            </a:endParaRPr>
          </a:p>
        </p:txBody>
      </p:sp>
      <p:sp>
        <p:nvSpPr>
          <p:cNvPr id="420" name="PlaceHolder 3">
            <a:extLst>
              <a:ext uri="{FF2B5EF4-FFF2-40B4-BE49-F238E27FC236}">
                <a16:creationId xmlns:a16="http://schemas.microsoft.com/office/drawing/2014/main" id="{16479F94-4566-367F-DD2A-848197DFF40B}"/>
              </a:ext>
            </a:extLst>
          </p:cNvPr>
          <p:cNvSpPr>
            <a:spLocks noGrp="1"/>
          </p:cNvSpPr>
          <p:nvPr>
            <p:ph type="sldNum" idx="21"/>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BC39E2F6-E5A1-460A-9891-ACB5744EF5D0}" type="slidenum">
              <a:rPr lang="en-US" sz="1200" b="0" strike="noStrike" spc="-1">
                <a:latin typeface="Times New Roman"/>
              </a:rPr>
              <a:t>10</a:t>
            </a:fld>
            <a:endParaRPr lang="en-US" sz="1200" b="0" strike="noStrike" spc="-1">
              <a:latin typeface="Times New Roman"/>
            </a:endParaRPr>
          </a:p>
        </p:txBody>
      </p:sp>
    </p:spTree>
    <p:extLst>
      <p:ext uri="{BB962C8B-B14F-4D97-AF65-F5344CB8AC3E}">
        <p14:creationId xmlns:p14="http://schemas.microsoft.com/office/powerpoint/2010/main" val="26906395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PlaceHolder 1"/>
          <p:cNvSpPr>
            <a:spLocks noGrp="1" noRot="1" noChangeAspect="1"/>
          </p:cNvSpPr>
          <p:nvPr>
            <p:ph type="sldImg"/>
          </p:nvPr>
        </p:nvSpPr>
        <p:spPr>
          <a:xfrm>
            <a:off x="685800" y="1143000"/>
            <a:ext cx="5484813" cy="3084513"/>
          </a:xfrm>
          <a:prstGeom prst="rect">
            <a:avLst/>
          </a:prstGeom>
          <a:ln w="0">
            <a:noFill/>
          </a:ln>
        </p:spPr>
      </p:sp>
      <p:sp>
        <p:nvSpPr>
          <p:cNvPr id="416"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pPr marL="285840" indent="-285840">
              <a:lnSpc>
                <a:spcPct val="100000"/>
              </a:lnSpc>
              <a:buClr>
                <a:srgbClr val="000000"/>
              </a:buClr>
              <a:buFont typeface="Arial"/>
              <a:buChar char="•"/>
            </a:pPr>
            <a:r>
              <a:rPr lang="en-US" sz="2000" b="0" strike="noStrike" spc="-1" dirty="0">
                <a:latin typeface="Arial"/>
              </a:rPr>
              <a:t>Top: </a:t>
            </a:r>
            <a:r>
              <a:rPr lang="en-US" sz="2000" b="0" strike="noStrike" spc="-1" dirty="0" err="1">
                <a:latin typeface="Arial"/>
              </a:rPr>
              <a:t>Ampaire</a:t>
            </a:r>
            <a:r>
              <a:rPr lang="en-US" sz="2000" b="0" strike="noStrike" spc="-1" dirty="0">
                <a:latin typeface="Arial"/>
              </a:rPr>
              <a:t> Eco Caravan adapted from the Cessna 208, a turbogenerator/battery hybrid</a:t>
            </a:r>
          </a:p>
          <a:p>
            <a:pPr>
              <a:lnSpc>
                <a:spcPct val="100000"/>
              </a:lnSpc>
              <a:buNone/>
            </a:pPr>
            <a:endParaRPr lang="en-US" sz="2000" b="0" strike="noStrike" spc="-1" dirty="0">
              <a:latin typeface="Arial"/>
            </a:endParaRPr>
          </a:p>
          <a:p>
            <a:pPr marL="285840" indent="-285840">
              <a:lnSpc>
                <a:spcPct val="100000"/>
              </a:lnSpc>
              <a:buClr>
                <a:srgbClr val="000000"/>
              </a:buClr>
              <a:buFont typeface="Arial"/>
              <a:buChar char="•"/>
            </a:pPr>
            <a:r>
              <a:rPr lang="en-US" sz="2000" b="0" strike="noStrike" spc="-1" dirty="0">
                <a:latin typeface="Arial"/>
              </a:rPr>
              <a:t>Bottom Left: </a:t>
            </a:r>
            <a:r>
              <a:rPr lang="en-US" sz="2000" b="0" strike="noStrike" spc="-1" dirty="0" err="1">
                <a:latin typeface="Arial"/>
              </a:rPr>
              <a:t>ZeroAvia</a:t>
            </a:r>
            <a:r>
              <a:rPr lang="en-US" sz="2000" b="0" strike="noStrike" spc="-1" dirty="0">
                <a:latin typeface="Arial"/>
              </a:rPr>
              <a:t> Dornier 228, a turbogenerator/fuel cell hybrid</a:t>
            </a:r>
          </a:p>
          <a:p>
            <a:pPr>
              <a:lnSpc>
                <a:spcPct val="100000"/>
              </a:lnSpc>
              <a:buNone/>
            </a:pPr>
            <a:endParaRPr lang="en-US" sz="2000" b="0" strike="noStrike" spc="-1" dirty="0">
              <a:latin typeface="Arial"/>
            </a:endParaRPr>
          </a:p>
          <a:p>
            <a:pPr marL="285840" indent="-285840">
              <a:lnSpc>
                <a:spcPct val="100000"/>
              </a:lnSpc>
              <a:buClr>
                <a:srgbClr val="000000"/>
              </a:buClr>
              <a:buFont typeface="Arial"/>
              <a:buChar char="•"/>
            </a:pPr>
            <a:r>
              <a:rPr lang="en-US" sz="2000" b="0" strike="noStrike" spc="-1" dirty="0">
                <a:latin typeface="Arial"/>
              </a:rPr>
              <a:t>Bottom Right: Pipistrel Velis Electro</a:t>
            </a:r>
          </a:p>
          <a:p>
            <a:pPr>
              <a:lnSpc>
                <a:spcPct val="100000"/>
              </a:lnSpc>
              <a:buNone/>
            </a:pPr>
            <a:endParaRPr lang="en-US" sz="2000" b="0" strike="noStrike" spc="-1" dirty="0">
              <a:latin typeface="Arial"/>
            </a:endParaRPr>
          </a:p>
        </p:txBody>
      </p:sp>
      <p:sp>
        <p:nvSpPr>
          <p:cNvPr id="417" name="PlaceHolder 3"/>
          <p:cNvSpPr>
            <a:spLocks noGrp="1"/>
          </p:cNvSpPr>
          <p:nvPr>
            <p:ph type="sldNum" idx="20"/>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8BD5EBE7-CDBC-42C1-8B9D-E8A7C19EC697}" type="slidenum">
              <a:rPr lang="en-US" sz="1200" b="0" strike="noStrike" spc="-1">
                <a:latin typeface="Times New Roman"/>
              </a:rPr>
              <a:t>11</a:t>
            </a:fld>
            <a:endParaRPr lang="en-US" sz="1200" b="0" strike="noStrike" spc="-1">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 name="PlaceHolder 1"/>
          <p:cNvSpPr>
            <a:spLocks noGrp="1" noRot="1" noChangeAspect="1"/>
          </p:cNvSpPr>
          <p:nvPr>
            <p:ph type="sldImg"/>
          </p:nvPr>
        </p:nvSpPr>
        <p:spPr>
          <a:xfrm>
            <a:off x="685800" y="1143000"/>
            <a:ext cx="5484813" cy="3084513"/>
          </a:xfrm>
          <a:prstGeom prst="rect">
            <a:avLst/>
          </a:prstGeom>
          <a:ln w="0">
            <a:noFill/>
          </a:ln>
        </p:spPr>
      </p:sp>
      <p:sp>
        <p:nvSpPr>
          <p:cNvPr id="419"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endParaRPr lang="en-US" sz="2000" b="0" strike="noStrike" spc="-1">
              <a:latin typeface="Arial"/>
            </a:endParaRPr>
          </a:p>
        </p:txBody>
      </p:sp>
      <p:sp>
        <p:nvSpPr>
          <p:cNvPr id="420" name="PlaceHolder 3"/>
          <p:cNvSpPr>
            <a:spLocks noGrp="1"/>
          </p:cNvSpPr>
          <p:nvPr>
            <p:ph type="sldNum" idx="21"/>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BC39E2F6-E5A1-460A-9891-ACB5744EF5D0}" type="slidenum">
              <a:rPr lang="en-US" sz="1200" b="0" strike="noStrike" spc="-1">
                <a:latin typeface="Times New Roman"/>
              </a:rPr>
              <a:t>12</a:t>
            </a:fld>
            <a:endParaRPr lang="en-US" sz="1200" b="0" strike="noStrike" spc="-1">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PlaceHolder 1"/>
          <p:cNvSpPr>
            <a:spLocks noGrp="1" noRot="1" noChangeAspect="1"/>
          </p:cNvSpPr>
          <p:nvPr>
            <p:ph type="sldImg"/>
          </p:nvPr>
        </p:nvSpPr>
        <p:spPr>
          <a:xfrm>
            <a:off x="685800" y="1143000"/>
            <a:ext cx="5484813" cy="3084513"/>
          </a:xfrm>
          <a:prstGeom prst="rect">
            <a:avLst/>
          </a:prstGeom>
          <a:ln w="0">
            <a:noFill/>
          </a:ln>
        </p:spPr>
      </p:sp>
      <p:sp>
        <p:nvSpPr>
          <p:cNvPr id="422"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pPr marL="216000" indent="-216000">
              <a:lnSpc>
                <a:spcPct val="100000"/>
              </a:lnSpc>
              <a:buNone/>
              <a:tabLst>
                <a:tab pos="0" algn="l"/>
              </a:tabLst>
            </a:pPr>
            <a:r>
              <a:rPr lang="en-US" sz="2000" b="0" strike="noStrike" spc="-1">
                <a:latin typeface="Arial"/>
              </a:rPr>
              <a:t>Drawbacks to OMC: Have to cover every possible operating state.  Power allocation within each state has to be optimized.</a:t>
            </a:r>
          </a:p>
        </p:txBody>
      </p:sp>
      <p:sp>
        <p:nvSpPr>
          <p:cNvPr id="423" name="PlaceHolder 3"/>
          <p:cNvSpPr>
            <a:spLocks noGrp="1"/>
          </p:cNvSpPr>
          <p:nvPr>
            <p:ph type="sldNum" idx="22"/>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DDE530D4-AF8C-4DB5-A9C0-F19D3C2A86E7}" type="slidenum">
              <a:rPr lang="en-US" sz="1200" b="0" strike="noStrike" spc="-1">
                <a:latin typeface="Times New Roman"/>
              </a:rPr>
              <a:t>13</a:t>
            </a:fld>
            <a:endParaRPr lang="en-US" sz="1200" b="0" strike="noStrike" spc="-1">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 name="PlaceHolder 1"/>
          <p:cNvSpPr>
            <a:spLocks noGrp="1" noRot="1" noChangeAspect="1"/>
          </p:cNvSpPr>
          <p:nvPr>
            <p:ph type="sldImg"/>
          </p:nvPr>
        </p:nvSpPr>
        <p:spPr>
          <a:xfrm>
            <a:off x="685800" y="1143000"/>
            <a:ext cx="5484813" cy="3084513"/>
          </a:xfrm>
          <a:prstGeom prst="rect">
            <a:avLst/>
          </a:prstGeom>
          <a:ln w="0">
            <a:noFill/>
          </a:ln>
        </p:spPr>
      </p:sp>
      <p:sp>
        <p:nvSpPr>
          <p:cNvPr id="425"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endParaRPr lang="en-US" sz="2000" b="0" strike="noStrike" spc="-1">
              <a:latin typeface="Arial"/>
            </a:endParaRPr>
          </a:p>
        </p:txBody>
      </p:sp>
      <p:sp>
        <p:nvSpPr>
          <p:cNvPr id="426" name="PlaceHolder 3"/>
          <p:cNvSpPr>
            <a:spLocks noGrp="1"/>
          </p:cNvSpPr>
          <p:nvPr>
            <p:ph type="sldNum" idx="23"/>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12CAA6D7-6E10-48D1-A462-BE21B49C12A1}" type="slidenum">
              <a:rPr lang="en-US" sz="1200" b="0" strike="noStrike" spc="-1">
                <a:latin typeface="Times New Roman"/>
              </a:rPr>
              <a:t>14</a:t>
            </a:fld>
            <a:endParaRPr lang="en-US" sz="1200" b="0" strike="noStrike" spc="-1">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 name="PlaceHolder 1"/>
          <p:cNvSpPr>
            <a:spLocks noGrp="1" noRot="1" noChangeAspect="1"/>
          </p:cNvSpPr>
          <p:nvPr>
            <p:ph type="sldImg"/>
          </p:nvPr>
        </p:nvSpPr>
        <p:spPr>
          <a:xfrm>
            <a:off x="685800" y="1143000"/>
            <a:ext cx="5484813" cy="3084513"/>
          </a:xfrm>
          <a:prstGeom prst="rect">
            <a:avLst/>
          </a:prstGeom>
          <a:ln w="0">
            <a:noFill/>
          </a:ln>
        </p:spPr>
      </p:sp>
      <p:sp>
        <p:nvSpPr>
          <p:cNvPr id="428"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endParaRPr lang="en-US" sz="2000" b="0" strike="noStrike" spc="-1">
              <a:latin typeface="Arial"/>
            </a:endParaRPr>
          </a:p>
        </p:txBody>
      </p:sp>
      <p:sp>
        <p:nvSpPr>
          <p:cNvPr id="429" name="PlaceHolder 3"/>
          <p:cNvSpPr>
            <a:spLocks noGrp="1"/>
          </p:cNvSpPr>
          <p:nvPr>
            <p:ph type="sldNum" idx="24"/>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CCA20900-9D7F-4E6E-A3A7-A4F1BC6CCE1E}" type="slidenum">
              <a:rPr lang="en-US" sz="1200" b="0" strike="noStrike" spc="-1">
                <a:latin typeface="Times New Roman"/>
              </a:rPr>
              <a:t>16</a:t>
            </a:fld>
            <a:endParaRPr lang="en-US" sz="1200" b="0" strike="noStrike" spc="-1">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 name="PlaceHolder 1"/>
          <p:cNvSpPr>
            <a:spLocks noGrp="1" noRot="1" noChangeAspect="1"/>
          </p:cNvSpPr>
          <p:nvPr>
            <p:ph type="sldImg"/>
          </p:nvPr>
        </p:nvSpPr>
        <p:spPr>
          <a:xfrm>
            <a:off x="685800" y="1143000"/>
            <a:ext cx="5484813" cy="3084513"/>
          </a:xfrm>
          <a:prstGeom prst="rect">
            <a:avLst/>
          </a:prstGeom>
          <a:ln w="0">
            <a:noFill/>
          </a:ln>
        </p:spPr>
      </p:sp>
      <p:sp>
        <p:nvSpPr>
          <p:cNvPr id="431"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r>
              <a:rPr lang="en-US" sz="2000" b="0" strike="noStrike" spc="-1" dirty="0">
                <a:latin typeface="Arial"/>
              </a:rPr>
              <a:t>Ballard MK5 cell</a:t>
            </a:r>
          </a:p>
        </p:txBody>
      </p:sp>
      <p:sp>
        <p:nvSpPr>
          <p:cNvPr id="432" name="PlaceHolder 3"/>
          <p:cNvSpPr>
            <a:spLocks noGrp="1"/>
          </p:cNvSpPr>
          <p:nvPr>
            <p:ph type="sldNum" idx="25"/>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31DC54C4-9DF2-4FAB-A357-7D26A6BF01CB}" type="slidenum">
              <a:rPr lang="en-US" sz="1200" b="0" strike="noStrike" spc="-1">
                <a:latin typeface="Times New Roman"/>
              </a:rPr>
              <a:t>17</a:t>
            </a:fld>
            <a:endParaRPr lang="en-US" sz="1200" b="0" strike="noStrike" spc="-1">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 name="PlaceHolder 1"/>
          <p:cNvSpPr>
            <a:spLocks noGrp="1" noRot="1" noChangeAspect="1"/>
          </p:cNvSpPr>
          <p:nvPr>
            <p:ph type="sldImg"/>
          </p:nvPr>
        </p:nvSpPr>
        <p:spPr>
          <a:xfrm>
            <a:off x="685800" y="1143000"/>
            <a:ext cx="5484813" cy="3084513"/>
          </a:xfrm>
          <a:prstGeom prst="rect">
            <a:avLst/>
          </a:prstGeom>
          <a:ln w="0">
            <a:noFill/>
          </a:ln>
        </p:spPr>
      </p:sp>
      <p:sp>
        <p:nvSpPr>
          <p:cNvPr id="434"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endParaRPr lang="en-US" sz="2000" b="0" strike="noStrike" spc="-1">
              <a:latin typeface="Arial"/>
            </a:endParaRPr>
          </a:p>
        </p:txBody>
      </p:sp>
      <p:sp>
        <p:nvSpPr>
          <p:cNvPr id="435" name="PlaceHolder 3"/>
          <p:cNvSpPr>
            <a:spLocks noGrp="1"/>
          </p:cNvSpPr>
          <p:nvPr>
            <p:ph type="sldNum" idx="26"/>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BF22805E-274B-4FDF-BD41-90C7325A507D}" type="slidenum">
              <a:rPr lang="en-US" sz="1200" b="0" strike="noStrike" spc="-1">
                <a:latin typeface="Times New Roman"/>
              </a:rPr>
              <a:t>18</a:t>
            </a:fld>
            <a:endParaRPr lang="en-US" sz="1200" b="0" strike="noStrike" spc="-1">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 name="PlaceHolder 1"/>
          <p:cNvSpPr>
            <a:spLocks noGrp="1" noRot="1" noChangeAspect="1"/>
          </p:cNvSpPr>
          <p:nvPr>
            <p:ph type="sldImg"/>
          </p:nvPr>
        </p:nvSpPr>
        <p:spPr>
          <a:xfrm>
            <a:off x="685800" y="1143000"/>
            <a:ext cx="5484813" cy="3084513"/>
          </a:xfrm>
          <a:prstGeom prst="rect">
            <a:avLst/>
          </a:prstGeom>
          <a:ln w="0">
            <a:noFill/>
          </a:ln>
        </p:spPr>
      </p:sp>
      <p:sp>
        <p:nvSpPr>
          <p:cNvPr id="437"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endParaRPr lang="en-US" sz="2000" b="0" strike="noStrike" spc="-1">
              <a:latin typeface="Arial"/>
            </a:endParaRPr>
          </a:p>
        </p:txBody>
      </p:sp>
      <p:sp>
        <p:nvSpPr>
          <p:cNvPr id="438" name="PlaceHolder 3"/>
          <p:cNvSpPr>
            <a:spLocks noGrp="1"/>
          </p:cNvSpPr>
          <p:nvPr>
            <p:ph type="sldNum" idx="27"/>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A1E9F6EA-F439-41A8-A35F-137331FFEAB1}" type="slidenum">
              <a:rPr lang="en-US" sz="1200" b="0" strike="noStrike" spc="-1">
                <a:latin typeface="Times New Roman"/>
              </a:rPr>
              <a:t>19</a:t>
            </a:fld>
            <a:endParaRPr lang="en-US" sz="1200" b="0" strike="noStrike" spc="-1">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 name="PlaceHolder 1"/>
          <p:cNvSpPr>
            <a:spLocks noGrp="1" noRot="1" noChangeAspect="1"/>
          </p:cNvSpPr>
          <p:nvPr>
            <p:ph type="sldImg"/>
          </p:nvPr>
        </p:nvSpPr>
        <p:spPr>
          <a:xfrm>
            <a:off x="685800" y="1143000"/>
            <a:ext cx="5484813" cy="3084513"/>
          </a:xfrm>
          <a:prstGeom prst="rect">
            <a:avLst/>
          </a:prstGeom>
          <a:ln w="0">
            <a:noFill/>
          </a:ln>
        </p:spPr>
      </p:sp>
      <p:sp>
        <p:nvSpPr>
          <p:cNvPr id="440"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endParaRPr lang="en-US" sz="2000" b="0" strike="noStrike" spc="-1">
              <a:latin typeface="Arial"/>
            </a:endParaRPr>
          </a:p>
        </p:txBody>
      </p:sp>
      <p:sp>
        <p:nvSpPr>
          <p:cNvPr id="441" name="PlaceHolder 3"/>
          <p:cNvSpPr>
            <a:spLocks noGrp="1"/>
          </p:cNvSpPr>
          <p:nvPr>
            <p:ph type="sldNum" idx="28"/>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6CBBE48E-1378-4D97-BDCD-1924159B4F1A}" type="slidenum">
              <a:rPr lang="en-US" sz="1200" b="0" strike="noStrike" spc="-1">
                <a:latin typeface="Times New Roman"/>
              </a:rPr>
              <a:t>20</a:t>
            </a:fld>
            <a:endParaRPr lang="en-US" sz="1200" b="0" strike="noStrike" spc="-1">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noRot="1" noChangeAspect="1"/>
          </p:cNvSpPr>
          <p:nvPr>
            <p:ph type="sldImg"/>
          </p:nvPr>
        </p:nvSpPr>
        <p:spPr>
          <a:xfrm>
            <a:off x="685800" y="1143000"/>
            <a:ext cx="5484813" cy="3084513"/>
          </a:xfrm>
          <a:prstGeom prst="rect">
            <a:avLst/>
          </a:prstGeom>
          <a:ln w="0">
            <a:noFill/>
          </a:ln>
        </p:spPr>
      </p:sp>
      <p:sp>
        <p:nvSpPr>
          <p:cNvPr id="443"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endParaRPr lang="en-US" sz="2000" b="0" strike="noStrike" spc="-1">
              <a:latin typeface="Arial"/>
            </a:endParaRPr>
          </a:p>
        </p:txBody>
      </p:sp>
      <p:sp>
        <p:nvSpPr>
          <p:cNvPr id="444" name="PlaceHolder 3"/>
          <p:cNvSpPr>
            <a:spLocks noGrp="1"/>
          </p:cNvSpPr>
          <p:nvPr>
            <p:ph type="sldNum" idx="29"/>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8F1CF9DA-7532-4958-9DBC-9C19F624AF4A}" type="slidenum">
              <a:rPr lang="en-US" sz="1200" b="0" strike="noStrike" spc="-1">
                <a:latin typeface="Times New Roman"/>
              </a:rPr>
              <a:t>21</a:t>
            </a:fld>
            <a:endParaRPr lang="en-US" sz="1200" b="0" strike="noStrike" spc="-1">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 name="PlaceHolder 1"/>
          <p:cNvSpPr>
            <a:spLocks noGrp="1" noRot="1" noChangeAspect="1"/>
          </p:cNvSpPr>
          <p:nvPr>
            <p:ph type="sldImg"/>
          </p:nvPr>
        </p:nvSpPr>
        <p:spPr>
          <a:xfrm>
            <a:off x="685800" y="1143000"/>
            <a:ext cx="5484813" cy="3084513"/>
          </a:xfrm>
          <a:prstGeom prst="rect">
            <a:avLst/>
          </a:prstGeom>
          <a:ln w="0">
            <a:noFill/>
          </a:ln>
        </p:spPr>
      </p:sp>
      <p:sp>
        <p:nvSpPr>
          <p:cNvPr id="446"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endParaRPr lang="en-US" sz="2000" b="0" strike="noStrike" spc="-1">
              <a:latin typeface="Arial"/>
            </a:endParaRPr>
          </a:p>
        </p:txBody>
      </p:sp>
      <p:sp>
        <p:nvSpPr>
          <p:cNvPr id="447" name="PlaceHolder 3"/>
          <p:cNvSpPr>
            <a:spLocks noGrp="1"/>
          </p:cNvSpPr>
          <p:nvPr>
            <p:ph type="sldNum" idx="30"/>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B6D37497-1C08-4792-8F45-41431CC83A02}" type="slidenum">
              <a:rPr lang="en-US" sz="1200" b="0" strike="noStrike" spc="-1">
                <a:latin typeface="Times New Roman"/>
              </a:rPr>
              <a:t>22</a:t>
            </a:fld>
            <a:endParaRPr lang="en-US" sz="1200" b="0" strike="noStrike" spc="-1">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 name="PlaceHolder 1"/>
          <p:cNvSpPr>
            <a:spLocks noGrp="1" noRot="1" noChangeAspect="1"/>
          </p:cNvSpPr>
          <p:nvPr>
            <p:ph type="sldImg"/>
          </p:nvPr>
        </p:nvSpPr>
        <p:spPr>
          <a:xfrm>
            <a:off x="685800" y="1143000"/>
            <a:ext cx="5484813" cy="3084513"/>
          </a:xfrm>
          <a:prstGeom prst="rect">
            <a:avLst/>
          </a:prstGeom>
          <a:ln w="0">
            <a:noFill/>
          </a:ln>
        </p:spPr>
      </p:sp>
      <p:sp>
        <p:nvSpPr>
          <p:cNvPr id="449"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endParaRPr lang="en-US" sz="2000" b="0" strike="noStrike" spc="-1" dirty="0">
              <a:latin typeface="Arial"/>
            </a:endParaRPr>
          </a:p>
          <a:p>
            <a:r>
              <a:rPr lang="en-US" sz="2000" b="0" strike="noStrike" spc="-1" dirty="0">
                <a:latin typeface="Arial"/>
              </a:rPr>
              <a:t>Strip-fin crossflow heat exchanger</a:t>
            </a:r>
          </a:p>
          <a:p>
            <a:r>
              <a:rPr lang="en-US" sz="2000" b="0" strike="noStrike" spc="-1" dirty="0">
                <a:latin typeface="Arial"/>
              </a:rPr>
              <a:t>Colburn Factor: j=Nu/(Re*(Pr^1/3))</a:t>
            </a:r>
          </a:p>
        </p:txBody>
      </p:sp>
      <p:sp>
        <p:nvSpPr>
          <p:cNvPr id="450" name="PlaceHolder 3"/>
          <p:cNvSpPr>
            <a:spLocks noGrp="1"/>
          </p:cNvSpPr>
          <p:nvPr>
            <p:ph type="sldNum" idx="31"/>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C84BE789-0726-4ABB-B004-7455D6F5F095}" type="slidenum">
              <a:rPr lang="en-US" sz="1200" b="0" strike="noStrike" spc="-1">
                <a:latin typeface="Times New Roman"/>
              </a:rPr>
              <a:t>23</a:t>
            </a:fld>
            <a:endParaRPr lang="en-US" sz="1200" b="0" strike="noStrike" spc="-1">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 name="PlaceHolder 1"/>
          <p:cNvSpPr>
            <a:spLocks noGrp="1" noRot="1" noChangeAspect="1"/>
          </p:cNvSpPr>
          <p:nvPr>
            <p:ph type="sldImg"/>
          </p:nvPr>
        </p:nvSpPr>
        <p:spPr>
          <a:xfrm>
            <a:off x="685800" y="1143000"/>
            <a:ext cx="5484813" cy="3084513"/>
          </a:xfrm>
          <a:prstGeom prst="rect">
            <a:avLst/>
          </a:prstGeom>
          <a:ln w="0">
            <a:noFill/>
          </a:ln>
        </p:spPr>
      </p:sp>
      <p:sp>
        <p:nvSpPr>
          <p:cNvPr id="452"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endParaRPr lang="en-US" sz="2000" b="0" strike="noStrike" spc="-1">
              <a:latin typeface="Arial"/>
            </a:endParaRPr>
          </a:p>
        </p:txBody>
      </p:sp>
      <p:sp>
        <p:nvSpPr>
          <p:cNvPr id="453" name="PlaceHolder 3"/>
          <p:cNvSpPr>
            <a:spLocks noGrp="1"/>
          </p:cNvSpPr>
          <p:nvPr>
            <p:ph type="sldNum" idx="32"/>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BADD884F-5CF5-4023-A3D1-95B167395F61}" type="slidenum">
              <a:rPr lang="en-US" sz="1200" b="0" strike="noStrike" spc="-1">
                <a:latin typeface="Times New Roman"/>
              </a:rPr>
              <a:t>24</a:t>
            </a:fld>
            <a:endParaRPr lang="en-US" sz="1200" b="0" strike="noStrike" spc="-1">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 name="PlaceHolder 1"/>
          <p:cNvSpPr>
            <a:spLocks noGrp="1" noRot="1" noChangeAspect="1"/>
          </p:cNvSpPr>
          <p:nvPr>
            <p:ph type="sldImg"/>
          </p:nvPr>
        </p:nvSpPr>
        <p:spPr>
          <a:xfrm>
            <a:off x="685800" y="1143000"/>
            <a:ext cx="5484813" cy="3084513"/>
          </a:xfrm>
          <a:prstGeom prst="rect">
            <a:avLst/>
          </a:prstGeom>
          <a:ln w="0">
            <a:noFill/>
          </a:ln>
        </p:spPr>
      </p:sp>
      <p:sp>
        <p:nvSpPr>
          <p:cNvPr id="455"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endParaRPr lang="en-US" sz="2000" b="0" strike="noStrike" spc="-1">
              <a:latin typeface="Arial"/>
            </a:endParaRPr>
          </a:p>
        </p:txBody>
      </p:sp>
      <p:sp>
        <p:nvSpPr>
          <p:cNvPr id="456" name="PlaceHolder 3"/>
          <p:cNvSpPr>
            <a:spLocks noGrp="1"/>
          </p:cNvSpPr>
          <p:nvPr>
            <p:ph type="sldNum" idx="33"/>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01784143-FC84-4D1D-898C-4F98FB0EC99B}" type="slidenum">
              <a:rPr lang="en-US" sz="1200" b="0" strike="noStrike" spc="-1">
                <a:latin typeface="Times New Roman"/>
              </a:rPr>
              <a:t>25</a:t>
            </a:fld>
            <a:endParaRPr lang="en-US" sz="1200" b="0" strike="noStrike" spc="-1">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 name="PlaceHolder 1"/>
          <p:cNvSpPr>
            <a:spLocks noGrp="1" noRot="1" noChangeAspect="1"/>
          </p:cNvSpPr>
          <p:nvPr>
            <p:ph type="sldImg"/>
          </p:nvPr>
        </p:nvSpPr>
        <p:spPr>
          <a:xfrm>
            <a:off x="685800" y="1143000"/>
            <a:ext cx="5484813" cy="3084513"/>
          </a:xfrm>
          <a:prstGeom prst="rect">
            <a:avLst/>
          </a:prstGeom>
          <a:ln w="0">
            <a:noFill/>
          </a:ln>
        </p:spPr>
      </p:sp>
      <p:sp>
        <p:nvSpPr>
          <p:cNvPr id="458"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endParaRPr lang="en-US" sz="2000" b="0" strike="noStrike" spc="-1">
              <a:latin typeface="Arial"/>
            </a:endParaRPr>
          </a:p>
        </p:txBody>
      </p:sp>
      <p:sp>
        <p:nvSpPr>
          <p:cNvPr id="459" name="PlaceHolder 3"/>
          <p:cNvSpPr>
            <a:spLocks noGrp="1"/>
          </p:cNvSpPr>
          <p:nvPr>
            <p:ph type="sldNum" idx="34"/>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C833E709-A63B-4CE8-B37E-7997552213D4}" type="slidenum">
              <a:rPr lang="en-US" sz="1200" b="0" strike="noStrike" spc="-1">
                <a:latin typeface="Times New Roman"/>
              </a:rPr>
              <a:t>26</a:t>
            </a:fld>
            <a:endParaRPr lang="en-US" sz="1200" b="0" strike="noStrike" spc="-1">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PlaceHolder 1"/>
          <p:cNvSpPr>
            <a:spLocks noGrp="1" noRot="1" noChangeAspect="1"/>
          </p:cNvSpPr>
          <p:nvPr>
            <p:ph type="sldImg"/>
          </p:nvPr>
        </p:nvSpPr>
        <p:spPr>
          <a:xfrm>
            <a:off x="685800" y="1143000"/>
            <a:ext cx="5484813" cy="3084513"/>
          </a:xfrm>
          <a:prstGeom prst="rect">
            <a:avLst/>
          </a:prstGeom>
          <a:ln w="0">
            <a:noFill/>
          </a:ln>
        </p:spPr>
      </p:sp>
      <p:sp>
        <p:nvSpPr>
          <p:cNvPr id="461"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endParaRPr lang="en-US" sz="2000" b="0" strike="noStrike" spc="-1">
              <a:latin typeface="Arial"/>
            </a:endParaRPr>
          </a:p>
        </p:txBody>
      </p:sp>
      <p:sp>
        <p:nvSpPr>
          <p:cNvPr id="462" name="PlaceHolder 3"/>
          <p:cNvSpPr>
            <a:spLocks noGrp="1"/>
          </p:cNvSpPr>
          <p:nvPr>
            <p:ph type="sldNum" idx="35"/>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F0F7FAF3-11F8-40D2-9A20-F87A6FB9BCDF}" type="slidenum">
              <a:rPr lang="en-US" sz="1200" b="0" strike="noStrike" spc="-1">
                <a:latin typeface="Times New Roman"/>
              </a:rPr>
              <a:t>27</a:t>
            </a:fld>
            <a:endParaRPr lang="en-US" sz="1200" b="0" strike="noStrike" spc="-1">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 name="PlaceHolder 1"/>
          <p:cNvSpPr>
            <a:spLocks noGrp="1" noRot="1" noChangeAspect="1"/>
          </p:cNvSpPr>
          <p:nvPr>
            <p:ph type="sldImg"/>
          </p:nvPr>
        </p:nvSpPr>
        <p:spPr>
          <a:xfrm>
            <a:off x="685800" y="1143000"/>
            <a:ext cx="5484813" cy="3084513"/>
          </a:xfrm>
          <a:prstGeom prst="rect">
            <a:avLst/>
          </a:prstGeom>
          <a:ln w="0">
            <a:noFill/>
          </a:ln>
        </p:spPr>
      </p:sp>
      <p:sp>
        <p:nvSpPr>
          <p:cNvPr id="464"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endParaRPr lang="en-US" sz="2000" b="0" strike="noStrike" spc="-1">
              <a:latin typeface="Arial"/>
            </a:endParaRPr>
          </a:p>
        </p:txBody>
      </p:sp>
      <p:sp>
        <p:nvSpPr>
          <p:cNvPr id="465" name="PlaceHolder 3"/>
          <p:cNvSpPr>
            <a:spLocks noGrp="1"/>
          </p:cNvSpPr>
          <p:nvPr>
            <p:ph type="sldNum" idx="36"/>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6AE2AE52-F4F7-48AD-AEA4-5AD334581097}" type="slidenum">
              <a:rPr lang="en-US" sz="1200" b="0" strike="noStrike" spc="-1">
                <a:latin typeface="Times New Roman"/>
              </a:rPr>
              <a:t>29</a:t>
            </a:fld>
            <a:endParaRPr lang="en-US" sz="1200" b="0" strike="noStrike" spc="-1">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 name="PlaceHolder 1"/>
          <p:cNvSpPr>
            <a:spLocks noGrp="1" noRot="1" noChangeAspect="1"/>
          </p:cNvSpPr>
          <p:nvPr>
            <p:ph type="sldImg"/>
          </p:nvPr>
        </p:nvSpPr>
        <p:spPr>
          <a:xfrm>
            <a:off x="685800" y="1143000"/>
            <a:ext cx="5484813" cy="3084513"/>
          </a:xfrm>
          <a:prstGeom prst="rect">
            <a:avLst/>
          </a:prstGeom>
          <a:ln w="0">
            <a:noFill/>
          </a:ln>
        </p:spPr>
      </p:sp>
      <p:sp>
        <p:nvSpPr>
          <p:cNvPr id="467"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endParaRPr lang="en-US" sz="2000" b="0" strike="noStrike" spc="-1">
              <a:latin typeface="Arial"/>
            </a:endParaRPr>
          </a:p>
        </p:txBody>
      </p:sp>
      <p:sp>
        <p:nvSpPr>
          <p:cNvPr id="468" name="PlaceHolder 3"/>
          <p:cNvSpPr>
            <a:spLocks noGrp="1"/>
          </p:cNvSpPr>
          <p:nvPr>
            <p:ph type="sldNum" idx="37"/>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0A74A9FA-C225-473B-80D9-5D412010BB1F}" type="slidenum">
              <a:rPr lang="en-US" sz="1200" b="0" strike="noStrike" spc="-1">
                <a:latin typeface="Times New Roman"/>
              </a:rPr>
              <a:t>30</a:t>
            </a:fld>
            <a:endParaRPr lang="en-US" sz="1200" b="0" strike="noStrike" spc="-1">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PlaceHolder 1"/>
          <p:cNvSpPr>
            <a:spLocks noGrp="1" noRot="1" noChangeAspect="1"/>
          </p:cNvSpPr>
          <p:nvPr>
            <p:ph type="sldImg"/>
          </p:nvPr>
        </p:nvSpPr>
        <p:spPr>
          <a:xfrm>
            <a:off x="685800" y="1143000"/>
            <a:ext cx="5484813" cy="3084513"/>
          </a:xfrm>
          <a:prstGeom prst="rect">
            <a:avLst/>
          </a:prstGeom>
          <a:ln w="0">
            <a:noFill/>
          </a:ln>
        </p:spPr>
      </p:sp>
      <p:sp>
        <p:nvSpPr>
          <p:cNvPr id="470"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endParaRPr lang="en-US" sz="2000" b="0" strike="noStrike" spc="-1">
              <a:latin typeface="Arial"/>
            </a:endParaRPr>
          </a:p>
        </p:txBody>
      </p:sp>
      <p:sp>
        <p:nvSpPr>
          <p:cNvPr id="471" name="PlaceHolder 3"/>
          <p:cNvSpPr>
            <a:spLocks noGrp="1"/>
          </p:cNvSpPr>
          <p:nvPr>
            <p:ph type="sldNum" idx="38"/>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7A09DB90-CDDB-4A57-B681-BA3C112495B2}" type="slidenum">
              <a:rPr lang="en-US" sz="1200" b="0" strike="noStrike" spc="-1">
                <a:latin typeface="Times New Roman"/>
              </a:rPr>
              <a:t>31</a:t>
            </a:fld>
            <a:endParaRPr lang="en-US" sz="1200" b="0" strike="noStrike" spc="-1">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 name="PlaceHolder 1"/>
          <p:cNvSpPr>
            <a:spLocks noGrp="1" noRot="1" noChangeAspect="1"/>
          </p:cNvSpPr>
          <p:nvPr>
            <p:ph type="sldImg"/>
          </p:nvPr>
        </p:nvSpPr>
        <p:spPr>
          <a:xfrm>
            <a:off x="685800" y="1143000"/>
            <a:ext cx="5484813" cy="3084513"/>
          </a:xfrm>
          <a:prstGeom prst="rect">
            <a:avLst/>
          </a:prstGeom>
          <a:ln w="0">
            <a:noFill/>
          </a:ln>
        </p:spPr>
      </p:sp>
      <p:sp>
        <p:nvSpPr>
          <p:cNvPr id="473"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endParaRPr lang="en-US" sz="2000" b="0" strike="noStrike" spc="-1">
              <a:latin typeface="Arial"/>
            </a:endParaRPr>
          </a:p>
        </p:txBody>
      </p:sp>
      <p:sp>
        <p:nvSpPr>
          <p:cNvPr id="474" name="PlaceHolder 3"/>
          <p:cNvSpPr>
            <a:spLocks noGrp="1"/>
          </p:cNvSpPr>
          <p:nvPr>
            <p:ph type="sldNum" idx="39"/>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8811A8F7-2E4D-4A94-B89A-A9EB67A59EFF}" type="slidenum">
              <a:rPr lang="en-US" sz="1200" b="0" strike="noStrike" spc="-1">
                <a:latin typeface="Times New Roman"/>
              </a:rPr>
              <a:t>32</a:t>
            </a:fld>
            <a:endParaRPr lang="en-US" sz="1200" b="0" strike="noStrike" spc="-1">
              <a:latin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 name="PlaceHolder 1"/>
          <p:cNvSpPr>
            <a:spLocks noGrp="1" noRot="1" noChangeAspect="1"/>
          </p:cNvSpPr>
          <p:nvPr>
            <p:ph type="sldImg"/>
          </p:nvPr>
        </p:nvSpPr>
        <p:spPr>
          <a:xfrm>
            <a:off x="685800" y="1143000"/>
            <a:ext cx="5484813" cy="3084513"/>
          </a:xfrm>
          <a:prstGeom prst="rect">
            <a:avLst/>
          </a:prstGeom>
          <a:ln w="0">
            <a:noFill/>
          </a:ln>
        </p:spPr>
      </p:sp>
      <p:sp>
        <p:nvSpPr>
          <p:cNvPr id="476"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endParaRPr lang="en-US" sz="2000" b="0" strike="noStrike" spc="-1">
              <a:latin typeface="Arial"/>
            </a:endParaRPr>
          </a:p>
        </p:txBody>
      </p:sp>
      <p:sp>
        <p:nvSpPr>
          <p:cNvPr id="477" name="PlaceHolder 3"/>
          <p:cNvSpPr>
            <a:spLocks noGrp="1"/>
          </p:cNvSpPr>
          <p:nvPr>
            <p:ph type="sldNum" idx="40"/>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94205275-9781-44A3-8C7B-95225681E82C}" type="slidenum">
              <a:rPr lang="en-US" sz="1200" b="0" strike="noStrike" spc="-1">
                <a:latin typeface="Times New Roman"/>
              </a:rPr>
              <a:t>33</a:t>
            </a:fld>
            <a:endParaRPr lang="en-US" sz="1200" b="0" strike="noStrike" spc="-1">
              <a:latin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 name="PlaceHolder 1"/>
          <p:cNvSpPr>
            <a:spLocks noGrp="1" noRot="1" noChangeAspect="1"/>
          </p:cNvSpPr>
          <p:nvPr>
            <p:ph type="sldImg"/>
          </p:nvPr>
        </p:nvSpPr>
        <p:spPr>
          <a:xfrm>
            <a:off x="685800" y="1143000"/>
            <a:ext cx="5484813" cy="3084513"/>
          </a:xfrm>
          <a:prstGeom prst="rect">
            <a:avLst/>
          </a:prstGeom>
          <a:ln w="0">
            <a:noFill/>
          </a:ln>
        </p:spPr>
      </p:sp>
      <p:sp>
        <p:nvSpPr>
          <p:cNvPr id="479"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endParaRPr lang="en-US" sz="2000" b="0" strike="noStrike" spc="-1">
              <a:latin typeface="Arial"/>
            </a:endParaRPr>
          </a:p>
        </p:txBody>
      </p:sp>
      <p:sp>
        <p:nvSpPr>
          <p:cNvPr id="480" name="PlaceHolder 3"/>
          <p:cNvSpPr>
            <a:spLocks noGrp="1"/>
          </p:cNvSpPr>
          <p:nvPr>
            <p:ph type="sldNum" idx="41"/>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88ADA25E-BA2A-405B-8A67-DC2C3F0AEDDB}" type="slidenum">
              <a:rPr lang="en-US" sz="1200" b="0" strike="noStrike" spc="-1">
                <a:latin typeface="Times New Roman"/>
              </a:rPr>
              <a:t>34</a:t>
            </a:fld>
            <a:endParaRPr lang="en-US" sz="1200" b="0" strike="noStrike" spc="-1">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 name="PlaceHolder 1"/>
          <p:cNvSpPr>
            <a:spLocks noGrp="1" noRot="1" noChangeAspect="1"/>
          </p:cNvSpPr>
          <p:nvPr>
            <p:ph type="sldImg"/>
          </p:nvPr>
        </p:nvSpPr>
        <p:spPr>
          <a:xfrm>
            <a:off x="685800" y="1143000"/>
            <a:ext cx="5484813" cy="3084513"/>
          </a:xfrm>
          <a:prstGeom prst="rect">
            <a:avLst/>
          </a:prstGeom>
          <a:ln w="0">
            <a:noFill/>
          </a:ln>
        </p:spPr>
      </p:sp>
      <p:sp>
        <p:nvSpPr>
          <p:cNvPr id="482"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lstStyle/>
          <a:p>
            <a:endParaRPr lang="en-US" sz="2000" b="0" strike="noStrike" spc="-1">
              <a:latin typeface="Arial"/>
            </a:endParaRPr>
          </a:p>
        </p:txBody>
      </p:sp>
      <p:sp>
        <p:nvSpPr>
          <p:cNvPr id="483" name="PlaceHolder 3"/>
          <p:cNvSpPr>
            <a:spLocks noGrp="1"/>
          </p:cNvSpPr>
          <p:nvPr>
            <p:ph type="sldNum" idx="42"/>
          </p:nvPr>
        </p:nvSpPr>
        <p:spPr>
          <a:xfrm>
            <a:off x="3884760" y="8685360"/>
            <a:ext cx="2970720" cy="457560"/>
          </a:xfrm>
          <a:prstGeom prst="rect">
            <a:avLst/>
          </a:prstGeom>
          <a:noFill/>
          <a:ln w="0">
            <a:noFill/>
          </a:ln>
        </p:spPr>
        <p:txBody>
          <a:bodyPr lIns="0" tIns="0" rIns="0" bIns="0" anchor="b">
            <a:noAutofit/>
          </a:bodyPr>
          <a:lstStyle>
            <a:lvl1pPr algn="r">
              <a:lnSpc>
                <a:spcPct val="100000"/>
              </a:lnSpc>
              <a:buNone/>
              <a:defRPr lang="en-US" sz="1200" b="0" strike="noStrike" spc="-1">
                <a:latin typeface="Times New Roman"/>
              </a:defRPr>
            </a:lvl1pPr>
          </a:lstStyle>
          <a:p>
            <a:pPr algn="r">
              <a:lnSpc>
                <a:spcPct val="100000"/>
              </a:lnSpc>
              <a:buNone/>
            </a:pPr>
            <a:fld id="{01E37F92-05A7-45CC-BD71-7E7A68A82D93}" type="slidenum">
              <a:rPr lang="en-US" sz="1200" b="0" strike="noStrike" spc="-1">
                <a:latin typeface="Times New Roman"/>
              </a:rPr>
              <a:t>35</a:t>
            </a:fld>
            <a:endParaRPr lang="en-US" sz="1200" b="0" strike="noStrike" spc="-1">
              <a:latin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 name="PlaceHolder 1"/>
          <p:cNvSpPr>
            <a:spLocks noGrp="1" noRot="1" noChangeAspect="1"/>
          </p:cNvSpPr>
          <p:nvPr>
            <p:ph type="sldImg"/>
          </p:nvPr>
        </p:nvSpPr>
        <p:spPr>
          <a:xfrm>
            <a:off x="330200" y="696913"/>
            <a:ext cx="6196013" cy="3484562"/>
          </a:xfrm>
          <a:prstGeom prst="rect">
            <a:avLst/>
          </a:prstGeom>
          <a:ln w="0">
            <a:noFill/>
          </a:ln>
        </p:spPr>
      </p:sp>
      <p:sp>
        <p:nvSpPr>
          <p:cNvPr id="485" name="PlaceHolder 2"/>
          <p:cNvSpPr>
            <a:spLocks noGrp="1"/>
          </p:cNvSpPr>
          <p:nvPr>
            <p:ph type="body"/>
          </p:nvPr>
        </p:nvSpPr>
        <p:spPr>
          <a:xfrm>
            <a:off x="914760" y="4416480"/>
            <a:ext cx="5026680" cy="4181400"/>
          </a:xfrm>
          <a:prstGeom prst="rect">
            <a:avLst/>
          </a:prstGeom>
          <a:noFill/>
          <a:ln w="9360">
            <a:noFill/>
          </a:ln>
        </p:spPr>
        <p:txBody>
          <a:bodyPr lIns="93240" tIns="46440" rIns="93240" bIns="46440" numCol="1" spcCol="0" anchor="t">
            <a:noAutofit/>
          </a:bodyPr>
          <a:lstStyle/>
          <a:p>
            <a:pPr marL="216000" indent="-216000">
              <a:lnSpc>
                <a:spcPct val="100000"/>
              </a:lnSpc>
              <a:spcBef>
                <a:spcPts val="541"/>
              </a:spcBef>
              <a:buNone/>
              <a:tabLst>
                <a:tab pos="0" algn="l"/>
              </a:tabLst>
            </a:pPr>
            <a:r>
              <a:rPr lang="en-US" sz="1800" b="0" strike="noStrike" spc="-1">
                <a:solidFill>
                  <a:srgbClr val="000000"/>
                </a:solidFill>
                <a:latin typeface="Times New Roman"/>
                <a:ea typeface="Aptos"/>
              </a:rPr>
              <a:t>Thank you for your attention! You can find all the design files and details on GitHub. The data used in this talk is also freely available and we are happy to share more if anyone is interested.  Feel free to scan the QR code or visit our GitHub page for more information. My name is Austin Downey, I teach at the University of South Carolina, and I am happy to answer any questions you may have.</a:t>
            </a:r>
            <a:endParaRPr lang="en-US" sz="1800" b="0" strike="noStrike" spc="-1">
              <a:latin typeface="Arial"/>
            </a:endParaRPr>
          </a:p>
          <a:p>
            <a:pPr marL="216000" indent="-216000">
              <a:lnSpc>
                <a:spcPct val="100000"/>
              </a:lnSpc>
              <a:buNone/>
              <a:tabLst>
                <a:tab pos="0" algn="l"/>
              </a:tabLst>
            </a:pPr>
            <a:endParaRPr lang="en-US" sz="1800" b="0" strike="noStrike" spc="-1">
              <a:latin typeface="Arial"/>
            </a:endParaRPr>
          </a:p>
        </p:txBody>
      </p:sp>
      <p:sp>
        <p:nvSpPr>
          <p:cNvPr id="486" name="PlaceHolder 3"/>
          <p:cNvSpPr>
            <a:spLocks noGrp="1"/>
          </p:cNvSpPr>
          <p:nvPr>
            <p:ph type="sldNum" idx="43"/>
          </p:nvPr>
        </p:nvSpPr>
        <p:spPr>
          <a:xfrm>
            <a:off x="3885480" y="8831160"/>
            <a:ext cx="2970720" cy="463320"/>
          </a:xfrm>
          <a:prstGeom prst="rect">
            <a:avLst/>
          </a:prstGeom>
          <a:noFill/>
          <a:ln w="9360">
            <a:noFill/>
          </a:ln>
        </p:spPr>
        <p:txBody>
          <a:bodyPr lIns="93240" tIns="46440" rIns="93240" bIns="46440" numCol="1" spcCol="0" anchor="b">
            <a:noAutofit/>
          </a:bodyPr>
          <a:lstStyle>
            <a:lvl1pPr algn="r">
              <a:lnSpc>
                <a:spcPct val="100000"/>
              </a:lnSpc>
              <a:buNone/>
              <a:tabLst>
                <a:tab pos="0" algn="l"/>
              </a:tabLst>
              <a:defRPr lang="en-US" sz="1200" b="0" strike="noStrike" spc="-1">
                <a:solidFill>
                  <a:srgbClr val="000000"/>
                </a:solidFill>
                <a:latin typeface="Arial"/>
                <a:ea typeface="ＭＳ Ｐゴシック"/>
              </a:defRPr>
            </a:lvl1pPr>
          </a:lstStyle>
          <a:p>
            <a:pPr algn="r">
              <a:lnSpc>
                <a:spcPct val="100000"/>
              </a:lnSpc>
              <a:buNone/>
              <a:tabLst>
                <a:tab pos="0" algn="l"/>
              </a:tabLst>
            </a:pPr>
            <a:fld id="{E8D8DFEF-5368-4C52-A2FC-7B5DFB303F67}" type="slidenum">
              <a:rPr lang="en-US" sz="1200" b="0" strike="noStrike" spc="-1">
                <a:solidFill>
                  <a:srgbClr val="000000"/>
                </a:solidFill>
                <a:latin typeface="Arial"/>
                <a:ea typeface="ＭＳ Ｐゴシック"/>
              </a:rPr>
              <a:t>36</a:t>
            </a:fld>
            <a:endParaRPr lang="en-US" sz="1200" b="0" strike="noStrike" spc="-1">
              <a:latin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PlaceHolder 1"/>
          <p:cNvSpPr>
            <a:spLocks noGrp="1" noRot="1" noChangeAspect="1"/>
          </p:cNvSpPr>
          <p:nvPr>
            <p:ph type="sldImg"/>
          </p:nvPr>
        </p:nvSpPr>
        <p:spPr>
          <a:xfrm>
            <a:off x="330200" y="696913"/>
            <a:ext cx="6196013" cy="3484562"/>
          </a:xfrm>
          <a:prstGeom prst="rect">
            <a:avLst/>
          </a:prstGeom>
          <a:ln w="0">
            <a:noFill/>
          </a:ln>
        </p:spPr>
      </p:sp>
      <p:sp>
        <p:nvSpPr>
          <p:cNvPr id="488" name="PlaceHolder 2"/>
          <p:cNvSpPr>
            <a:spLocks noGrp="1"/>
          </p:cNvSpPr>
          <p:nvPr>
            <p:ph type="body"/>
          </p:nvPr>
        </p:nvSpPr>
        <p:spPr>
          <a:xfrm>
            <a:off x="914760" y="4416480"/>
            <a:ext cx="5026680" cy="4181400"/>
          </a:xfrm>
          <a:prstGeom prst="rect">
            <a:avLst/>
          </a:prstGeom>
          <a:noFill/>
          <a:ln w="9360">
            <a:noFill/>
          </a:ln>
        </p:spPr>
        <p:txBody>
          <a:bodyPr lIns="93240" tIns="46440" rIns="93240" bIns="46440" numCol="1" spcCol="0" anchor="t">
            <a:noAutofit/>
          </a:bodyPr>
          <a:lstStyle/>
          <a:p>
            <a:pPr marL="216000" indent="-216000">
              <a:lnSpc>
                <a:spcPct val="100000"/>
              </a:lnSpc>
              <a:spcBef>
                <a:spcPts val="541"/>
              </a:spcBef>
              <a:buNone/>
              <a:tabLst>
                <a:tab pos="0" algn="l"/>
              </a:tabLst>
            </a:pPr>
            <a:r>
              <a:rPr lang="en-US" sz="1800" b="0" strike="noStrike" spc="-1">
                <a:solidFill>
                  <a:srgbClr val="000000"/>
                </a:solidFill>
                <a:latin typeface="Times New Roman"/>
                <a:ea typeface="Aptos"/>
              </a:rPr>
              <a:t>Thank you for your attention! You can find all the design files and details on GitHub. The data used in this talk is also freely available and we are happy to share more if anyone is interested.  Feel free to scan the QR code or visit our GitHub page for more information. My name is Austin Downey, I teach at the University of South Carolina, and I am happy to answer any questions you may have.</a:t>
            </a:r>
            <a:endParaRPr lang="en-US" sz="1800" b="0" strike="noStrike" spc="-1">
              <a:latin typeface="Arial"/>
            </a:endParaRPr>
          </a:p>
          <a:p>
            <a:pPr marL="216000" indent="-216000">
              <a:lnSpc>
                <a:spcPct val="100000"/>
              </a:lnSpc>
              <a:buNone/>
              <a:tabLst>
                <a:tab pos="0" algn="l"/>
              </a:tabLst>
            </a:pPr>
            <a:endParaRPr lang="en-US" sz="1800" b="0" strike="noStrike" spc="-1">
              <a:latin typeface="Arial"/>
            </a:endParaRPr>
          </a:p>
        </p:txBody>
      </p:sp>
      <p:sp>
        <p:nvSpPr>
          <p:cNvPr id="489" name="PlaceHolder 3"/>
          <p:cNvSpPr>
            <a:spLocks noGrp="1"/>
          </p:cNvSpPr>
          <p:nvPr>
            <p:ph type="sldNum" idx="44"/>
          </p:nvPr>
        </p:nvSpPr>
        <p:spPr>
          <a:xfrm>
            <a:off x="3885480" y="8831160"/>
            <a:ext cx="2970720" cy="463320"/>
          </a:xfrm>
          <a:prstGeom prst="rect">
            <a:avLst/>
          </a:prstGeom>
          <a:noFill/>
          <a:ln w="9360">
            <a:noFill/>
          </a:ln>
        </p:spPr>
        <p:txBody>
          <a:bodyPr lIns="93240" tIns="46440" rIns="93240" bIns="46440" numCol="1" spcCol="0" anchor="b">
            <a:noAutofit/>
          </a:bodyPr>
          <a:lstStyle>
            <a:lvl1pPr algn="r">
              <a:lnSpc>
                <a:spcPct val="100000"/>
              </a:lnSpc>
              <a:buNone/>
              <a:tabLst>
                <a:tab pos="0" algn="l"/>
              </a:tabLst>
              <a:defRPr lang="en-US" sz="1200" b="0" strike="noStrike" spc="-1">
                <a:solidFill>
                  <a:srgbClr val="000000"/>
                </a:solidFill>
                <a:latin typeface="Arial"/>
                <a:ea typeface="ＭＳ Ｐゴシック"/>
              </a:defRPr>
            </a:lvl1pPr>
          </a:lstStyle>
          <a:p>
            <a:pPr algn="r">
              <a:lnSpc>
                <a:spcPct val="100000"/>
              </a:lnSpc>
              <a:buNone/>
              <a:tabLst>
                <a:tab pos="0" algn="l"/>
              </a:tabLst>
            </a:pPr>
            <a:fld id="{D7AE92E4-B59A-4384-84E4-2E575D1EAF1C}" type="slidenum">
              <a:rPr lang="en-US" sz="1200" b="0" strike="noStrike" spc="-1">
                <a:solidFill>
                  <a:srgbClr val="000000"/>
                </a:solidFill>
                <a:latin typeface="Arial"/>
                <a:ea typeface="ＭＳ Ｐゴシック"/>
              </a:rPr>
              <a:t>37</a:t>
            </a:fld>
            <a:endParaRPr lang="en-US" sz="1200" b="0" strike="noStrike" spc="-1">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lstStyle/>
          <a:p>
            <a:fld id="{D093AF02-514A-4E59-8F45-82871434CB66}"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5"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2" name="PlaceHolder 3"/>
          <p:cNvSpPr>
            <a:spLocks noGrp="1"/>
          </p:cNvSpPr>
          <p:nvPr>
            <p:ph type="sldNum" idx="1"/>
          </p:nvPr>
        </p:nvSpPr>
        <p:spPr/>
        <p:txBody>
          <a:bodyPr/>
          <a:lstStyle/>
          <a:p>
            <a:fld id="{B199B0DB-F8B1-4E4F-A1DB-E0566C6495CA}"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7"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 name="PlaceHolder 3"/>
          <p:cNvSpPr>
            <a:spLocks noGrp="1"/>
          </p:cNvSpPr>
          <p:nvPr>
            <p:ph type="sldNum" idx="1"/>
          </p:nvPr>
        </p:nvSpPr>
        <p:spPr/>
        <p:txBody>
          <a:bodyPr/>
          <a:lstStyle/>
          <a:p>
            <a:fld id="{2257FD34-85C1-4CF9-BF27-B2042098315D}"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9"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sldNum" idx="1"/>
          </p:nvPr>
        </p:nvSpPr>
        <p:spPr/>
        <p:txBody>
          <a:bodyPr/>
          <a:lstStyle/>
          <a:p>
            <a:fld id="{EE63AF65-ADC2-4153-82B6-593E2D44C5A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 name="PlaceHolder 2"/>
          <p:cNvSpPr>
            <a:spLocks noGrp="1"/>
          </p:cNvSpPr>
          <p:nvPr>
            <p:ph type="sldNum" idx="1"/>
          </p:nvPr>
        </p:nvSpPr>
        <p:spPr/>
        <p:txBody>
          <a:bodyPr/>
          <a:lstStyle/>
          <a:p>
            <a:fld id="{5AD23FF5-BDA5-41DA-B312-82888B7A70A1}"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3" name="PlaceHolder 2"/>
          <p:cNvSpPr>
            <a:spLocks noGrp="1"/>
          </p:cNvSpPr>
          <p:nvPr>
            <p:ph type="sldNum" idx="1"/>
          </p:nvPr>
        </p:nvSpPr>
        <p:spPr/>
        <p:txBody>
          <a:bodyPr/>
          <a:lstStyle/>
          <a:p>
            <a:fld id="{B40B825F-2371-4FB8-A111-2B955D5832EE}"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4"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6"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sldNum" idx="1"/>
          </p:nvPr>
        </p:nvSpPr>
        <p:spPr/>
        <p:txBody>
          <a:bodyPr/>
          <a:lstStyle/>
          <a:p>
            <a:fld id="{D2111316-BD34-4F67-91F5-E5BF613DB66C}"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8"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0"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sldNum" idx="1"/>
          </p:nvPr>
        </p:nvSpPr>
        <p:spPr/>
        <p:txBody>
          <a:bodyPr/>
          <a:lstStyle/>
          <a:p>
            <a:fld id="{96621DC9-D5D6-4583-8CE4-DB7D99E36C6C}"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2"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3"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4"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sldNum" idx="1"/>
          </p:nvPr>
        </p:nvSpPr>
        <p:spPr/>
        <p:txBody>
          <a:bodyPr/>
          <a:lstStyle/>
          <a:p>
            <a:fld id="{09210DB1-5E6B-4FBF-82DF-B05D4784DFC4}"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6"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7"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sldNum" idx="1"/>
          </p:nvPr>
        </p:nvSpPr>
        <p:spPr/>
        <p:txBody>
          <a:bodyPr/>
          <a:lstStyle/>
          <a:p>
            <a:fld id="{B780CF1A-FEF5-438E-B953-175CA35D0722}"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9"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0"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1"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2"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 name="PlaceHolder 6"/>
          <p:cNvSpPr>
            <a:spLocks noGrp="1"/>
          </p:cNvSpPr>
          <p:nvPr>
            <p:ph type="sldNum" idx="1"/>
          </p:nvPr>
        </p:nvSpPr>
        <p:spPr/>
        <p:txBody>
          <a:bodyPr/>
          <a:lstStyle/>
          <a:p>
            <a:fld id="{F916849C-E775-4E19-A5B0-A35CE61C6D40}"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4"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5"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6"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7"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8"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9"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 name="PlaceHolder 8"/>
          <p:cNvSpPr>
            <a:spLocks noGrp="1"/>
          </p:cNvSpPr>
          <p:nvPr>
            <p:ph type="sldNum" idx="1"/>
          </p:nvPr>
        </p:nvSpPr>
        <p:spPr/>
        <p:txBody>
          <a:bodyPr/>
          <a:lstStyle/>
          <a:p>
            <a:fld id="{7070D1F0-B01A-4F7C-969A-49052F8EE79C}"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E5C91AA9-498C-4D25-BEA9-B632D89597CE}"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45"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5A9D06EB-FFA2-427F-8163-5620AD2BE2A3}"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47"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26707F92-4AA5-4FF7-AED1-89A2AEE484D3}" type="slidenum">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49"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0"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7603F311-1EA9-421D-9337-1561C93CE78B}" type="slidenum">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44396201-6C3D-4E2F-94ED-F177ACFBF373}" type="slidenum">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2"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0090F80E-3081-418C-BE0C-082BD8167841}" type="slidenum">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54"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5"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6"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B1A74080-6C7A-404F-BE32-BBDAAE352C94}"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58"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9"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0"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39923BCB-AE90-4074-92F0-120AE4B09D80}" type="slidenum">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2"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3"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4"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C4C13AC7-D55F-4140-AFD6-BF0A63EBAC2C}" type="slidenum">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6"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7"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6DD1972F-D088-4917-943B-1EF2D4267516}" type="slidenum">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9"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0"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1"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2"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 name="PlaceHolder 6"/>
          <p:cNvSpPr>
            <a:spLocks noGrp="1"/>
          </p:cNvSpPr>
          <p:nvPr>
            <p:ph type="ftr" idx="2"/>
          </p:nvPr>
        </p:nvSpPr>
        <p:spPr/>
        <p:txBody>
          <a:bodyPr/>
          <a:lstStyle/>
          <a:p>
            <a:r>
              <a:t>Footer</a:t>
            </a:r>
          </a:p>
        </p:txBody>
      </p:sp>
      <p:sp>
        <p:nvSpPr>
          <p:cNvPr id="8" name="PlaceHolder 7"/>
          <p:cNvSpPr>
            <a:spLocks noGrp="1"/>
          </p:cNvSpPr>
          <p:nvPr>
            <p:ph type="sldNum" idx="3"/>
          </p:nvPr>
        </p:nvSpPr>
        <p:spPr/>
        <p:txBody>
          <a:bodyPr/>
          <a:lstStyle/>
          <a:p>
            <a:fld id="{1036601D-E944-488F-9890-227CE0DF1DCE}" type="slidenum">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74"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5"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6"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7"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8"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9"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 name="PlaceHolder 8"/>
          <p:cNvSpPr>
            <a:spLocks noGrp="1"/>
          </p:cNvSpPr>
          <p:nvPr>
            <p:ph type="ftr" idx="2"/>
          </p:nvPr>
        </p:nvSpPr>
        <p:spPr/>
        <p:txBody>
          <a:bodyPr/>
          <a:lstStyle/>
          <a:p>
            <a:r>
              <a:t>Footer</a:t>
            </a:r>
          </a:p>
        </p:txBody>
      </p:sp>
      <p:sp>
        <p:nvSpPr>
          <p:cNvPr id="10" name="PlaceHolder 9"/>
          <p:cNvSpPr>
            <a:spLocks noGrp="1"/>
          </p:cNvSpPr>
          <p:nvPr>
            <p:ph type="sldNum" idx="3"/>
          </p:nvPr>
        </p:nvSpPr>
        <p:spPr/>
        <p:txBody>
          <a:bodyPr/>
          <a:lstStyle/>
          <a:p>
            <a:fld id="{EC128B17-0DD9-44C3-82EA-D2E774045EAB}" type="slidenum">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83"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85"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87"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88"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0"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92"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3"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4"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96"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7"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8"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0"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1"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2"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5"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7"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8"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9"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0"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12"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3"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4"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5"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6"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7"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5"/>
          </p:nvPr>
        </p:nvSpPr>
        <p:spPr/>
        <p:txBody>
          <a:bodyPr/>
          <a:lstStyle/>
          <a:p>
            <a:fld id="{9B4F4C8E-6DF5-4080-9D5F-686F5AE89727}" type="slidenum">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2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24"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13FDF4FF-94A9-4993-A5AC-3C3932F56153}" type="slidenum">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2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26"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172BB12B-9BFA-42A1-B666-B1325CA8C2C4}" type="slidenum">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28"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29"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5"/>
          </p:nvPr>
        </p:nvSpPr>
        <p:spPr/>
        <p:txBody>
          <a:bodyPr/>
          <a:lstStyle/>
          <a:p>
            <a:fld id="{475CC73C-9CDE-4636-9E64-B33094A4DE83}" type="slidenum">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5"/>
          </p:nvPr>
        </p:nvSpPr>
        <p:spPr/>
        <p:txBody>
          <a:bodyPr/>
          <a:lstStyle/>
          <a:p>
            <a:fld id="{737D0BF1-CA1F-4999-868C-0F3B4E608875}" type="slidenum">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1"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5"/>
          </p:nvPr>
        </p:nvSpPr>
        <p:spPr/>
        <p:txBody>
          <a:bodyPr/>
          <a:lstStyle/>
          <a:p>
            <a:fld id="{74F856C5-13F9-41AA-9E87-2C11C454DF43}" type="slidenum">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33"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34"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35"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89D6A155-FE1B-42FF-8AAB-000170D21DB9}" type="slidenum">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3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37"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38"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39"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0C76396B-3765-4929-8698-779D84985565}" type="slidenum">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41"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42"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43"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3B030105-32C0-4DC7-86C9-6262067955E3}" type="slidenum">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45"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46"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5"/>
          </p:nvPr>
        </p:nvSpPr>
        <p:spPr/>
        <p:txBody>
          <a:bodyPr/>
          <a:lstStyle/>
          <a:p>
            <a:fld id="{5A66F922-4217-4B1E-BFBC-C7779BCD55E3}" type="slidenum">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48"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49"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0"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1"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 name="PlaceHolder 6"/>
          <p:cNvSpPr>
            <a:spLocks noGrp="1"/>
          </p:cNvSpPr>
          <p:nvPr>
            <p:ph type="ftr" idx="4"/>
          </p:nvPr>
        </p:nvSpPr>
        <p:spPr/>
        <p:txBody>
          <a:bodyPr/>
          <a:lstStyle/>
          <a:p>
            <a:r>
              <a:t>Footer</a:t>
            </a:r>
          </a:p>
        </p:txBody>
      </p:sp>
      <p:sp>
        <p:nvSpPr>
          <p:cNvPr id="8" name="PlaceHolder 7"/>
          <p:cNvSpPr>
            <a:spLocks noGrp="1"/>
          </p:cNvSpPr>
          <p:nvPr>
            <p:ph type="sldNum" idx="5"/>
          </p:nvPr>
        </p:nvSpPr>
        <p:spPr/>
        <p:txBody>
          <a:bodyPr/>
          <a:lstStyle/>
          <a:p>
            <a:fld id="{C678222A-CF5E-434D-8F96-A26463717AFB}" type="slidenum">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53"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4"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5"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6"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7"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8"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 name="PlaceHolder 8"/>
          <p:cNvSpPr>
            <a:spLocks noGrp="1"/>
          </p:cNvSpPr>
          <p:nvPr>
            <p:ph type="ftr" idx="4"/>
          </p:nvPr>
        </p:nvSpPr>
        <p:spPr/>
        <p:txBody>
          <a:bodyPr/>
          <a:lstStyle/>
          <a:p>
            <a:r>
              <a:t>Footer</a:t>
            </a:r>
          </a:p>
        </p:txBody>
      </p:sp>
      <p:sp>
        <p:nvSpPr>
          <p:cNvPr id="10" name="PlaceHolder 9"/>
          <p:cNvSpPr>
            <a:spLocks noGrp="1"/>
          </p:cNvSpPr>
          <p:nvPr>
            <p:ph type="sldNum" idx="5"/>
          </p:nvPr>
        </p:nvSpPr>
        <p:spPr/>
        <p:txBody>
          <a:bodyPr/>
          <a:lstStyle/>
          <a:p>
            <a:fld id="{C4E879FE-E8BF-4112-9237-F5D985301E8D}" type="slidenum">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6"/>
          </p:nvPr>
        </p:nvSpPr>
        <p:spPr/>
        <p:txBody>
          <a:bodyPr/>
          <a:lstStyle/>
          <a:p>
            <a:fld id="{8C34CB83-220F-43C1-8A51-BB8E14CD9B2B}" type="slidenum">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6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63"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4" name="PlaceHolder 3"/>
          <p:cNvSpPr>
            <a:spLocks noGrp="1"/>
          </p:cNvSpPr>
          <p:nvPr>
            <p:ph type="sldNum" idx="6"/>
          </p:nvPr>
        </p:nvSpPr>
        <p:spPr/>
        <p:txBody>
          <a:bodyPr/>
          <a:lstStyle/>
          <a:p>
            <a:fld id="{83745D1C-92E7-492F-B21E-55162DE75365}" type="slidenum">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6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65"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 name="PlaceHolder 3"/>
          <p:cNvSpPr>
            <a:spLocks noGrp="1"/>
          </p:cNvSpPr>
          <p:nvPr>
            <p:ph type="sldNum" idx="6"/>
          </p:nvPr>
        </p:nvSpPr>
        <p:spPr/>
        <p:txBody>
          <a:bodyPr/>
          <a:lstStyle/>
          <a:p>
            <a:fld id="{26F6D54B-CA5B-4F74-958A-2305C91CD55E}" type="slidenum">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6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67"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68"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sldNum" idx="6"/>
          </p:nvPr>
        </p:nvSpPr>
        <p:spPr/>
        <p:txBody>
          <a:bodyPr/>
          <a:lstStyle/>
          <a:p>
            <a:fld id="{7ACF848A-9C45-406F-B0A4-6ABF94E864E4}" type="slidenum">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6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 name="PlaceHolder 2"/>
          <p:cNvSpPr>
            <a:spLocks noGrp="1"/>
          </p:cNvSpPr>
          <p:nvPr>
            <p:ph type="sldNum" idx="6"/>
          </p:nvPr>
        </p:nvSpPr>
        <p:spPr/>
        <p:txBody>
          <a:bodyPr/>
          <a:lstStyle/>
          <a:p>
            <a:fld id="{7998A73A-7259-46ED-BCDB-F0AADC84C9F4}" type="slidenum">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70"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3" name="PlaceHolder 2"/>
          <p:cNvSpPr>
            <a:spLocks noGrp="1"/>
          </p:cNvSpPr>
          <p:nvPr>
            <p:ph type="sldNum" idx="6"/>
          </p:nvPr>
        </p:nvSpPr>
        <p:spPr/>
        <p:txBody>
          <a:bodyPr/>
          <a:lstStyle/>
          <a:p>
            <a:fld id="{555DC381-3489-494F-9911-E1AB1DC62B5F}" type="slidenum">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7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72"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73"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74"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sldNum" idx="6"/>
          </p:nvPr>
        </p:nvSpPr>
        <p:spPr/>
        <p:txBody>
          <a:bodyPr/>
          <a:lstStyle/>
          <a:p>
            <a:fld id="{5CD8BC26-FEC4-4959-A90B-7D123EEC7884}" type="slidenum">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7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76"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77"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78"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sldNum" idx="6"/>
          </p:nvPr>
        </p:nvSpPr>
        <p:spPr/>
        <p:txBody>
          <a:bodyPr/>
          <a:lstStyle/>
          <a:p>
            <a:fld id="{96C800A2-C781-4A36-9922-EAF8DD549861}" type="slidenum">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7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80"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81"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82"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sldNum" idx="6"/>
          </p:nvPr>
        </p:nvSpPr>
        <p:spPr/>
        <p:txBody>
          <a:bodyPr/>
          <a:lstStyle/>
          <a:p>
            <a:fld id="{7D1DC217-6B5C-492C-A2A5-82D905C275EC}" type="slidenum">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84"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85"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sldNum" idx="6"/>
          </p:nvPr>
        </p:nvSpPr>
        <p:spPr/>
        <p:txBody>
          <a:bodyPr/>
          <a:lstStyle/>
          <a:p>
            <a:fld id="{63A7DBE3-15B7-4C1B-A22E-DD1BF71133CD}" type="slidenum">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8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87"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88"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89"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0"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 name="PlaceHolder 6"/>
          <p:cNvSpPr>
            <a:spLocks noGrp="1"/>
          </p:cNvSpPr>
          <p:nvPr>
            <p:ph type="sldNum" idx="6"/>
          </p:nvPr>
        </p:nvSpPr>
        <p:spPr/>
        <p:txBody>
          <a:bodyPr/>
          <a:lstStyle/>
          <a:p>
            <a:fld id="{9D7FF4DE-6255-4C09-A909-1486BA1D65C1}" type="slidenum">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9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92"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3"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4"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5"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6"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7"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 name="PlaceHolder 8"/>
          <p:cNvSpPr>
            <a:spLocks noGrp="1"/>
          </p:cNvSpPr>
          <p:nvPr>
            <p:ph type="sldNum" idx="6"/>
          </p:nvPr>
        </p:nvSpPr>
        <p:spPr/>
        <p:txBody>
          <a:bodyPr/>
          <a:lstStyle/>
          <a:p>
            <a:fld id="{8CEF4679-2DE7-4259-8DB0-3A39B4092966}" type="slidenum">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02"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0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04"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0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06"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07"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09"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1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11"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12"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13"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1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15"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16"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17"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1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19"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20"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21"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2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23"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24"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2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26"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27"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28"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29"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3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31"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32"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33"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34"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35"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36"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1.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image" Target="../media/image1.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5" Type="http://schemas.openxmlformats.org/officeDocument/2006/relationships/image" Target="../media/image4.png"/><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pic>
        <p:nvPicPr>
          <p:cNvPr id="4" name="Picture 12"/>
          <p:cNvPicPr/>
          <p:nvPr/>
        </p:nvPicPr>
        <p:blipFill>
          <a:blip r:embed="rId15"/>
          <a:stretch/>
        </p:blipFill>
        <p:spPr>
          <a:xfrm>
            <a:off x="4674960" y="4461840"/>
            <a:ext cx="2841480" cy="1893960"/>
          </a:xfrm>
          <a:prstGeom prst="rect">
            <a:avLst/>
          </a:prstGeom>
          <a:ln w="0">
            <a:noFill/>
          </a:ln>
        </p:spPr>
      </p:pic>
      <p:sp>
        <p:nvSpPr>
          <p:cNvPr id="5"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p>
            <a:r>
              <a:rPr lang="en-US" sz="1800" b="0" strike="noStrike" spc="-1">
                <a:latin typeface="Arial"/>
              </a:rPr>
              <a:t>Click to edit the title text format</a:t>
            </a:r>
          </a:p>
        </p:txBody>
      </p:sp>
      <p:sp>
        <p:nvSpPr>
          <p:cNvPr id="2"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latin typeface="Arial"/>
              </a:rPr>
              <a:t>Second Outline Level</a:t>
            </a:r>
          </a:p>
          <a:p>
            <a:pPr marL="1296000" lvl="2" indent="-288000">
              <a:spcBef>
                <a:spcPts val="850"/>
              </a:spcBef>
              <a:buClr>
                <a:srgbClr val="000000"/>
              </a:buClr>
              <a:buSzPct val="45000"/>
              <a:buFont typeface="Wingdings" charset="2"/>
              <a:buChar char=""/>
            </a:pPr>
            <a:r>
              <a:rPr lang="en-US" sz="1800" b="0" strike="noStrike" spc="-1">
                <a:latin typeface="Arial"/>
              </a:rPr>
              <a:t>Third Outline Level</a:t>
            </a:r>
          </a:p>
          <a:p>
            <a:pPr marL="1728000" lvl="3" indent="-216000">
              <a:spcBef>
                <a:spcPts val="567"/>
              </a:spcBef>
              <a:buClr>
                <a:srgbClr val="000000"/>
              </a:buClr>
              <a:buSzPct val="75000"/>
              <a:buFont typeface="Symbol" charset="2"/>
              <a:buChar char=""/>
            </a:pPr>
            <a:r>
              <a:rPr lang="en-US" sz="1800" b="0" strike="noStrike" spc="-1">
                <a:latin typeface="Arial"/>
              </a:rPr>
              <a:t>Fourth Outline Level</a:t>
            </a:r>
          </a:p>
          <a:p>
            <a:pPr marL="2160000" lvl="4" indent="-216000">
              <a:spcBef>
                <a:spcPts val="283"/>
              </a:spcBef>
              <a:buClr>
                <a:srgbClr val="000000"/>
              </a:buClr>
              <a:buSzPct val="45000"/>
              <a:buFont typeface="Wingdings" charset="2"/>
              <a:buChar char=""/>
            </a:pPr>
            <a:r>
              <a:rPr lang="en-US" sz="1800" b="0" strike="noStrike" spc="-1">
                <a:latin typeface="Arial"/>
              </a:rPr>
              <a:t>Fifth Outline Level</a:t>
            </a:r>
          </a:p>
          <a:p>
            <a:pPr marL="2592000" lvl="5" indent="-216000">
              <a:spcBef>
                <a:spcPts val="283"/>
              </a:spcBef>
              <a:buClr>
                <a:srgbClr val="000000"/>
              </a:buClr>
              <a:buSzPct val="45000"/>
              <a:buFont typeface="Wingdings" charset="2"/>
              <a:buChar char=""/>
            </a:pPr>
            <a:r>
              <a:rPr lang="en-US" sz="1800" b="0" strike="noStrike" spc="-1">
                <a:latin typeface="Arial"/>
              </a:rPr>
              <a:t>Sixth Outline Level</a:t>
            </a:r>
          </a:p>
          <a:p>
            <a:pPr marL="3024000" lvl="6" indent="-216000">
              <a:spcBef>
                <a:spcPts val="283"/>
              </a:spcBef>
              <a:buClr>
                <a:srgbClr val="000000"/>
              </a:buClr>
              <a:buSzPct val="45000"/>
              <a:buFont typeface="Wingdings" charset="2"/>
              <a:buChar char=""/>
            </a:pPr>
            <a:r>
              <a:rPr lang="en-US" sz="1800" b="0" strike="noStrike" spc="-1">
                <a:latin typeface="Arial"/>
              </a:rPr>
              <a:t>Seventh Outline Level</a:t>
            </a:r>
          </a:p>
        </p:txBody>
      </p:sp>
      <p:sp>
        <p:nvSpPr>
          <p:cNvPr id="3" name="PlaceHolder 3"/>
          <p:cNvSpPr>
            <a:spLocks noGrp="1"/>
          </p:cNvSpPr>
          <p:nvPr>
            <p:ph type="sldNum" idx="1"/>
          </p:nvPr>
        </p:nvSpPr>
        <p:spPr>
          <a:xfrm>
            <a:off x="838080" y="5991480"/>
            <a:ext cx="2586600" cy="363960"/>
          </a:xfrm>
          <a:prstGeom prst="rect">
            <a:avLst/>
          </a:prstGeom>
          <a:noFill/>
          <a:ln w="0">
            <a:noFill/>
          </a:ln>
        </p:spPr>
        <p:txBody>
          <a:bodyPr lIns="90000" tIns="45000" rIns="90000" bIns="45000" anchor="ctr">
            <a:noAutofit/>
          </a:bodyPr>
          <a:lstStyle>
            <a:lvl1pPr>
              <a:lnSpc>
                <a:spcPct val="100000"/>
              </a:lnSpc>
              <a:buNone/>
              <a:defRPr lang="en-US" sz="1200" b="0" strike="noStrike" spc="-1">
                <a:solidFill>
                  <a:srgbClr val="8B8B8B"/>
                </a:solidFill>
                <a:latin typeface="Arial"/>
              </a:defRPr>
            </a:lvl1pPr>
          </a:lstStyle>
          <a:p>
            <a:pPr>
              <a:lnSpc>
                <a:spcPct val="100000"/>
              </a:lnSpc>
              <a:buNone/>
            </a:pPr>
            <a:fld id="{4F794376-178A-49E2-ADC5-FEAA8B127C44}" type="slidenum">
              <a:rPr lang="en-US" sz="1200" b="0" strike="noStrike" spc="-1">
                <a:solidFill>
                  <a:srgbClr val="8B8B8B"/>
                </a:solidFill>
                <a:latin typeface="Arial"/>
              </a:r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sp>
        <p:nvSpPr>
          <p:cNvPr id="40" name="PlaceHolder 1"/>
          <p:cNvSpPr>
            <a:spLocks noGrp="1"/>
          </p:cNvSpPr>
          <p:nvPr>
            <p:ph type="ftr" idx="2"/>
          </p:nvPr>
        </p:nvSpPr>
        <p:spPr>
          <a:xfrm>
            <a:off x="4038480" y="6004440"/>
            <a:ext cx="4113720" cy="363960"/>
          </a:xfrm>
          <a:prstGeom prst="rect">
            <a:avLst/>
          </a:prstGeom>
          <a:noFill/>
          <a:ln w="0">
            <a:noFill/>
          </a:ln>
        </p:spPr>
        <p:txBody>
          <a:bodyPr lIns="90000" tIns="45000" rIns="90000" bIns="45000" anchor="ctr">
            <a:noAutofit/>
          </a:bodyPr>
          <a:lstStyle>
            <a:lvl1pPr algn="ctr">
              <a:lnSpc>
                <a:spcPct val="100000"/>
              </a:lnSpc>
              <a:buNone/>
              <a:defRPr lang="en-US" sz="1400" b="0" strike="noStrike" spc="-1">
                <a:latin typeface="Times New Roman"/>
              </a:defRPr>
            </a:lvl1pPr>
          </a:lstStyle>
          <a:p>
            <a:pPr algn="ctr">
              <a:lnSpc>
                <a:spcPct val="100000"/>
              </a:lnSpc>
              <a:buNone/>
            </a:pPr>
            <a:r>
              <a:rPr lang="en-US" sz="1400" b="0" strike="noStrike" spc="-1">
                <a:latin typeface="Times New Roman"/>
              </a:rPr>
              <a:t>&lt;footer&gt;</a:t>
            </a:r>
          </a:p>
        </p:txBody>
      </p:sp>
      <p:sp>
        <p:nvSpPr>
          <p:cNvPr id="41" name="PlaceHolder 2"/>
          <p:cNvSpPr>
            <a:spLocks noGrp="1"/>
          </p:cNvSpPr>
          <p:nvPr>
            <p:ph type="sldNum" idx="3"/>
          </p:nvPr>
        </p:nvSpPr>
        <p:spPr>
          <a:xfrm>
            <a:off x="838080" y="6004440"/>
            <a:ext cx="2634120" cy="363960"/>
          </a:xfrm>
          <a:prstGeom prst="rect">
            <a:avLst/>
          </a:prstGeom>
          <a:noFill/>
          <a:ln w="0">
            <a:noFill/>
          </a:ln>
        </p:spPr>
        <p:txBody>
          <a:bodyPr lIns="90000" tIns="45000" rIns="90000" bIns="45000" anchor="ctr">
            <a:noAutofit/>
          </a:bodyPr>
          <a:lstStyle>
            <a:lvl1pPr>
              <a:lnSpc>
                <a:spcPct val="100000"/>
              </a:lnSpc>
              <a:buNone/>
              <a:defRPr lang="en-US" sz="1200" b="0" strike="noStrike" spc="-1">
                <a:solidFill>
                  <a:srgbClr val="8B8B8B"/>
                </a:solidFill>
                <a:latin typeface="Arial"/>
              </a:defRPr>
            </a:lvl1pPr>
          </a:lstStyle>
          <a:p>
            <a:pPr>
              <a:lnSpc>
                <a:spcPct val="100000"/>
              </a:lnSpc>
              <a:buNone/>
            </a:pPr>
            <a:fld id="{AE8E1EED-498A-4EEA-9702-1E3732761D59}" type="slidenum">
              <a:rPr lang="en-US" sz="1200" b="0" strike="noStrike" spc="-1">
                <a:solidFill>
                  <a:srgbClr val="8B8B8B"/>
                </a:solidFill>
                <a:latin typeface="Arial"/>
              </a:rPr>
              <a:t>‹#›</a:t>
            </a:fld>
            <a:endParaRPr lang="en-US" sz="1200" b="0" strike="noStrike" spc="-1">
              <a:latin typeface="Times New Roman"/>
            </a:endParaRPr>
          </a:p>
        </p:txBody>
      </p:sp>
      <p:sp>
        <p:nvSpPr>
          <p:cNvPr id="42" name="PlaceHolder 3"/>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43" name="PlaceHolder 4"/>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sp>
        <p:nvSpPr>
          <p:cNvPr id="8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81"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sp>
        <p:nvSpPr>
          <p:cNvPr id="118"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p>
            <a:r>
              <a:rPr lang="en-US" sz="1800" b="0" strike="noStrike" spc="-1">
                <a:latin typeface="Arial"/>
              </a:rPr>
              <a:t>Click to edit the title text format</a:t>
            </a:r>
          </a:p>
        </p:txBody>
      </p:sp>
      <p:sp>
        <p:nvSpPr>
          <p:cNvPr id="119" name="PlaceHolder 2"/>
          <p:cNvSpPr>
            <a:spLocks noGrp="1"/>
          </p:cNvSpPr>
          <p:nvPr>
            <p:ph type="body"/>
          </p:nvPr>
        </p:nvSpPr>
        <p:spPr>
          <a:xfrm>
            <a:off x="609480" y="1604520"/>
            <a:ext cx="535392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latin typeface="Arial"/>
              </a:rPr>
              <a:t>Second Outline Level</a:t>
            </a:r>
          </a:p>
          <a:p>
            <a:pPr marL="1296000" lvl="2" indent="-288000">
              <a:spcBef>
                <a:spcPts val="850"/>
              </a:spcBef>
              <a:buClr>
                <a:srgbClr val="000000"/>
              </a:buClr>
              <a:buSzPct val="45000"/>
              <a:buFont typeface="Wingdings" charset="2"/>
              <a:buChar char=""/>
            </a:pPr>
            <a:r>
              <a:rPr lang="en-US" sz="1800" b="0" strike="noStrike" spc="-1">
                <a:latin typeface="Arial"/>
              </a:rPr>
              <a:t>Third Outline Level</a:t>
            </a:r>
          </a:p>
          <a:p>
            <a:pPr marL="1728000" lvl="3" indent="-216000">
              <a:spcBef>
                <a:spcPts val="567"/>
              </a:spcBef>
              <a:buClr>
                <a:srgbClr val="000000"/>
              </a:buClr>
              <a:buSzPct val="75000"/>
              <a:buFont typeface="Symbol" charset="2"/>
              <a:buChar char=""/>
            </a:pPr>
            <a:r>
              <a:rPr lang="en-US" sz="1800" b="0" strike="noStrike" spc="-1">
                <a:latin typeface="Arial"/>
              </a:rPr>
              <a:t>Fourth Outline Level</a:t>
            </a:r>
          </a:p>
          <a:p>
            <a:pPr marL="2160000" lvl="4" indent="-216000">
              <a:spcBef>
                <a:spcPts val="283"/>
              </a:spcBef>
              <a:buClr>
                <a:srgbClr val="000000"/>
              </a:buClr>
              <a:buSzPct val="45000"/>
              <a:buFont typeface="Wingdings" charset="2"/>
              <a:buChar char=""/>
            </a:pPr>
            <a:r>
              <a:rPr lang="en-US" sz="1800" b="0" strike="noStrike" spc="-1">
                <a:latin typeface="Arial"/>
              </a:rPr>
              <a:t>Fifth Outline Level</a:t>
            </a:r>
          </a:p>
          <a:p>
            <a:pPr marL="2592000" lvl="5" indent="-216000">
              <a:spcBef>
                <a:spcPts val="283"/>
              </a:spcBef>
              <a:buClr>
                <a:srgbClr val="000000"/>
              </a:buClr>
              <a:buSzPct val="45000"/>
              <a:buFont typeface="Wingdings" charset="2"/>
              <a:buChar char=""/>
            </a:pPr>
            <a:r>
              <a:rPr lang="en-US" sz="1800" b="0" strike="noStrike" spc="-1">
                <a:latin typeface="Arial"/>
              </a:rPr>
              <a:t>Sixth Outline Level</a:t>
            </a:r>
          </a:p>
          <a:p>
            <a:pPr marL="3024000" lvl="6" indent="-216000">
              <a:spcBef>
                <a:spcPts val="283"/>
              </a:spcBef>
              <a:buClr>
                <a:srgbClr val="000000"/>
              </a:buClr>
              <a:buSzPct val="45000"/>
              <a:buFont typeface="Wingdings" charset="2"/>
              <a:buChar char=""/>
            </a:pPr>
            <a:r>
              <a:rPr lang="en-US" sz="1800" b="0" strike="noStrike" spc="-1">
                <a:latin typeface="Arial"/>
              </a:rPr>
              <a:t>Seventh Outline Level</a:t>
            </a:r>
          </a:p>
        </p:txBody>
      </p:sp>
      <p:sp>
        <p:nvSpPr>
          <p:cNvPr id="120" name="PlaceHolder 3"/>
          <p:cNvSpPr>
            <a:spLocks noGrp="1"/>
          </p:cNvSpPr>
          <p:nvPr>
            <p:ph type="body"/>
          </p:nvPr>
        </p:nvSpPr>
        <p:spPr>
          <a:xfrm>
            <a:off x="6231960" y="1604520"/>
            <a:ext cx="535392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latin typeface="Arial"/>
              </a:rPr>
              <a:t>Second Outline Level</a:t>
            </a:r>
          </a:p>
          <a:p>
            <a:pPr marL="1296000" lvl="2" indent="-288000">
              <a:spcBef>
                <a:spcPts val="850"/>
              </a:spcBef>
              <a:buClr>
                <a:srgbClr val="000000"/>
              </a:buClr>
              <a:buSzPct val="45000"/>
              <a:buFont typeface="Wingdings" charset="2"/>
              <a:buChar char=""/>
            </a:pPr>
            <a:r>
              <a:rPr lang="en-US" sz="1800" b="0" strike="noStrike" spc="-1">
                <a:latin typeface="Arial"/>
              </a:rPr>
              <a:t>Third Outline Level</a:t>
            </a:r>
          </a:p>
          <a:p>
            <a:pPr marL="1728000" lvl="3" indent="-216000">
              <a:spcBef>
                <a:spcPts val="567"/>
              </a:spcBef>
              <a:buClr>
                <a:srgbClr val="000000"/>
              </a:buClr>
              <a:buSzPct val="75000"/>
              <a:buFont typeface="Symbol" charset="2"/>
              <a:buChar char=""/>
            </a:pPr>
            <a:r>
              <a:rPr lang="en-US" sz="1800" b="0" strike="noStrike" spc="-1">
                <a:latin typeface="Arial"/>
              </a:rPr>
              <a:t>Fourth Outline Level</a:t>
            </a:r>
          </a:p>
          <a:p>
            <a:pPr marL="2160000" lvl="4" indent="-216000">
              <a:spcBef>
                <a:spcPts val="283"/>
              </a:spcBef>
              <a:buClr>
                <a:srgbClr val="000000"/>
              </a:buClr>
              <a:buSzPct val="45000"/>
              <a:buFont typeface="Wingdings" charset="2"/>
              <a:buChar char=""/>
            </a:pPr>
            <a:r>
              <a:rPr lang="en-US" sz="1800" b="0" strike="noStrike" spc="-1">
                <a:latin typeface="Arial"/>
              </a:rPr>
              <a:t>Fifth Outline Level</a:t>
            </a:r>
          </a:p>
          <a:p>
            <a:pPr marL="2592000" lvl="5" indent="-216000">
              <a:spcBef>
                <a:spcPts val="283"/>
              </a:spcBef>
              <a:buClr>
                <a:srgbClr val="000000"/>
              </a:buClr>
              <a:buSzPct val="45000"/>
              <a:buFont typeface="Wingdings" charset="2"/>
              <a:buChar char=""/>
            </a:pPr>
            <a:r>
              <a:rPr lang="en-US" sz="1800" b="0" strike="noStrike" spc="-1">
                <a:latin typeface="Arial"/>
              </a:rPr>
              <a:t>Sixth Outline Level</a:t>
            </a:r>
          </a:p>
          <a:p>
            <a:pPr marL="3024000" lvl="6" indent="-216000">
              <a:spcBef>
                <a:spcPts val="283"/>
              </a:spcBef>
              <a:buClr>
                <a:srgbClr val="000000"/>
              </a:buClr>
              <a:buSzPct val="45000"/>
              <a:buFont typeface="Wingdings" charset="2"/>
              <a:buChar char=""/>
            </a:pPr>
            <a:r>
              <a:rPr lang="en-US" sz="1800" b="0" strike="noStrike" spc="-1">
                <a:latin typeface="Arial"/>
              </a:rPr>
              <a:t>Seventh Outline Level</a:t>
            </a:r>
          </a:p>
        </p:txBody>
      </p:sp>
      <p:sp>
        <p:nvSpPr>
          <p:cNvPr id="121" name="PlaceHolder 4"/>
          <p:cNvSpPr>
            <a:spLocks noGrp="1"/>
          </p:cNvSpPr>
          <p:nvPr>
            <p:ph type="ftr" idx="4"/>
          </p:nvPr>
        </p:nvSpPr>
        <p:spPr>
          <a:xfrm>
            <a:off x="4038480" y="6004440"/>
            <a:ext cx="4113720" cy="363960"/>
          </a:xfrm>
          <a:prstGeom prst="rect">
            <a:avLst/>
          </a:prstGeom>
          <a:noFill/>
          <a:ln w="0">
            <a:noFill/>
          </a:ln>
        </p:spPr>
        <p:txBody>
          <a:bodyPr lIns="90000" tIns="45000" rIns="90000" bIns="45000" anchor="ctr">
            <a:noAutofit/>
          </a:bodyPr>
          <a:lstStyle>
            <a:lvl1pPr algn="ctr">
              <a:lnSpc>
                <a:spcPct val="100000"/>
              </a:lnSpc>
              <a:buNone/>
              <a:defRPr lang="en-US" sz="1400" b="0" strike="noStrike" spc="-1">
                <a:latin typeface="Times New Roman"/>
              </a:defRPr>
            </a:lvl1pPr>
          </a:lstStyle>
          <a:p>
            <a:pPr algn="ctr">
              <a:lnSpc>
                <a:spcPct val="100000"/>
              </a:lnSpc>
              <a:buNone/>
            </a:pPr>
            <a:r>
              <a:rPr lang="en-US" sz="1400" b="0" strike="noStrike" spc="-1">
                <a:latin typeface="Times New Roman"/>
              </a:rPr>
              <a:t>&lt;footer&gt;</a:t>
            </a:r>
          </a:p>
        </p:txBody>
      </p:sp>
      <p:sp>
        <p:nvSpPr>
          <p:cNvPr id="122" name="PlaceHolder 5"/>
          <p:cNvSpPr>
            <a:spLocks noGrp="1"/>
          </p:cNvSpPr>
          <p:nvPr>
            <p:ph type="sldNum" idx="5"/>
          </p:nvPr>
        </p:nvSpPr>
        <p:spPr>
          <a:xfrm>
            <a:off x="838080" y="6004440"/>
            <a:ext cx="2687760" cy="363960"/>
          </a:xfrm>
          <a:prstGeom prst="rect">
            <a:avLst/>
          </a:prstGeom>
          <a:noFill/>
          <a:ln w="0">
            <a:noFill/>
          </a:ln>
        </p:spPr>
        <p:txBody>
          <a:bodyPr lIns="90000" tIns="45000" rIns="90000" bIns="45000" anchor="ctr">
            <a:noAutofit/>
          </a:bodyPr>
          <a:lstStyle>
            <a:lvl1pPr>
              <a:lnSpc>
                <a:spcPct val="100000"/>
              </a:lnSpc>
              <a:buNone/>
              <a:defRPr lang="en-US" sz="1200" b="0" strike="noStrike" spc="-1">
                <a:solidFill>
                  <a:srgbClr val="8B8B8B"/>
                </a:solidFill>
                <a:latin typeface="Arial"/>
              </a:defRPr>
            </a:lvl1pPr>
          </a:lstStyle>
          <a:p>
            <a:pPr>
              <a:lnSpc>
                <a:spcPct val="100000"/>
              </a:lnSpc>
              <a:buNone/>
            </a:pPr>
            <a:fld id="{5A2850DE-B3EF-48DC-BBE4-FF7D462F3563}" type="slidenum">
              <a:rPr lang="en-US" sz="1200" b="0" strike="noStrike" spc="-1">
                <a:solidFill>
                  <a:srgbClr val="8B8B8B"/>
                </a:solidFill>
                <a:latin typeface="Arial"/>
              </a:r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sp>
        <p:nvSpPr>
          <p:cNvPr id="159" name="PlaceHolder 1"/>
          <p:cNvSpPr>
            <a:spLocks noGrp="1"/>
          </p:cNvSpPr>
          <p:nvPr>
            <p:ph type="sldNum" idx="6"/>
          </p:nvPr>
        </p:nvSpPr>
        <p:spPr>
          <a:xfrm>
            <a:off x="838080" y="6004440"/>
            <a:ext cx="2742120" cy="363960"/>
          </a:xfrm>
          <a:prstGeom prst="rect">
            <a:avLst/>
          </a:prstGeom>
          <a:noFill/>
          <a:ln w="0">
            <a:noFill/>
          </a:ln>
        </p:spPr>
        <p:txBody>
          <a:bodyPr lIns="90000" tIns="45000" rIns="90000" bIns="45000" anchor="ctr">
            <a:noAutofit/>
          </a:bodyPr>
          <a:lstStyle>
            <a:lvl1pPr>
              <a:lnSpc>
                <a:spcPct val="100000"/>
              </a:lnSpc>
              <a:buNone/>
              <a:defRPr lang="en-US" sz="1200" b="0" strike="noStrike" spc="-1">
                <a:solidFill>
                  <a:srgbClr val="8B8B8B"/>
                </a:solidFill>
                <a:latin typeface="Arial"/>
              </a:defRPr>
            </a:lvl1pPr>
          </a:lstStyle>
          <a:p>
            <a:pPr>
              <a:lnSpc>
                <a:spcPct val="100000"/>
              </a:lnSpc>
              <a:buNone/>
            </a:pPr>
            <a:fld id="{CDC37926-6454-4679-BD97-D955F3E51B44}" type="slidenum">
              <a:rPr lang="en-US" sz="1200" b="0" strike="noStrike" spc="-1">
                <a:solidFill>
                  <a:srgbClr val="8B8B8B"/>
                </a:solidFill>
                <a:latin typeface="Arial"/>
              </a:rPr>
              <a:t>‹#›</a:t>
            </a:fld>
            <a:endParaRPr lang="en-US" sz="1200" b="0" strike="noStrike" spc="-1">
              <a:latin typeface="Times New Roman"/>
            </a:endParaRPr>
          </a:p>
        </p:txBody>
      </p:sp>
      <p:sp>
        <p:nvSpPr>
          <p:cNvPr id="160"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161"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pic>
        <p:nvPicPr>
          <p:cNvPr id="198" name="Picture 13"/>
          <p:cNvPicPr/>
          <p:nvPr/>
        </p:nvPicPr>
        <p:blipFill>
          <a:blip r:embed="rId15"/>
          <a:stretch/>
        </p:blipFill>
        <p:spPr>
          <a:xfrm>
            <a:off x="6756840" y="5337360"/>
            <a:ext cx="4915440" cy="1014120"/>
          </a:xfrm>
          <a:prstGeom prst="rect">
            <a:avLst/>
          </a:prstGeom>
          <a:ln w="0">
            <a:noFill/>
          </a:ln>
        </p:spPr>
      </p:pic>
      <p:sp>
        <p:nvSpPr>
          <p:cNvPr id="19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200"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40.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0.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0.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13.xml"/><Relationship Id="rId5" Type="http://schemas.openxmlformats.org/officeDocument/2006/relationships/image" Target="../media/image39.png"/><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notesSlide" Target="../notesSlides/notesSlide20.xml"/><Relationship Id="rId1" Type="http://schemas.openxmlformats.org/officeDocument/2006/relationships/slideLayout" Target="../slideLayouts/slideLayout13.xml"/><Relationship Id="rId5" Type="http://schemas.openxmlformats.org/officeDocument/2006/relationships/image" Target="../media/image41.png"/><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4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2.xml"/><Relationship Id="rId1" Type="http://schemas.openxmlformats.org/officeDocument/2006/relationships/slideLayout" Target="../slideLayouts/slideLayout13.xml"/><Relationship Id="rId5" Type="http://schemas.openxmlformats.org/officeDocument/2006/relationships/image" Target="../media/image51.png"/><Relationship Id="rId4" Type="http://schemas.openxmlformats.org/officeDocument/2006/relationships/image" Target="../media/image50.jpe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9.xml"/></Relationships>
</file>

<file path=ppt/slides/_rels/slide3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2"/>
          <a:stretch/>
        </a:blipFill>
        <a:effectLst/>
      </p:bgPr>
    </p:bg>
    <p:spTree>
      <p:nvGrpSpPr>
        <p:cNvPr id="1" name=""/>
        <p:cNvGrpSpPr/>
        <p:nvPr/>
      </p:nvGrpSpPr>
      <p:grpSpPr>
        <a:xfrm>
          <a:off x="0" y="0"/>
          <a:ext cx="0" cy="0"/>
          <a:chOff x="0" y="0"/>
          <a:chExt cx="0" cy="0"/>
        </a:xfrm>
      </p:grpSpPr>
      <p:sp>
        <p:nvSpPr>
          <p:cNvPr id="243" name="PlaceHolder 1"/>
          <p:cNvSpPr>
            <a:spLocks noGrp="1"/>
          </p:cNvSpPr>
          <p:nvPr>
            <p:ph type="title"/>
          </p:nvPr>
        </p:nvSpPr>
        <p:spPr>
          <a:xfrm>
            <a:off x="1523880" y="734040"/>
            <a:ext cx="9142920" cy="2386440"/>
          </a:xfrm>
          <a:prstGeom prst="rect">
            <a:avLst/>
          </a:prstGeom>
          <a:noFill/>
          <a:ln w="0">
            <a:noFill/>
          </a:ln>
        </p:spPr>
        <p:txBody>
          <a:bodyPr lIns="0" tIns="0" rIns="0" bIns="0" anchor="b">
            <a:normAutofit fontScale="90000"/>
          </a:bodyPr>
          <a:lstStyle/>
          <a:p>
            <a:pPr algn="ctr">
              <a:lnSpc>
                <a:spcPct val="90000"/>
              </a:lnSpc>
              <a:buNone/>
            </a:pPr>
            <a:r>
              <a:rPr lang="en-US" sz="3600" b="0" strike="noStrike" spc="-1">
                <a:solidFill>
                  <a:srgbClr val="000000"/>
                </a:solidFill>
                <a:latin typeface="Arial Black"/>
              </a:rPr>
              <a:t>Development of Powertrain Component Models, Energy Management Strategies, and Economic and Performance Surrogate Models for All-Electric Aircraft in an Open-Source Framework</a:t>
            </a:r>
            <a:endParaRPr lang="en-US" sz="3600" b="0" strike="noStrike" spc="-1">
              <a:latin typeface="Arial"/>
            </a:endParaRPr>
          </a:p>
        </p:txBody>
      </p:sp>
      <p:sp>
        <p:nvSpPr>
          <p:cNvPr id="244" name="PlaceHolder 2"/>
          <p:cNvSpPr>
            <a:spLocks noGrp="1"/>
          </p:cNvSpPr>
          <p:nvPr>
            <p:ph type="subTitle"/>
          </p:nvPr>
        </p:nvSpPr>
        <p:spPr>
          <a:xfrm>
            <a:off x="1523880" y="3313800"/>
            <a:ext cx="9142920" cy="1654560"/>
          </a:xfrm>
          <a:prstGeom prst="rect">
            <a:avLst/>
          </a:prstGeom>
          <a:noFill/>
          <a:ln w="0">
            <a:noFill/>
          </a:ln>
        </p:spPr>
        <p:txBody>
          <a:bodyPr lIns="0" tIns="0" rIns="0" bIns="0" anchor="t">
            <a:noAutofit/>
          </a:bodyPr>
          <a:lstStyle/>
          <a:p>
            <a:pPr algn="ctr">
              <a:lnSpc>
                <a:spcPct val="90000"/>
              </a:lnSpc>
              <a:spcBef>
                <a:spcPts val="1001"/>
              </a:spcBef>
              <a:buNone/>
              <a:tabLst>
                <a:tab pos="0" algn="l"/>
              </a:tabLst>
            </a:pPr>
            <a:r>
              <a:rPr lang="en-US" sz="2400" b="0" strike="noStrike" spc="-1">
                <a:solidFill>
                  <a:srgbClr val="000000"/>
                </a:solidFill>
                <a:latin typeface="Arial"/>
              </a:rPr>
              <a:t>Nathaniel Cooper</a:t>
            </a:r>
            <a:endParaRPr lang="en-US" sz="2400" b="0" strike="noStrike" spc="-1">
              <a:latin typeface="Arial"/>
            </a:endParaRPr>
          </a:p>
          <a:p>
            <a:pPr algn="ctr">
              <a:lnSpc>
                <a:spcPct val="90000"/>
              </a:lnSpc>
              <a:spcBef>
                <a:spcPts val="1001"/>
              </a:spcBef>
              <a:buNone/>
              <a:tabLst>
                <a:tab pos="0" algn="l"/>
              </a:tabLst>
            </a:pPr>
            <a:r>
              <a:rPr lang="en-US" sz="2400" b="0" strike="noStrike" spc="-1">
                <a:solidFill>
                  <a:srgbClr val="000000"/>
                </a:solidFill>
                <a:latin typeface="Arial"/>
              </a:rPr>
              <a:t>08/28/2026</a:t>
            </a:r>
            <a:endParaRPr lang="en-US" sz="2400" b="0" strike="noStrike" spc="-1">
              <a:latin typeface="Arial"/>
            </a:endParaRPr>
          </a:p>
        </p:txBody>
      </p:sp>
      <p:sp>
        <p:nvSpPr>
          <p:cNvPr id="4" name="PlaceHolder 3"/>
          <p:cNvSpPr>
            <a:spLocks noGrp="1"/>
          </p:cNvSpPr>
          <p:nvPr>
            <p:ph type="sldNum" idx="1"/>
          </p:nvPr>
        </p:nvSpPr>
        <p:spPr/>
        <p:txBody>
          <a:bodyPr/>
          <a:lstStyle/>
          <a:p>
            <a:fld id="{E76672D9-9322-4CE2-945F-0A2D6AC8CA5B}" type="slidenum">
              <a:rPr/>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PlaceHolder 1"/>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a:solidFill>
                  <a:srgbClr val="000000"/>
                </a:solidFill>
                <a:latin typeface="Arial Black"/>
              </a:rPr>
              <a:t>Personal Information</a:t>
            </a:r>
            <a:endParaRPr lang="en-US" sz="3600" b="0" strike="noStrike" spc="-1">
              <a:latin typeface="Arial"/>
            </a:endParaRPr>
          </a:p>
        </p:txBody>
      </p:sp>
      <p:sp>
        <p:nvSpPr>
          <p:cNvPr id="246" name="PlaceHolder 2"/>
          <p:cNvSpPr>
            <a:spLocks noGrp="1"/>
          </p:cNvSpPr>
          <p:nvPr>
            <p:ph/>
          </p:nvPr>
        </p:nvSpPr>
        <p:spPr>
          <a:xfrm>
            <a:off x="838080" y="1825560"/>
            <a:ext cx="10591560" cy="3990960"/>
          </a:xfrm>
          <a:prstGeom prst="rect">
            <a:avLst/>
          </a:prstGeom>
          <a:noFill/>
          <a:ln w="0">
            <a:noFill/>
          </a:ln>
        </p:spPr>
        <p:txBody>
          <a:bodyPr lIns="90000" tIns="45000" rIns="90000" bIns="45000" anchor="t">
            <a:normAutofit/>
          </a:bodyPr>
          <a:lstStyle/>
          <a:p>
            <a:pPr marL="228600" indent="-228600">
              <a:lnSpc>
                <a:spcPct val="100000"/>
              </a:lnSpc>
              <a:spcBef>
                <a:spcPts val="1001"/>
              </a:spcBef>
              <a:buClr>
                <a:srgbClr val="000000"/>
              </a:buClr>
              <a:buFont typeface="Arial"/>
              <a:buChar char="•"/>
            </a:pPr>
            <a:r>
              <a:rPr lang="en-US" sz="2800" b="0" strike="noStrike" spc="-1">
                <a:solidFill>
                  <a:srgbClr val="000000"/>
                </a:solidFill>
                <a:latin typeface="Arial"/>
              </a:rPr>
              <a:t>Bachelor’s of Science, Mechanical Engineering, University of South Carolina, May 2015</a:t>
            </a:r>
            <a:endParaRPr lang="en-US" sz="2800" b="0" strike="noStrike" spc="-1">
              <a:latin typeface="Arial"/>
            </a:endParaRPr>
          </a:p>
          <a:p>
            <a:pPr marL="228600" indent="-228600">
              <a:lnSpc>
                <a:spcPct val="100000"/>
              </a:lnSpc>
              <a:spcBef>
                <a:spcPts val="1001"/>
              </a:spcBef>
              <a:buClr>
                <a:srgbClr val="000000"/>
              </a:buClr>
              <a:buFont typeface="Arial"/>
              <a:buChar char="•"/>
            </a:pPr>
            <a:r>
              <a:rPr lang="en-US" sz="2800" b="0" strike="noStrike" spc="-1">
                <a:solidFill>
                  <a:srgbClr val="000000"/>
                </a:solidFill>
                <a:latin typeface="Arial"/>
              </a:rPr>
              <a:t>Master’s of Science, Mechanical Engineering, University of South Carolina, December 2020</a:t>
            </a:r>
            <a:endParaRPr lang="en-US" sz="2800" b="0" strike="noStrike" spc="-1">
              <a:latin typeface="Arial"/>
            </a:endParaRPr>
          </a:p>
          <a:p>
            <a:pPr marL="228600" indent="-228600">
              <a:lnSpc>
                <a:spcPct val="100000"/>
              </a:lnSpc>
              <a:spcBef>
                <a:spcPts val="1001"/>
              </a:spcBef>
              <a:buClr>
                <a:srgbClr val="000000"/>
              </a:buClr>
              <a:buFont typeface="Arial"/>
              <a:buChar char="•"/>
            </a:pPr>
            <a:r>
              <a:rPr lang="en-US" sz="2800" b="0" strike="noStrike" spc="-1">
                <a:solidFill>
                  <a:srgbClr val="000000"/>
                </a:solidFill>
                <a:latin typeface="Arial"/>
              </a:rPr>
              <a:t>Current Employment: Senior Engineer at Savannah River National Laboratory</a:t>
            </a:r>
            <a:endParaRPr lang="en-US" sz="2800" b="0" strike="noStrike" spc="-1">
              <a:latin typeface="Arial"/>
            </a:endParaRPr>
          </a:p>
          <a:p>
            <a:pPr marL="228600" indent="-228600">
              <a:lnSpc>
                <a:spcPct val="100000"/>
              </a:lnSpc>
              <a:spcBef>
                <a:spcPts val="1001"/>
              </a:spcBef>
              <a:buClr>
                <a:srgbClr val="000000"/>
              </a:buClr>
              <a:buFont typeface="Arial"/>
              <a:buChar char="•"/>
            </a:pPr>
            <a:r>
              <a:rPr lang="en-US" sz="2800" b="0" strike="noStrike" spc="-1">
                <a:solidFill>
                  <a:srgbClr val="000000"/>
                </a:solidFill>
                <a:latin typeface="Arial"/>
              </a:rPr>
              <a:t>Hobbies: Film, Science Fiction, Piano and Organ, Chess, Table-top games</a:t>
            </a:r>
            <a:endParaRPr lang="en-US" sz="2800" b="0" strike="noStrike" spc="-1">
              <a:latin typeface="Arial"/>
            </a:endParaRPr>
          </a:p>
          <a:p>
            <a:pPr>
              <a:lnSpc>
                <a:spcPct val="100000"/>
              </a:lnSpc>
              <a:spcBef>
                <a:spcPts val="1001"/>
              </a:spcBef>
              <a:buNone/>
            </a:pPr>
            <a:endParaRPr lang="en-US" sz="2800" b="0" strike="noStrike" spc="-1">
              <a:latin typeface="Arial"/>
            </a:endParaRPr>
          </a:p>
        </p:txBody>
      </p:sp>
      <p:sp>
        <p:nvSpPr>
          <p:cNvPr id="4" name="PlaceHolder 3"/>
          <p:cNvSpPr>
            <a:spLocks noGrp="1"/>
          </p:cNvSpPr>
          <p:nvPr>
            <p:ph type="sldNum" idx="3"/>
          </p:nvPr>
        </p:nvSpPr>
        <p:spPr/>
        <p:txBody>
          <a:bodyPr/>
          <a:lstStyle/>
          <a:p>
            <a:fld id="{B83CDD12-3692-4217-8654-1D45F7CE57DA}" type="slidenum">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a:solidFill>
                  <a:srgbClr val="000000"/>
                </a:solidFill>
                <a:latin typeface="Arial Black"/>
              </a:rPr>
              <a:t>Agenda</a:t>
            </a:r>
            <a:endParaRPr lang="en-US" sz="3600" b="0" strike="noStrike" spc="-1">
              <a:latin typeface="Arial"/>
            </a:endParaRPr>
          </a:p>
        </p:txBody>
      </p:sp>
      <p:sp>
        <p:nvSpPr>
          <p:cNvPr id="248" name="PlaceHolder 2"/>
          <p:cNvSpPr>
            <a:spLocks noGrp="1"/>
          </p:cNvSpPr>
          <p:nvPr>
            <p:ph/>
          </p:nvPr>
        </p:nvSpPr>
        <p:spPr>
          <a:xfrm>
            <a:off x="838080" y="1825560"/>
            <a:ext cx="5256720" cy="3990960"/>
          </a:xfrm>
          <a:prstGeom prst="rect">
            <a:avLst/>
          </a:prstGeom>
          <a:noFill/>
          <a:ln w="0">
            <a:noFill/>
          </a:ln>
        </p:spPr>
        <p:txBody>
          <a:bodyPr lIns="90000" tIns="45000" rIns="90000" bIns="45000" anchor="t">
            <a:normAutofit fontScale="81500" lnSpcReduction="20000"/>
          </a:bodyPr>
          <a:lstStyle/>
          <a:p>
            <a:pPr>
              <a:lnSpc>
                <a:spcPct val="100000"/>
              </a:lnSpc>
              <a:spcBef>
                <a:spcPts val="1001"/>
              </a:spcBef>
            </a:pPr>
            <a:r>
              <a:rPr lang="en-US" sz="2800" b="0" strike="noStrike" spc="-1" dirty="0">
                <a:solidFill>
                  <a:srgbClr val="000000"/>
                </a:solidFill>
                <a:latin typeface="Arial"/>
              </a:rPr>
              <a:t>Publications</a:t>
            </a:r>
            <a:endParaRPr lang="en-US" sz="2800" b="0" strike="noStrike" spc="-1" dirty="0">
              <a:latin typeface="Arial"/>
            </a:endParaRPr>
          </a:p>
          <a:p>
            <a:pPr marL="228600" indent="-228600">
              <a:lnSpc>
                <a:spcPct val="100000"/>
              </a:lnSpc>
              <a:spcBef>
                <a:spcPts val="1001"/>
              </a:spcBef>
              <a:buClr>
                <a:srgbClr val="000000"/>
              </a:buClr>
              <a:buFont typeface="Arial"/>
              <a:buChar char="•"/>
            </a:pPr>
            <a:r>
              <a:rPr lang="en-US" sz="2800" b="0" strike="noStrike" spc="-1" dirty="0">
                <a:solidFill>
                  <a:srgbClr val="000000"/>
                </a:solidFill>
                <a:latin typeface="Arial"/>
              </a:rPr>
              <a:t>Motivation</a:t>
            </a:r>
            <a:endParaRPr lang="en-US" sz="2800" b="0" strike="noStrike" spc="-1" dirty="0">
              <a:latin typeface="Arial"/>
            </a:endParaRPr>
          </a:p>
          <a:p>
            <a:pPr marL="228600" indent="-228600">
              <a:lnSpc>
                <a:spcPct val="100000"/>
              </a:lnSpc>
              <a:spcBef>
                <a:spcPts val="1001"/>
              </a:spcBef>
              <a:buClr>
                <a:srgbClr val="000000"/>
              </a:buClr>
              <a:buFont typeface="Arial"/>
              <a:buChar char="•"/>
            </a:pPr>
            <a:r>
              <a:rPr lang="en-US" sz="2800" b="0" strike="noStrike" spc="-1" dirty="0">
                <a:solidFill>
                  <a:srgbClr val="000000"/>
                </a:solidFill>
                <a:latin typeface="Arial"/>
              </a:rPr>
              <a:t>Background</a:t>
            </a:r>
            <a:endParaRPr lang="en-US" sz="2800" b="0" strike="noStrike" spc="-1" dirty="0">
              <a:latin typeface="Arial"/>
            </a:endParaRPr>
          </a:p>
          <a:p>
            <a:pPr marL="685800" lvl="1" indent="-228600">
              <a:lnSpc>
                <a:spcPct val="100000"/>
              </a:lnSpc>
              <a:spcBef>
                <a:spcPts val="499"/>
              </a:spcBef>
              <a:buClr>
                <a:srgbClr val="000000"/>
              </a:buClr>
              <a:buFont typeface="Arial"/>
              <a:buChar char="•"/>
            </a:pPr>
            <a:r>
              <a:rPr lang="en-US" sz="2400" b="0" strike="noStrike" spc="-1" dirty="0">
                <a:solidFill>
                  <a:srgbClr val="000000"/>
                </a:solidFill>
                <a:latin typeface="Arial"/>
              </a:rPr>
              <a:t>Hybrid Architectures</a:t>
            </a:r>
            <a:endParaRPr lang="en-US" sz="2400" b="0" strike="noStrike" spc="-1" dirty="0">
              <a:latin typeface="Arial"/>
            </a:endParaRPr>
          </a:p>
          <a:p>
            <a:pPr marL="685800" lvl="1" indent="-228600">
              <a:lnSpc>
                <a:spcPct val="100000"/>
              </a:lnSpc>
              <a:spcBef>
                <a:spcPts val="499"/>
              </a:spcBef>
              <a:buClr>
                <a:srgbClr val="000000"/>
              </a:buClr>
              <a:buFont typeface="Arial"/>
              <a:buChar char="•"/>
            </a:pPr>
            <a:r>
              <a:rPr lang="en-US" sz="2400" b="0" strike="noStrike" spc="-1" dirty="0">
                <a:solidFill>
                  <a:srgbClr val="000000"/>
                </a:solidFill>
                <a:latin typeface="Arial"/>
              </a:rPr>
              <a:t>Energy Management Systems</a:t>
            </a:r>
            <a:endParaRPr lang="en-US" sz="2400" b="0" strike="noStrike" spc="-1" dirty="0">
              <a:latin typeface="Arial"/>
            </a:endParaRPr>
          </a:p>
          <a:p>
            <a:pPr marL="685800" lvl="1" indent="-228600">
              <a:lnSpc>
                <a:spcPct val="100000"/>
              </a:lnSpc>
              <a:spcBef>
                <a:spcPts val="499"/>
              </a:spcBef>
              <a:buClr>
                <a:srgbClr val="000000"/>
              </a:buClr>
              <a:buFont typeface="Arial"/>
              <a:buChar char="•"/>
            </a:pPr>
            <a:r>
              <a:rPr lang="en-US" sz="2400" b="0" strike="noStrike" spc="-1" dirty="0">
                <a:solidFill>
                  <a:srgbClr val="000000"/>
                </a:solidFill>
                <a:latin typeface="Arial"/>
              </a:rPr>
              <a:t>Power Train Modeling &amp; Initial Results</a:t>
            </a:r>
            <a:endParaRPr lang="en-US" sz="2400" b="0" strike="noStrike" spc="-1" dirty="0">
              <a:latin typeface="Arial"/>
            </a:endParaRPr>
          </a:p>
          <a:p>
            <a:pPr marL="228600" indent="-228600">
              <a:lnSpc>
                <a:spcPct val="100000"/>
              </a:lnSpc>
              <a:spcBef>
                <a:spcPts val="1001"/>
              </a:spcBef>
              <a:buClr>
                <a:srgbClr val="000000"/>
              </a:buClr>
              <a:buFont typeface="Arial"/>
              <a:buChar char="•"/>
            </a:pPr>
            <a:r>
              <a:rPr lang="en-US" sz="2800" b="0" strike="noStrike" spc="-1" dirty="0">
                <a:solidFill>
                  <a:srgbClr val="000000"/>
                </a:solidFill>
                <a:latin typeface="Arial"/>
              </a:rPr>
              <a:t>Research Objectives</a:t>
            </a:r>
            <a:endParaRPr lang="en-US" sz="2800" b="0" strike="noStrike" spc="-1" dirty="0">
              <a:latin typeface="Arial"/>
            </a:endParaRPr>
          </a:p>
          <a:p>
            <a:pPr marL="685800" lvl="1" indent="-228600">
              <a:lnSpc>
                <a:spcPct val="100000"/>
              </a:lnSpc>
              <a:spcBef>
                <a:spcPts val="499"/>
              </a:spcBef>
              <a:buClr>
                <a:srgbClr val="000000"/>
              </a:buClr>
              <a:buFont typeface="Arial"/>
              <a:buChar char="•"/>
            </a:pPr>
            <a:r>
              <a:rPr lang="en-US" sz="2400" b="0" strike="noStrike" spc="-1" dirty="0">
                <a:solidFill>
                  <a:srgbClr val="000000"/>
                </a:solidFill>
                <a:latin typeface="Arial"/>
              </a:rPr>
              <a:t>Complete Hybrid Electric Library</a:t>
            </a:r>
            <a:endParaRPr lang="en-US" sz="2400" b="0" strike="noStrike" spc="-1" dirty="0">
              <a:latin typeface="Arial"/>
            </a:endParaRPr>
          </a:p>
          <a:p>
            <a:pPr marL="685800" lvl="1" indent="-228600">
              <a:lnSpc>
                <a:spcPct val="100000"/>
              </a:lnSpc>
              <a:spcBef>
                <a:spcPts val="499"/>
              </a:spcBef>
              <a:buClr>
                <a:srgbClr val="000000"/>
              </a:buClr>
              <a:buFont typeface="Arial"/>
              <a:buChar char="•"/>
            </a:pPr>
            <a:r>
              <a:rPr lang="en-US" sz="2400" b="0" strike="noStrike" spc="-1" dirty="0">
                <a:solidFill>
                  <a:srgbClr val="000000"/>
                </a:solidFill>
                <a:latin typeface="Arial"/>
              </a:rPr>
              <a:t>Develop and Demonstrate Controllers</a:t>
            </a:r>
            <a:endParaRPr lang="en-US" sz="2400" b="0" strike="noStrike" spc="-1" dirty="0">
              <a:latin typeface="Arial"/>
            </a:endParaRPr>
          </a:p>
          <a:p>
            <a:pPr marL="685800" lvl="1" indent="-228600">
              <a:lnSpc>
                <a:spcPct val="100000"/>
              </a:lnSpc>
              <a:spcBef>
                <a:spcPts val="499"/>
              </a:spcBef>
              <a:buClr>
                <a:srgbClr val="000000"/>
              </a:buClr>
              <a:buFont typeface="Arial"/>
              <a:buChar char="•"/>
            </a:pPr>
            <a:r>
              <a:rPr lang="en-US" sz="2400" b="0" strike="noStrike" spc="-1" dirty="0">
                <a:solidFill>
                  <a:srgbClr val="000000"/>
                </a:solidFill>
                <a:latin typeface="Arial"/>
              </a:rPr>
              <a:t>Explore Simulation Space</a:t>
            </a:r>
            <a:endParaRPr lang="en-US" sz="2400" b="0" strike="noStrike" spc="-1" dirty="0">
              <a:latin typeface="Arial"/>
            </a:endParaRPr>
          </a:p>
          <a:p>
            <a:pPr marL="228600" indent="-228600">
              <a:lnSpc>
                <a:spcPct val="100000"/>
              </a:lnSpc>
              <a:spcBef>
                <a:spcPts val="1001"/>
              </a:spcBef>
              <a:buClr>
                <a:srgbClr val="000000"/>
              </a:buClr>
              <a:buFont typeface="Arial"/>
              <a:buChar char="•"/>
            </a:pPr>
            <a:r>
              <a:rPr lang="en-US" sz="2800" b="0" strike="noStrike" spc="-1" dirty="0">
                <a:solidFill>
                  <a:srgbClr val="000000"/>
                </a:solidFill>
                <a:latin typeface="Arial"/>
              </a:rPr>
              <a:t>Timeline</a:t>
            </a:r>
            <a:endParaRPr lang="en-US" sz="2800" b="0" strike="noStrike" spc="-1" dirty="0">
              <a:latin typeface="Arial"/>
            </a:endParaRPr>
          </a:p>
          <a:p>
            <a:pPr>
              <a:lnSpc>
                <a:spcPct val="100000"/>
              </a:lnSpc>
              <a:spcBef>
                <a:spcPts val="1001"/>
              </a:spcBef>
              <a:buNone/>
            </a:pPr>
            <a:endParaRPr lang="en-US" sz="2800" b="0" strike="noStrike" spc="-1" dirty="0">
              <a:latin typeface="Arial"/>
            </a:endParaRPr>
          </a:p>
        </p:txBody>
      </p:sp>
      <p:pic>
        <p:nvPicPr>
          <p:cNvPr id="249" name="Picture 1"/>
          <p:cNvPicPr/>
          <p:nvPr/>
        </p:nvPicPr>
        <p:blipFill>
          <a:blip r:embed="rId3"/>
          <a:stretch/>
        </p:blipFill>
        <p:spPr>
          <a:xfrm>
            <a:off x="6298200" y="617400"/>
            <a:ext cx="5410440" cy="2585880"/>
          </a:xfrm>
          <a:prstGeom prst="rect">
            <a:avLst/>
          </a:prstGeom>
          <a:ln w="0">
            <a:noFill/>
          </a:ln>
        </p:spPr>
      </p:pic>
      <p:pic>
        <p:nvPicPr>
          <p:cNvPr id="250" name="Picture 2"/>
          <p:cNvPicPr/>
          <p:nvPr/>
        </p:nvPicPr>
        <p:blipFill>
          <a:blip r:embed="rId4"/>
          <a:stretch/>
        </p:blipFill>
        <p:spPr>
          <a:xfrm>
            <a:off x="6095880" y="3339360"/>
            <a:ext cx="5815080" cy="2297880"/>
          </a:xfrm>
          <a:prstGeom prst="rect">
            <a:avLst/>
          </a:prstGeom>
          <a:ln w="0">
            <a:noFill/>
          </a:ln>
        </p:spPr>
      </p:pic>
      <p:sp>
        <p:nvSpPr>
          <p:cNvPr id="251" name="TextBox 1"/>
          <p:cNvSpPr/>
          <p:nvPr/>
        </p:nvSpPr>
        <p:spPr>
          <a:xfrm>
            <a:off x="7905240" y="5628240"/>
            <a:ext cx="4005720" cy="2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800" b="0" strike="noStrike" spc="-1">
                <a:solidFill>
                  <a:srgbClr val="000000"/>
                </a:solidFill>
                <a:latin typeface="Arial"/>
                <a:ea typeface="DejaVu Sans"/>
              </a:rPr>
              <a:t>https://cessna.txtav.com/en/turboprop/caravan</a:t>
            </a:r>
            <a:endParaRPr lang="en-US" sz="800" b="0" strike="noStrike" spc="-1">
              <a:latin typeface="Arial"/>
            </a:endParaRPr>
          </a:p>
        </p:txBody>
      </p:sp>
      <p:sp>
        <p:nvSpPr>
          <p:cNvPr id="4" name="PlaceHolder 3"/>
          <p:cNvSpPr>
            <a:spLocks noGrp="1"/>
          </p:cNvSpPr>
          <p:nvPr>
            <p:ph type="sldNum" idx="3"/>
          </p:nvPr>
        </p:nvSpPr>
        <p:spPr/>
        <p:txBody>
          <a:bodyPr/>
          <a:lstStyle/>
          <a:p>
            <a:fld id="{23AEE03E-850D-45CB-B620-0721E1A44D5F}" type="slidenum">
              <a:rP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PlaceHolder 1"/>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a:solidFill>
                  <a:srgbClr val="000000"/>
                </a:solidFill>
                <a:latin typeface="Arial Black"/>
              </a:rPr>
              <a:t>Relevant Publications</a:t>
            </a:r>
            <a:endParaRPr lang="en-US" sz="3600" b="0" strike="noStrike" spc="-1">
              <a:latin typeface="Arial"/>
            </a:endParaRPr>
          </a:p>
        </p:txBody>
      </p:sp>
      <p:sp>
        <p:nvSpPr>
          <p:cNvPr id="253" name="PlaceHolder 2"/>
          <p:cNvSpPr>
            <a:spLocks noGrp="1"/>
          </p:cNvSpPr>
          <p:nvPr>
            <p:ph/>
          </p:nvPr>
        </p:nvSpPr>
        <p:spPr>
          <a:xfrm>
            <a:off x="838080" y="1368360"/>
            <a:ext cx="11048760" cy="4636080"/>
          </a:xfrm>
          <a:prstGeom prst="rect">
            <a:avLst/>
          </a:prstGeom>
          <a:noFill/>
          <a:ln w="0">
            <a:noFill/>
          </a:ln>
        </p:spPr>
        <p:txBody>
          <a:bodyPr lIns="90000" tIns="45000" rIns="90000" bIns="45000" anchor="t">
            <a:normAutofit fontScale="93000"/>
          </a:bodyPr>
          <a:lstStyle/>
          <a:p>
            <a:pPr>
              <a:lnSpc>
                <a:spcPct val="110000"/>
              </a:lnSpc>
              <a:spcBef>
                <a:spcPts val="0"/>
              </a:spcBef>
              <a:buNone/>
            </a:pPr>
            <a:r>
              <a:rPr lang="en-US" sz="1700" b="1" strike="noStrike" spc="-1" dirty="0">
                <a:solidFill>
                  <a:srgbClr val="000000"/>
                </a:solidFill>
                <a:latin typeface="Arial"/>
                <a:ea typeface="Noto Sans CJK SC"/>
              </a:rPr>
              <a:t>JOURNAL ARTICLES:</a:t>
            </a:r>
          </a:p>
          <a:p>
            <a:pPr>
              <a:lnSpc>
                <a:spcPct val="110000"/>
              </a:lnSpc>
              <a:spcBef>
                <a:spcPts val="0"/>
              </a:spcBef>
              <a:buNone/>
            </a:pPr>
            <a:endParaRPr lang="en-US" sz="1700" b="0" strike="noStrike" spc="-1" dirty="0">
              <a:latin typeface="Arial"/>
            </a:endParaRPr>
          </a:p>
          <a:p>
            <a:pPr>
              <a:lnSpc>
                <a:spcPct val="110000"/>
              </a:lnSpc>
              <a:spcBef>
                <a:spcPts val="0"/>
              </a:spcBef>
              <a:buNone/>
            </a:pPr>
            <a:r>
              <a:rPr lang="en-US" sz="1500" b="1" strike="noStrike" spc="-1" dirty="0">
                <a:solidFill>
                  <a:srgbClr val="000000"/>
                </a:solidFill>
                <a:latin typeface="Arial"/>
                <a:ea typeface="Noto Sans CJK SC"/>
              </a:rPr>
              <a:t>Nathaniel Cooper, </a:t>
            </a:r>
            <a:r>
              <a:rPr lang="en-US" sz="1500" b="0" strike="noStrike" spc="-1" dirty="0">
                <a:solidFill>
                  <a:srgbClr val="000000"/>
                </a:solidFill>
                <a:latin typeface="Arial"/>
                <a:ea typeface="Noto Sans CJK SC"/>
              </a:rPr>
              <a:t>Ali Mahboub Rad, </a:t>
            </a:r>
            <a:r>
              <a:rPr lang="en-US" sz="1500" b="0" strike="noStrike" spc="-1" dirty="0" err="1">
                <a:solidFill>
                  <a:srgbClr val="000000"/>
                </a:solidFill>
                <a:latin typeface="Arial"/>
                <a:ea typeface="Noto Sans CJK SC"/>
              </a:rPr>
              <a:t>Korebami</a:t>
            </a:r>
            <a:r>
              <a:rPr lang="en-US" sz="1500" b="0" strike="noStrike" spc="-1" dirty="0">
                <a:solidFill>
                  <a:srgbClr val="000000"/>
                </a:solidFill>
                <a:latin typeface="Arial"/>
                <a:ea typeface="Noto Sans CJK SC"/>
              </a:rPr>
              <a:t> Adebajo, Austin R. J. Downey, and Jie Zhang.  Impact of high-power transients and load</a:t>
            </a:r>
          </a:p>
          <a:p>
            <a:pPr>
              <a:lnSpc>
                <a:spcPct val="110000"/>
              </a:lnSpc>
              <a:spcBef>
                <a:spcPts val="0"/>
              </a:spcBef>
              <a:buNone/>
            </a:pPr>
            <a:r>
              <a:rPr lang="en-US" sz="1500" b="0" strike="noStrike" spc="-1" dirty="0">
                <a:solidFill>
                  <a:srgbClr val="000000"/>
                </a:solidFill>
                <a:latin typeface="Arial"/>
                <a:ea typeface="Noto Sans CJK SC"/>
              </a:rPr>
              <a:t>fluctuations on lithium-ion battery degradation in hydrogen fuel cell-battery hybrid regional utility aircraft.</a:t>
            </a:r>
            <a:endParaRPr lang="en-US" sz="1500" b="0" strike="noStrike" spc="-1" dirty="0">
              <a:latin typeface="Arial"/>
            </a:endParaRPr>
          </a:p>
          <a:p>
            <a:pPr marL="228600" indent="-228600">
              <a:lnSpc>
                <a:spcPct val="110000"/>
              </a:lnSpc>
              <a:spcBef>
                <a:spcPts val="0"/>
              </a:spcBef>
              <a:buClr>
                <a:srgbClr val="000000"/>
              </a:buClr>
              <a:buFont typeface="Arial"/>
              <a:buChar char="•"/>
            </a:pPr>
            <a:r>
              <a:rPr lang="en-US" sz="1500" b="0" strike="noStrike" spc="-1" dirty="0">
                <a:solidFill>
                  <a:srgbClr val="000000"/>
                </a:solidFill>
                <a:latin typeface="Arial"/>
                <a:ea typeface="Noto Sans CJK SC"/>
              </a:rPr>
              <a:t>Currently under development; adaptation and extension of 2025 IMECE paper</a:t>
            </a:r>
            <a:endParaRPr lang="en-US" sz="1500" b="0" strike="noStrike" spc="-1" dirty="0">
              <a:latin typeface="Arial"/>
            </a:endParaRPr>
          </a:p>
          <a:p>
            <a:pPr marL="228600" indent="-228600">
              <a:lnSpc>
                <a:spcPct val="110000"/>
              </a:lnSpc>
              <a:spcBef>
                <a:spcPts val="0"/>
              </a:spcBef>
              <a:buClr>
                <a:srgbClr val="000000"/>
              </a:buClr>
              <a:buFont typeface="Arial"/>
              <a:buChar char="•"/>
            </a:pPr>
            <a:r>
              <a:rPr lang="en-US" sz="1500" b="0" strike="noStrike" spc="-1" dirty="0">
                <a:solidFill>
                  <a:srgbClr val="000000"/>
                </a:solidFill>
                <a:latin typeface="Arial"/>
                <a:ea typeface="Noto Sans CJK SC"/>
              </a:rPr>
              <a:t>Adds thermal loop for temperature control of components, implementation of liquid H</a:t>
            </a:r>
            <a:r>
              <a:rPr lang="en-US" sz="1500" b="0" strike="noStrike" spc="-1" baseline="-8000" dirty="0">
                <a:solidFill>
                  <a:srgbClr val="000000"/>
                </a:solidFill>
                <a:latin typeface="Arial"/>
                <a:ea typeface="Noto Sans CJK SC"/>
              </a:rPr>
              <a:t>2</a:t>
            </a:r>
            <a:r>
              <a:rPr lang="en-US" sz="1500" b="0" strike="noStrike" spc="-1" dirty="0">
                <a:solidFill>
                  <a:srgbClr val="000000"/>
                </a:solidFill>
                <a:latin typeface="Arial"/>
                <a:ea typeface="Noto Sans CJK SC"/>
              </a:rPr>
              <a:t> storage and supply, and expanded results</a:t>
            </a:r>
            <a:endParaRPr lang="en-US" sz="1500" b="0" strike="noStrike" spc="-1" dirty="0">
              <a:latin typeface="Arial"/>
            </a:endParaRPr>
          </a:p>
          <a:p>
            <a:pPr>
              <a:lnSpc>
                <a:spcPct val="110000"/>
              </a:lnSpc>
              <a:spcBef>
                <a:spcPts val="0"/>
              </a:spcBef>
              <a:buNone/>
            </a:pPr>
            <a:endParaRPr lang="en-US" sz="1500" b="0" strike="noStrike" spc="-1" dirty="0">
              <a:latin typeface="Arial"/>
            </a:endParaRPr>
          </a:p>
          <a:p>
            <a:pPr>
              <a:lnSpc>
                <a:spcPct val="110000"/>
              </a:lnSpc>
              <a:spcBef>
                <a:spcPts val="0"/>
              </a:spcBef>
              <a:buNone/>
            </a:pPr>
            <a:r>
              <a:rPr lang="en-US" sz="1500" b="0" strike="noStrike" spc="-1" dirty="0">
                <a:solidFill>
                  <a:srgbClr val="000000"/>
                </a:solidFill>
                <a:latin typeface="Arial"/>
                <a:ea typeface="Noto Sans CJK SC"/>
              </a:rPr>
              <a:t>Harshal D. Kaushik, Ali Mahboub Rad, </a:t>
            </a:r>
            <a:r>
              <a:rPr lang="en-US" sz="1500" b="1" strike="noStrike" spc="-1" dirty="0">
                <a:solidFill>
                  <a:srgbClr val="000000"/>
                </a:solidFill>
                <a:latin typeface="Arial"/>
                <a:ea typeface="Noto Sans CJK SC"/>
              </a:rPr>
              <a:t>Nathaniel Cooper</a:t>
            </a:r>
            <a:r>
              <a:rPr lang="en-US" sz="1500" b="0" strike="noStrike" spc="-1" dirty="0">
                <a:solidFill>
                  <a:srgbClr val="000000"/>
                </a:solidFill>
                <a:latin typeface="Arial"/>
                <a:ea typeface="Noto Sans CJK SC"/>
              </a:rPr>
              <a:t>, </a:t>
            </a:r>
            <a:r>
              <a:rPr lang="en-US" sz="1500" b="0" strike="noStrike" spc="-1" dirty="0" err="1">
                <a:solidFill>
                  <a:srgbClr val="000000"/>
                </a:solidFill>
                <a:latin typeface="Arial"/>
                <a:ea typeface="Noto Sans CJK SC"/>
              </a:rPr>
              <a:t>Korebami</a:t>
            </a:r>
            <a:r>
              <a:rPr lang="en-US" sz="1500" b="0" strike="noStrike" spc="-1" dirty="0">
                <a:solidFill>
                  <a:srgbClr val="000000"/>
                </a:solidFill>
                <a:latin typeface="Arial"/>
                <a:ea typeface="Noto Sans CJK SC"/>
              </a:rPr>
              <a:t> Adebajo, Austin R. J. Downey, and Jie Zhang.  Stochastic sizing and</a:t>
            </a:r>
          </a:p>
          <a:p>
            <a:pPr>
              <a:lnSpc>
                <a:spcPct val="110000"/>
              </a:lnSpc>
              <a:spcBef>
                <a:spcPts val="0"/>
              </a:spcBef>
              <a:buNone/>
            </a:pPr>
            <a:r>
              <a:rPr lang="en-US" sz="1500" b="0" strike="noStrike" spc="-1" dirty="0">
                <a:solidFill>
                  <a:srgbClr val="000000"/>
                </a:solidFill>
                <a:latin typeface="Arial"/>
                <a:ea typeface="Noto Sans CJK SC"/>
              </a:rPr>
              <a:t>balance-of-plant design of hybrid hydrogen fuel cell powertrains with lithium-ion and aluminum-air Batteries for Cessna 208.</a:t>
            </a:r>
            <a:endParaRPr lang="en-US" sz="1500" b="0" strike="noStrike" spc="-1" dirty="0">
              <a:latin typeface="Arial"/>
            </a:endParaRPr>
          </a:p>
          <a:p>
            <a:pPr marL="228600" indent="-228600">
              <a:lnSpc>
                <a:spcPct val="110000"/>
              </a:lnSpc>
              <a:spcBef>
                <a:spcPts val="0"/>
              </a:spcBef>
              <a:buClr>
                <a:srgbClr val="000000"/>
              </a:buClr>
              <a:buFont typeface="Arial"/>
              <a:buChar char="•"/>
            </a:pPr>
            <a:r>
              <a:rPr lang="en-US" sz="1500" b="0" strike="noStrike" spc="-1" dirty="0">
                <a:solidFill>
                  <a:srgbClr val="000000"/>
                </a:solidFill>
                <a:latin typeface="Arial"/>
                <a:ea typeface="Noto Sans CJK SC"/>
              </a:rPr>
              <a:t>Currently under review; adaptation and extension of 2025 IDETC paper</a:t>
            </a:r>
            <a:endParaRPr lang="en-US" sz="1500" b="0" strike="noStrike" spc="-1" dirty="0">
              <a:latin typeface="Arial"/>
            </a:endParaRPr>
          </a:p>
          <a:p>
            <a:pPr marL="228600" indent="-228600">
              <a:lnSpc>
                <a:spcPct val="110000"/>
              </a:lnSpc>
              <a:spcBef>
                <a:spcPts val="0"/>
              </a:spcBef>
              <a:buClr>
                <a:srgbClr val="000000"/>
              </a:buClr>
              <a:buFont typeface="Arial"/>
              <a:buChar char="•"/>
            </a:pPr>
            <a:r>
              <a:rPr lang="en-US" sz="1500" b="0" strike="noStrike" spc="-1" dirty="0">
                <a:solidFill>
                  <a:srgbClr val="000000"/>
                </a:solidFill>
                <a:latin typeface="Arial"/>
                <a:ea typeface="Noto Sans CJK SC"/>
              </a:rPr>
              <a:t>Multi-physics modeling, aircraft layout, and balance-of-plant conceptual design</a:t>
            </a:r>
            <a:endParaRPr lang="en-US" sz="1500" b="0" strike="noStrike" spc="-1" dirty="0">
              <a:latin typeface="Arial"/>
            </a:endParaRPr>
          </a:p>
          <a:p>
            <a:pPr>
              <a:lnSpc>
                <a:spcPct val="110000"/>
              </a:lnSpc>
              <a:spcBef>
                <a:spcPts val="0"/>
              </a:spcBef>
              <a:buNone/>
            </a:pPr>
            <a:endParaRPr lang="en-US" sz="1500" b="0" strike="noStrike" spc="-1" dirty="0">
              <a:latin typeface="Arial"/>
            </a:endParaRPr>
          </a:p>
          <a:p>
            <a:pPr>
              <a:lnSpc>
                <a:spcPct val="110000"/>
              </a:lnSpc>
              <a:spcBef>
                <a:spcPts val="0"/>
              </a:spcBef>
              <a:buNone/>
            </a:pPr>
            <a:r>
              <a:rPr lang="en-US" sz="1500" b="0" strike="noStrike" spc="-1" dirty="0" err="1">
                <a:solidFill>
                  <a:srgbClr val="000000"/>
                </a:solidFill>
                <a:latin typeface="Arial"/>
                <a:ea typeface="Noto Sans CJK SC"/>
              </a:rPr>
              <a:t>Korebami</a:t>
            </a:r>
            <a:r>
              <a:rPr lang="en-US" sz="1500" b="0" strike="noStrike" spc="-1" dirty="0">
                <a:solidFill>
                  <a:srgbClr val="000000"/>
                </a:solidFill>
                <a:latin typeface="Arial"/>
                <a:ea typeface="Noto Sans CJK SC"/>
              </a:rPr>
              <a:t> O., Adebajo, Austin R.J. Downey, Jie Zhang, </a:t>
            </a:r>
            <a:r>
              <a:rPr lang="en-US" sz="1500" b="1" strike="noStrike" spc="-1" dirty="0">
                <a:solidFill>
                  <a:srgbClr val="000000"/>
                </a:solidFill>
                <a:latin typeface="Arial"/>
                <a:ea typeface="Noto Sans CJK SC"/>
              </a:rPr>
              <a:t>Nathaniel Cooper</a:t>
            </a:r>
            <a:r>
              <a:rPr lang="en-US" sz="1500" b="0" strike="noStrike" spc="-1" dirty="0">
                <a:solidFill>
                  <a:srgbClr val="000000"/>
                </a:solidFill>
                <a:latin typeface="Arial"/>
                <a:ea typeface="Noto Sans CJK SC"/>
              </a:rPr>
              <a:t>, Malichi Flemming, Kaydon Stanzione, and Carrie Queenan.</a:t>
            </a:r>
          </a:p>
          <a:p>
            <a:pPr>
              <a:lnSpc>
                <a:spcPct val="110000"/>
              </a:lnSpc>
              <a:spcBef>
                <a:spcPts val="0"/>
              </a:spcBef>
              <a:buNone/>
            </a:pPr>
            <a:r>
              <a:rPr lang="en-US" sz="1500" b="0" strike="noStrike" spc="-1" dirty="0">
                <a:solidFill>
                  <a:srgbClr val="000000"/>
                </a:solidFill>
                <a:latin typeface="Arial"/>
                <a:ea typeface="Noto Sans CJK SC"/>
              </a:rPr>
              <a:t>Battery degradation and replacement cost impacts on profitability in electric light utility aircraft using a </a:t>
            </a:r>
            <a:r>
              <a:rPr lang="en-US" sz="1500" b="0" strike="noStrike" spc="-1" dirty="0" err="1">
                <a:solidFill>
                  <a:srgbClr val="000000"/>
                </a:solidFill>
                <a:latin typeface="Arial"/>
                <a:ea typeface="Noto Sans CJK SC"/>
              </a:rPr>
              <a:t>multiphysics</a:t>
            </a:r>
            <a:r>
              <a:rPr lang="en-US" sz="1500" b="0" strike="noStrike" spc="-1" dirty="0">
                <a:solidFill>
                  <a:srgbClr val="000000"/>
                </a:solidFill>
                <a:latin typeface="Arial"/>
                <a:ea typeface="Noto Sans CJK SC"/>
              </a:rPr>
              <a:t> modeling approach.</a:t>
            </a:r>
            <a:endParaRPr lang="en-US" sz="1500" b="0" strike="noStrike" spc="-1" dirty="0">
              <a:latin typeface="Arial"/>
            </a:endParaRPr>
          </a:p>
          <a:p>
            <a:pPr marL="228600" indent="-228600">
              <a:lnSpc>
                <a:spcPct val="110000"/>
              </a:lnSpc>
              <a:spcBef>
                <a:spcPts val="0"/>
              </a:spcBef>
              <a:buClr>
                <a:srgbClr val="000000"/>
              </a:buClr>
              <a:buFont typeface="Arial"/>
              <a:buChar char="•"/>
            </a:pPr>
            <a:r>
              <a:rPr lang="en-US" sz="1500" b="0" strike="noStrike" spc="-1" dirty="0">
                <a:solidFill>
                  <a:srgbClr val="000000"/>
                </a:solidFill>
                <a:latin typeface="Arial"/>
                <a:ea typeface="Noto Sans CJK SC"/>
              </a:rPr>
              <a:t>Currently under review</a:t>
            </a:r>
            <a:endParaRPr lang="en-US" sz="1500" b="0" strike="noStrike" spc="-1" dirty="0">
              <a:latin typeface="Arial"/>
            </a:endParaRPr>
          </a:p>
          <a:p>
            <a:pPr marL="228600" indent="-228600">
              <a:lnSpc>
                <a:spcPct val="110000"/>
              </a:lnSpc>
              <a:spcBef>
                <a:spcPts val="0"/>
              </a:spcBef>
              <a:buClr>
                <a:srgbClr val="000000"/>
              </a:buClr>
              <a:buFont typeface="Arial"/>
              <a:buChar char="•"/>
            </a:pPr>
            <a:r>
              <a:rPr lang="en-US" sz="1500" b="0" strike="noStrike" spc="-1" dirty="0">
                <a:solidFill>
                  <a:srgbClr val="000000"/>
                </a:solidFill>
                <a:latin typeface="Arial"/>
                <a:ea typeface="Noto Sans CJK SC"/>
              </a:rPr>
              <a:t>Aircraft layout, balance-of-plant development</a:t>
            </a:r>
            <a:endParaRPr lang="en-US" sz="1500" b="0" strike="noStrike" spc="-1" dirty="0">
              <a:latin typeface="Arial"/>
            </a:endParaRPr>
          </a:p>
          <a:p>
            <a:pPr>
              <a:lnSpc>
                <a:spcPct val="110000"/>
              </a:lnSpc>
              <a:spcBef>
                <a:spcPts val="0"/>
              </a:spcBef>
              <a:buNone/>
            </a:pPr>
            <a:endParaRPr lang="en-US" sz="1600" b="0" strike="noStrike" spc="-1" dirty="0">
              <a:latin typeface="Arial"/>
            </a:endParaRPr>
          </a:p>
          <a:p>
            <a:pPr>
              <a:lnSpc>
                <a:spcPct val="110000"/>
              </a:lnSpc>
              <a:spcBef>
                <a:spcPts val="0"/>
              </a:spcBef>
              <a:buNone/>
            </a:pPr>
            <a:endParaRPr lang="en-US" sz="1600" b="0" strike="noStrike" spc="-1" dirty="0">
              <a:latin typeface="Arial"/>
            </a:endParaRPr>
          </a:p>
          <a:p>
            <a:pPr>
              <a:lnSpc>
                <a:spcPct val="110000"/>
              </a:lnSpc>
              <a:spcBef>
                <a:spcPts val="0"/>
              </a:spcBef>
              <a:buNone/>
            </a:pPr>
            <a:endParaRPr lang="en-US" sz="1600" b="0" strike="noStrike" spc="-1" dirty="0">
              <a:latin typeface="Arial"/>
            </a:endParaRPr>
          </a:p>
        </p:txBody>
      </p:sp>
      <p:sp>
        <p:nvSpPr>
          <p:cNvPr id="4" name="PlaceHolder 3"/>
          <p:cNvSpPr>
            <a:spLocks noGrp="1"/>
          </p:cNvSpPr>
          <p:nvPr>
            <p:ph type="sldNum" idx="3"/>
          </p:nvPr>
        </p:nvSpPr>
        <p:spPr/>
        <p:txBody>
          <a:bodyPr/>
          <a:lstStyle/>
          <a:p>
            <a:fld id="{374017EE-3A30-4CBD-A47C-0428B319A2C6}" type="slidenum">
              <a:rP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PlaceHolder 1"/>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a:solidFill>
                  <a:srgbClr val="000000"/>
                </a:solidFill>
                <a:latin typeface="Arial Black"/>
              </a:rPr>
              <a:t>Relevant Publications</a:t>
            </a:r>
            <a:endParaRPr lang="en-US" sz="3600" b="0" strike="noStrike" spc="-1">
              <a:latin typeface="Arial"/>
            </a:endParaRPr>
          </a:p>
        </p:txBody>
      </p:sp>
      <p:sp>
        <p:nvSpPr>
          <p:cNvPr id="255" name="PlaceHolder 2"/>
          <p:cNvSpPr>
            <a:spLocks noGrp="1"/>
          </p:cNvSpPr>
          <p:nvPr>
            <p:ph/>
          </p:nvPr>
        </p:nvSpPr>
        <p:spPr>
          <a:xfrm>
            <a:off x="838080" y="1306814"/>
            <a:ext cx="11048760" cy="4697626"/>
          </a:xfrm>
          <a:prstGeom prst="rect">
            <a:avLst/>
          </a:prstGeom>
          <a:noFill/>
          <a:ln w="0">
            <a:noFill/>
          </a:ln>
        </p:spPr>
        <p:txBody>
          <a:bodyPr lIns="90000" tIns="45000" rIns="90000" bIns="45000" anchor="t">
            <a:noAutofit/>
          </a:bodyPr>
          <a:lstStyle/>
          <a:p>
            <a:pPr>
              <a:lnSpc>
                <a:spcPct val="100000"/>
              </a:lnSpc>
              <a:spcBef>
                <a:spcPts val="0"/>
              </a:spcBef>
              <a:buNone/>
            </a:pPr>
            <a:r>
              <a:rPr lang="en-US" sz="1600" b="1" strike="noStrike" spc="-1" dirty="0">
                <a:solidFill>
                  <a:srgbClr val="000000"/>
                </a:solidFill>
                <a:latin typeface="Arial"/>
                <a:ea typeface="Noto Sans CJK SC"/>
              </a:rPr>
              <a:t>PEER-REVIEWED CONFERENCE PAPERS:</a:t>
            </a:r>
          </a:p>
          <a:p>
            <a:pPr>
              <a:lnSpc>
                <a:spcPct val="100000"/>
              </a:lnSpc>
              <a:spcBef>
                <a:spcPts val="0"/>
              </a:spcBef>
              <a:buNone/>
            </a:pPr>
            <a:endParaRPr lang="en-US" sz="1600" b="0" strike="noStrike" spc="-1" dirty="0">
              <a:latin typeface="Arial"/>
            </a:endParaRPr>
          </a:p>
          <a:p>
            <a:pPr>
              <a:lnSpc>
                <a:spcPct val="100000"/>
              </a:lnSpc>
              <a:spcBef>
                <a:spcPts val="0"/>
              </a:spcBef>
              <a:buNone/>
            </a:pPr>
            <a:r>
              <a:rPr lang="en-US" sz="1400" b="1" strike="noStrike" spc="-1" dirty="0">
                <a:solidFill>
                  <a:srgbClr val="000000"/>
                </a:solidFill>
                <a:latin typeface="Arial"/>
                <a:ea typeface="Noto Sans CJK SC"/>
              </a:rPr>
              <a:t>Nathaniel Cooper</a:t>
            </a:r>
            <a:r>
              <a:rPr lang="en-US" sz="1400" b="0" strike="noStrike" spc="-1" dirty="0">
                <a:solidFill>
                  <a:srgbClr val="000000"/>
                </a:solidFill>
                <a:latin typeface="Arial"/>
                <a:ea typeface="Noto Sans CJK SC"/>
              </a:rPr>
              <a:t>, Ali Mahboub Rad, </a:t>
            </a:r>
            <a:r>
              <a:rPr lang="en-US" sz="1400" b="0" strike="noStrike" spc="-1" dirty="0" err="1">
                <a:solidFill>
                  <a:srgbClr val="000000"/>
                </a:solidFill>
                <a:latin typeface="Arial"/>
                <a:ea typeface="Noto Sans CJK SC"/>
              </a:rPr>
              <a:t>Korebami</a:t>
            </a:r>
            <a:r>
              <a:rPr lang="en-US" sz="1400" b="0" strike="noStrike" spc="-1" dirty="0">
                <a:solidFill>
                  <a:srgbClr val="000000"/>
                </a:solidFill>
                <a:latin typeface="Arial"/>
                <a:ea typeface="Noto Sans CJK SC"/>
              </a:rPr>
              <a:t> Adebajo, Austin R. J. Downey, and Jie Zhang. Physics-based prediction of remaining</a:t>
            </a:r>
          </a:p>
          <a:p>
            <a:pPr>
              <a:lnSpc>
                <a:spcPct val="100000"/>
              </a:lnSpc>
              <a:spcBef>
                <a:spcPts val="0"/>
              </a:spcBef>
              <a:buNone/>
            </a:pPr>
            <a:r>
              <a:rPr lang="en-US" sz="1400" b="0" strike="noStrike" spc="-1" dirty="0">
                <a:solidFill>
                  <a:srgbClr val="000000"/>
                </a:solidFill>
                <a:latin typeface="Arial"/>
                <a:ea typeface="Noto Sans CJK SC"/>
              </a:rPr>
              <a:t>useful life of lithium-ion batteries in fuel cell-battery hybrid aircraft using an open-source </a:t>
            </a:r>
            <a:r>
              <a:rPr lang="en-US" sz="1400" b="0" strike="noStrike" spc="-1" dirty="0" err="1">
                <a:solidFill>
                  <a:srgbClr val="000000"/>
                </a:solidFill>
                <a:latin typeface="Arial"/>
                <a:ea typeface="Noto Sans CJK SC"/>
              </a:rPr>
              <a:t>Modelica</a:t>
            </a:r>
            <a:r>
              <a:rPr lang="en-US" sz="1400" b="0" strike="noStrike" spc="-1" dirty="0">
                <a:solidFill>
                  <a:srgbClr val="000000"/>
                </a:solidFill>
                <a:latin typeface="Arial"/>
                <a:ea typeface="Noto Sans CJK SC"/>
              </a:rPr>
              <a:t> framework. In Volume 9: Micro- and</a:t>
            </a:r>
          </a:p>
          <a:p>
            <a:pPr>
              <a:lnSpc>
                <a:spcPct val="100000"/>
              </a:lnSpc>
              <a:spcBef>
                <a:spcPts val="0"/>
              </a:spcBef>
              <a:buNone/>
            </a:pPr>
            <a:r>
              <a:rPr lang="en-US" sz="1400" b="0" strike="noStrike" spc="-1" dirty="0">
                <a:solidFill>
                  <a:srgbClr val="000000"/>
                </a:solidFill>
                <a:latin typeface="Arial"/>
                <a:ea typeface="Noto Sans CJK SC"/>
              </a:rPr>
              <a:t>Nano-Systems Engineering and Packaging; Safety Engineering, Risk and Reliability Analysis; Special Symposium on Additive</a:t>
            </a:r>
          </a:p>
          <a:p>
            <a:pPr>
              <a:lnSpc>
                <a:spcPct val="100000"/>
              </a:lnSpc>
              <a:spcBef>
                <a:spcPts val="0"/>
              </a:spcBef>
              <a:buNone/>
            </a:pPr>
            <a:r>
              <a:rPr lang="en-US" sz="1400" b="0" strike="noStrike" spc="-1" dirty="0">
                <a:solidFill>
                  <a:srgbClr val="000000"/>
                </a:solidFill>
                <a:latin typeface="Arial"/>
                <a:ea typeface="Noto Sans CJK SC"/>
              </a:rPr>
              <a:t>Manufacturing on Benchmark Test Series; Special Symposium on Power; Research Posters, IMECE2025. American Society of Mechanical</a:t>
            </a:r>
          </a:p>
          <a:p>
            <a:pPr>
              <a:lnSpc>
                <a:spcPct val="100000"/>
              </a:lnSpc>
              <a:spcBef>
                <a:spcPts val="0"/>
              </a:spcBef>
              <a:buNone/>
            </a:pPr>
            <a:r>
              <a:rPr lang="en-US" sz="1400" b="0" strike="noStrike" spc="-1" dirty="0">
                <a:solidFill>
                  <a:srgbClr val="000000"/>
                </a:solidFill>
                <a:latin typeface="Arial"/>
                <a:ea typeface="Noto Sans CJK SC"/>
              </a:rPr>
              <a:t>Engineers, November 2025. doi:10.1115/imece2025-168114</a:t>
            </a:r>
            <a:endParaRPr lang="en-US" sz="1400" b="0" strike="noStrike" spc="-1" dirty="0">
              <a:latin typeface="Arial"/>
            </a:endParaRPr>
          </a:p>
          <a:p>
            <a:pPr marL="228600" indent="-228600">
              <a:lnSpc>
                <a:spcPct val="100000"/>
              </a:lnSpc>
              <a:spcBef>
                <a:spcPts val="0"/>
              </a:spcBef>
              <a:buClr>
                <a:srgbClr val="000000"/>
              </a:buClr>
              <a:buFont typeface="Arial"/>
              <a:buChar char="•"/>
            </a:pPr>
            <a:r>
              <a:rPr lang="en-US" sz="1400" b="0" strike="noStrike" spc="-1" dirty="0">
                <a:solidFill>
                  <a:srgbClr val="000000"/>
                </a:solidFill>
                <a:latin typeface="Arial"/>
                <a:ea typeface="Noto Sans CJK SC"/>
              </a:rPr>
              <a:t>Programming of battery and fuel cell models, parameterization of battery stacks from experimental data, programming of gaseous H</a:t>
            </a:r>
            <a:r>
              <a:rPr lang="en-US" sz="1400" b="0" strike="noStrike" spc="-1" baseline="-8000" dirty="0">
                <a:solidFill>
                  <a:srgbClr val="000000"/>
                </a:solidFill>
                <a:latin typeface="Arial"/>
                <a:ea typeface="Noto Sans CJK SC"/>
              </a:rPr>
              <a:t>2</a:t>
            </a:r>
            <a:r>
              <a:rPr lang="en-US" sz="1400" b="0" strike="noStrike" spc="-1" dirty="0">
                <a:solidFill>
                  <a:srgbClr val="000000"/>
                </a:solidFill>
                <a:latin typeface="Arial"/>
                <a:ea typeface="Noto Sans CJK SC"/>
              </a:rPr>
              <a:t> storage and supply, partial development of flight profile and load sharing/controller, simulation and post-processing</a:t>
            </a:r>
            <a:endParaRPr lang="en-US" sz="1400" b="0" strike="noStrike" spc="-1" dirty="0">
              <a:latin typeface="Arial"/>
            </a:endParaRPr>
          </a:p>
          <a:p>
            <a:pPr>
              <a:lnSpc>
                <a:spcPct val="100000"/>
              </a:lnSpc>
              <a:spcBef>
                <a:spcPts val="0"/>
              </a:spcBef>
              <a:buNone/>
            </a:pPr>
            <a:endParaRPr lang="en-US" sz="1400" b="0" strike="noStrike" spc="-1" dirty="0">
              <a:latin typeface="Arial"/>
            </a:endParaRPr>
          </a:p>
          <a:p>
            <a:pPr>
              <a:lnSpc>
                <a:spcPct val="100000"/>
              </a:lnSpc>
              <a:spcBef>
                <a:spcPts val="0"/>
              </a:spcBef>
              <a:buNone/>
            </a:pPr>
            <a:r>
              <a:rPr lang="en-US" sz="1400" b="0" strike="noStrike" spc="-1" dirty="0">
                <a:solidFill>
                  <a:srgbClr val="000000"/>
                </a:solidFill>
                <a:latin typeface="Arial"/>
                <a:ea typeface="Noto Sans CJK SC"/>
              </a:rPr>
              <a:t>Harshal Kaushik, Ali Mahboub Rad, </a:t>
            </a:r>
            <a:r>
              <a:rPr lang="en-US" sz="1400" b="0" strike="noStrike" spc="-1" dirty="0" err="1">
                <a:solidFill>
                  <a:srgbClr val="000000"/>
                </a:solidFill>
                <a:latin typeface="Arial"/>
                <a:ea typeface="Noto Sans CJK SC"/>
              </a:rPr>
              <a:t>Korebami</a:t>
            </a:r>
            <a:r>
              <a:rPr lang="en-US" sz="1400" b="0" strike="noStrike" spc="-1" dirty="0">
                <a:solidFill>
                  <a:srgbClr val="000000"/>
                </a:solidFill>
                <a:latin typeface="Arial"/>
                <a:ea typeface="Noto Sans CJK SC"/>
              </a:rPr>
              <a:t> Adebajo, Sobhan Badakhshan, </a:t>
            </a:r>
            <a:r>
              <a:rPr lang="en-US" sz="1400" b="1" strike="noStrike" spc="-1" dirty="0">
                <a:solidFill>
                  <a:srgbClr val="000000"/>
                </a:solidFill>
                <a:latin typeface="Arial"/>
                <a:ea typeface="Noto Sans CJK SC"/>
              </a:rPr>
              <a:t>Nathaniel Cooper</a:t>
            </a:r>
            <a:r>
              <a:rPr lang="en-US" sz="1400" b="0" strike="noStrike" spc="-1" dirty="0">
                <a:solidFill>
                  <a:srgbClr val="000000"/>
                </a:solidFill>
                <a:latin typeface="Arial"/>
                <a:ea typeface="Noto Sans CJK SC"/>
              </a:rPr>
              <a:t>, Austin Downey, and Jie Zhang. Hybrid</a:t>
            </a:r>
          </a:p>
          <a:p>
            <a:pPr>
              <a:lnSpc>
                <a:spcPct val="100000"/>
              </a:lnSpc>
              <a:spcBef>
                <a:spcPts val="0"/>
              </a:spcBef>
              <a:buNone/>
            </a:pPr>
            <a:r>
              <a:rPr lang="en-US" sz="1400" b="0" strike="noStrike" spc="-1" dirty="0">
                <a:solidFill>
                  <a:srgbClr val="000000"/>
                </a:solidFill>
                <a:latin typeface="Arial"/>
                <a:ea typeface="Noto Sans CJK SC"/>
              </a:rPr>
              <a:t>powertrain optimization for regional aircraft integrating hydrogen fuel cells and aluminum air batteries. In Volume 3A: 51st Design</a:t>
            </a:r>
          </a:p>
          <a:p>
            <a:pPr>
              <a:lnSpc>
                <a:spcPct val="100000"/>
              </a:lnSpc>
              <a:spcBef>
                <a:spcPts val="0"/>
              </a:spcBef>
              <a:buNone/>
            </a:pPr>
            <a:r>
              <a:rPr lang="en-US" sz="1400" b="0" strike="noStrike" spc="-1" dirty="0">
                <a:solidFill>
                  <a:srgbClr val="000000"/>
                </a:solidFill>
                <a:latin typeface="Arial"/>
                <a:ea typeface="Noto Sans CJK SC"/>
              </a:rPr>
              <a:t>Automation Conference (DAC), IDETC-CIE2025. American Society of Mechanical Engineers, August 2025. doi:10.1115/detc2025-168547</a:t>
            </a:r>
            <a:endParaRPr lang="en-US" sz="1400" b="0" strike="noStrike" spc="-1" dirty="0">
              <a:latin typeface="Arial"/>
            </a:endParaRPr>
          </a:p>
          <a:p>
            <a:pPr marL="228600" indent="-228600">
              <a:lnSpc>
                <a:spcPct val="100000"/>
              </a:lnSpc>
              <a:spcBef>
                <a:spcPts val="0"/>
              </a:spcBef>
              <a:buClr>
                <a:srgbClr val="000000"/>
              </a:buClr>
              <a:buFont typeface="Arial"/>
              <a:buChar char="•"/>
            </a:pPr>
            <a:r>
              <a:rPr lang="en-US" sz="1400" b="0" strike="noStrike" spc="-1" dirty="0">
                <a:solidFill>
                  <a:srgbClr val="000000"/>
                </a:solidFill>
                <a:latin typeface="Arial"/>
                <a:ea typeface="Noto Sans CJK SC"/>
              </a:rPr>
              <a:t>Multi-physics modeling, aircraft layout, and balance-of-plant conceptual design</a:t>
            </a:r>
          </a:p>
          <a:p>
            <a:pPr marL="228600" indent="-228600">
              <a:lnSpc>
                <a:spcPct val="100000"/>
              </a:lnSpc>
              <a:spcBef>
                <a:spcPts val="0"/>
              </a:spcBef>
              <a:buClr>
                <a:srgbClr val="000000"/>
              </a:buClr>
              <a:buFont typeface="Arial"/>
              <a:buChar char="•"/>
            </a:pPr>
            <a:endParaRPr lang="en-US" sz="1400" spc="-1" dirty="0">
              <a:solidFill>
                <a:srgbClr val="000000"/>
              </a:solidFill>
              <a:latin typeface="Arial"/>
            </a:endParaRPr>
          </a:p>
          <a:p>
            <a:pPr>
              <a:lnSpc>
                <a:spcPct val="100000"/>
              </a:lnSpc>
              <a:spcBef>
                <a:spcPts val="0"/>
              </a:spcBef>
              <a:buNone/>
            </a:pPr>
            <a:r>
              <a:rPr lang="en-US" sz="1400" b="1" spc="-1" dirty="0">
                <a:solidFill>
                  <a:srgbClr val="000000"/>
                </a:solidFill>
                <a:ea typeface="Noto Sans CJK SC"/>
              </a:rPr>
              <a:t>Nathaniel Cooper</a:t>
            </a:r>
            <a:r>
              <a:rPr lang="en-US" sz="1400" spc="-1" dirty="0">
                <a:solidFill>
                  <a:srgbClr val="000000"/>
                </a:solidFill>
                <a:ea typeface="Noto Sans CJK SC"/>
              </a:rPr>
              <a:t>, George Anthony, Jarett Peskar, Austin R Downey, and Kristen Booth. Data assimilation in a </a:t>
            </a:r>
            <a:r>
              <a:rPr lang="en-US" sz="1400" spc="-1" dirty="0" err="1">
                <a:solidFill>
                  <a:srgbClr val="000000"/>
                </a:solidFill>
                <a:ea typeface="Noto Sans CJK SC"/>
              </a:rPr>
              <a:t>Modelica</a:t>
            </a:r>
            <a:r>
              <a:rPr lang="en-US" sz="1400" spc="-1" dirty="0">
                <a:solidFill>
                  <a:srgbClr val="000000"/>
                </a:solidFill>
                <a:ea typeface="Noto Sans CJK SC"/>
              </a:rPr>
              <a:t> framework for</a:t>
            </a:r>
          </a:p>
          <a:p>
            <a:pPr>
              <a:lnSpc>
                <a:spcPct val="100000"/>
              </a:lnSpc>
              <a:spcBef>
                <a:spcPts val="0"/>
              </a:spcBef>
              <a:buNone/>
            </a:pPr>
            <a:r>
              <a:rPr lang="en-US" sz="1400" spc="-1" dirty="0">
                <a:solidFill>
                  <a:srgbClr val="000000"/>
                </a:solidFill>
                <a:ea typeface="Noto Sans CJK SC"/>
              </a:rPr>
              <a:t>optimizing battery longevity in electric aircraft. In AIAA SCITECH 2025 Forum, page 2706, 2025. doi:10.2514/6.2025-2706</a:t>
            </a:r>
            <a:endParaRPr lang="en-US" sz="1400" spc="-1" dirty="0"/>
          </a:p>
          <a:p>
            <a:pPr>
              <a:lnSpc>
                <a:spcPct val="100000"/>
              </a:lnSpc>
              <a:spcBef>
                <a:spcPts val="0"/>
              </a:spcBef>
              <a:buClr>
                <a:srgbClr val="000000"/>
              </a:buClr>
              <a:buFont typeface="Arial"/>
              <a:buChar char="•"/>
            </a:pPr>
            <a:r>
              <a:rPr lang="en-US" sz="1400" spc="-1" dirty="0">
                <a:solidFill>
                  <a:srgbClr val="000000"/>
                </a:solidFill>
                <a:ea typeface="Noto Sans CJK SC"/>
              </a:rPr>
              <a:t>Parameterization of battery stacks, design of generic flight profile, simulation and post-processing</a:t>
            </a:r>
            <a:endParaRPr lang="en-US" sz="1400" spc="-1" dirty="0"/>
          </a:p>
          <a:p>
            <a:pPr>
              <a:lnSpc>
                <a:spcPct val="100000"/>
              </a:lnSpc>
              <a:spcBef>
                <a:spcPts val="0"/>
              </a:spcBef>
              <a:buNone/>
            </a:pPr>
            <a:endParaRPr lang="en-US" sz="1400" spc="-1" dirty="0"/>
          </a:p>
          <a:p>
            <a:pPr>
              <a:lnSpc>
                <a:spcPct val="100000"/>
              </a:lnSpc>
              <a:spcBef>
                <a:spcPts val="0"/>
              </a:spcBef>
              <a:buNone/>
            </a:pPr>
            <a:r>
              <a:rPr lang="en-US" sz="1400" spc="-1" dirty="0">
                <a:solidFill>
                  <a:srgbClr val="000000"/>
                </a:solidFill>
                <a:ea typeface="Noto Sans CJK SC"/>
              </a:rPr>
              <a:t>George Anthony, </a:t>
            </a:r>
            <a:r>
              <a:rPr lang="en-US" sz="1400" b="1" spc="-1" dirty="0">
                <a:solidFill>
                  <a:srgbClr val="000000"/>
                </a:solidFill>
                <a:ea typeface="Noto Sans CJK SC"/>
              </a:rPr>
              <a:t>Nathaniel Cooper</a:t>
            </a:r>
            <a:r>
              <a:rPr lang="en-US" sz="1400" spc="-1" dirty="0">
                <a:solidFill>
                  <a:srgbClr val="000000"/>
                </a:solidFill>
                <a:ea typeface="Noto Sans CJK SC"/>
              </a:rPr>
              <a:t>, Jarrett Peskar, Austin R. Downey, and Kristen Booth. Extending battery life via load sharing in electric</a:t>
            </a:r>
          </a:p>
          <a:p>
            <a:pPr>
              <a:lnSpc>
                <a:spcPct val="100000"/>
              </a:lnSpc>
              <a:spcBef>
                <a:spcPts val="0"/>
              </a:spcBef>
              <a:buNone/>
            </a:pPr>
            <a:r>
              <a:rPr lang="en-US" sz="1400" spc="-1" dirty="0">
                <a:solidFill>
                  <a:srgbClr val="000000"/>
                </a:solidFill>
                <a:ea typeface="Noto Sans CJK SC"/>
              </a:rPr>
              <a:t>aircraft. In </a:t>
            </a:r>
            <a:r>
              <a:rPr lang="en-US" sz="1400" i="1" spc="-1" dirty="0">
                <a:solidFill>
                  <a:srgbClr val="000000"/>
                </a:solidFill>
                <a:ea typeface="Noto Sans CJK SC"/>
              </a:rPr>
              <a:t>AIAA SCITECH 2024 Forum</a:t>
            </a:r>
            <a:r>
              <a:rPr lang="en-US" sz="1400" spc="-1" dirty="0">
                <a:solidFill>
                  <a:srgbClr val="000000"/>
                </a:solidFill>
                <a:ea typeface="Noto Sans CJK SC"/>
              </a:rPr>
              <a:t>. American Institute of Aeronautics and Astronautics, January 2024.</a:t>
            </a:r>
            <a:endParaRPr lang="en-US" sz="1400" spc="-1" dirty="0"/>
          </a:p>
          <a:p>
            <a:pPr>
              <a:lnSpc>
                <a:spcPct val="100000"/>
              </a:lnSpc>
              <a:spcBef>
                <a:spcPts val="0"/>
              </a:spcBef>
              <a:buClr>
                <a:srgbClr val="000000"/>
              </a:buClr>
              <a:buFont typeface="Arial"/>
              <a:buChar char="•"/>
            </a:pPr>
            <a:r>
              <a:rPr lang="en-US" sz="1400" spc="-1" dirty="0">
                <a:solidFill>
                  <a:srgbClr val="000000"/>
                </a:solidFill>
                <a:ea typeface="Noto Sans CJK SC"/>
              </a:rPr>
              <a:t>Parameterization and programming of battery stack models</a:t>
            </a:r>
            <a:endParaRPr lang="en-US" sz="1400" spc="-1" dirty="0"/>
          </a:p>
          <a:p>
            <a:pPr marL="0" indent="0">
              <a:lnSpc>
                <a:spcPct val="100000"/>
              </a:lnSpc>
              <a:spcBef>
                <a:spcPts val="0"/>
              </a:spcBef>
              <a:buClr>
                <a:srgbClr val="000000"/>
              </a:buClr>
              <a:buNone/>
            </a:pPr>
            <a:endParaRPr lang="en-US" sz="1400" b="0" strike="noStrike" spc="-1" dirty="0">
              <a:latin typeface="Arial"/>
            </a:endParaRPr>
          </a:p>
          <a:p>
            <a:pPr>
              <a:lnSpc>
                <a:spcPct val="100000"/>
              </a:lnSpc>
              <a:spcBef>
                <a:spcPts val="0"/>
              </a:spcBef>
              <a:buNone/>
            </a:pPr>
            <a:endParaRPr lang="en-US" sz="1400" b="0" strike="noStrike" spc="-1" dirty="0">
              <a:latin typeface="Arial"/>
            </a:endParaRPr>
          </a:p>
        </p:txBody>
      </p:sp>
      <p:sp>
        <p:nvSpPr>
          <p:cNvPr id="4" name="PlaceHolder 3"/>
          <p:cNvSpPr>
            <a:spLocks noGrp="1"/>
          </p:cNvSpPr>
          <p:nvPr>
            <p:ph type="sldNum" idx="3"/>
          </p:nvPr>
        </p:nvSpPr>
        <p:spPr/>
        <p:txBody>
          <a:bodyPr/>
          <a:lstStyle/>
          <a:p>
            <a:fld id="{C3402065-AEC5-4131-B734-0F24B7926FFF}" type="slidenum">
              <a:rPr/>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PlaceHolder 1"/>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a:solidFill>
                  <a:srgbClr val="000000"/>
                </a:solidFill>
                <a:latin typeface="Arial Black"/>
              </a:rPr>
              <a:t>Other Publications</a:t>
            </a:r>
            <a:endParaRPr lang="en-US" sz="3600" b="0" strike="noStrike" spc="-1">
              <a:latin typeface="Arial"/>
            </a:endParaRPr>
          </a:p>
        </p:txBody>
      </p:sp>
      <p:sp>
        <p:nvSpPr>
          <p:cNvPr id="259" name="PlaceHolder 2"/>
          <p:cNvSpPr>
            <a:spLocks noGrp="1"/>
          </p:cNvSpPr>
          <p:nvPr>
            <p:ph/>
          </p:nvPr>
        </p:nvSpPr>
        <p:spPr>
          <a:xfrm>
            <a:off x="838080" y="1825560"/>
            <a:ext cx="11048760" cy="3990960"/>
          </a:xfrm>
          <a:prstGeom prst="rect">
            <a:avLst/>
          </a:prstGeom>
          <a:noFill/>
          <a:ln w="0">
            <a:noFill/>
          </a:ln>
        </p:spPr>
        <p:txBody>
          <a:bodyPr lIns="90000" tIns="45000" rIns="90000" bIns="45000" anchor="t">
            <a:normAutofit fontScale="96000"/>
          </a:bodyPr>
          <a:lstStyle/>
          <a:p>
            <a:pPr>
              <a:lnSpc>
                <a:spcPct val="100000"/>
              </a:lnSpc>
              <a:spcBef>
                <a:spcPts val="0"/>
              </a:spcBef>
              <a:buNone/>
            </a:pPr>
            <a:r>
              <a:rPr lang="en-US" sz="1700" b="1" strike="noStrike" spc="-1" dirty="0">
                <a:solidFill>
                  <a:srgbClr val="000000"/>
                </a:solidFill>
                <a:latin typeface="Arial"/>
                <a:ea typeface="Noto Sans CJK SC"/>
              </a:rPr>
              <a:t>JOURNAL ARTICLES:</a:t>
            </a:r>
          </a:p>
          <a:p>
            <a:pPr>
              <a:lnSpc>
                <a:spcPct val="100000"/>
              </a:lnSpc>
              <a:spcBef>
                <a:spcPts val="0"/>
              </a:spcBef>
              <a:buNone/>
            </a:pPr>
            <a:endParaRPr lang="en-US" sz="1700" b="0" strike="noStrike" spc="-1" dirty="0">
              <a:latin typeface="Arial"/>
            </a:endParaRPr>
          </a:p>
          <a:p>
            <a:pPr>
              <a:lnSpc>
                <a:spcPct val="100000"/>
              </a:lnSpc>
              <a:spcBef>
                <a:spcPts val="0"/>
              </a:spcBef>
              <a:buNone/>
            </a:pPr>
            <a:r>
              <a:rPr lang="en-US" sz="1600" b="0" strike="noStrike" spc="-1" dirty="0" err="1">
                <a:solidFill>
                  <a:srgbClr val="000000"/>
                </a:solidFill>
                <a:latin typeface="Arial"/>
                <a:ea typeface="Noto Sans CJK SC"/>
              </a:rPr>
              <a:t>Korebami</a:t>
            </a:r>
            <a:r>
              <a:rPr lang="en-US" sz="1600" b="0" strike="noStrike" spc="-1" dirty="0">
                <a:solidFill>
                  <a:srgbClr val="000000"/>
                </a:solidFill>
                <a:latin typeface="Arial"/>
                <a:ea typeface="Noto Sans CJK SC"/>
              </a:rPr>
              <a:t> Adebajo, Ali Mahboub Rad, Nolan Shute, Matthew Whetham, </a:t>
            </a:r>
            <a:r>
              <a:rPr lang="en-US" sz="1600" b="1" strike="noStrike" spc="-1" dirty="0">
                <a:solidFill>
                  <a:srgbClr val="000000"/>
                </a:solidFill>
                <a:latin typeface="Arial"/>
                <a:ea typeface="Noto Sans CJK SC"/>
              </a:rPr>
              <a:t>Nathaniel Cooper</a:t>
            </a:r>
            <a:r>
              <a:rPr lang="en-US" sz="1600" b="0" strike="noStrike" spc="-1" dirty="0">
                <a:solidFill>
                  <a:srgbClr val="000000"/>
                </a:solidFill>
                <a:latin typeface="Arial"/>
                <a:ea typeface="Noto Sans CJK SC"/>
              </a:rPr>
              <a:t>, Andrew Huebner, Austin R. J.</a:t>
            </a:r>
          </a:p>
          <a:p>
            <a:pPr>
              <a:lnSpc>
                <a:spcPct val="100000"/>
              </a:lnSpc>
              <a:spcBef>
                <a:spcPts val="0"/>
              </a:spcBef>
              <a:buNone/>
            </a:pPr>
            <a:r>
              <a:rPr lang="en-US" sz="1600" b="0" strike="noStrike" spc="-1" dirty="0">
                <a:solidFill>
                  <a:srgbClr val="000000"/>
                </a:solidFill>
                <a:latin typeface="Arial"/>
                <a:ea typeface="Noto Sans CJK SC"/>
              </a:rPr>
              <a:t>Downey, and Jie Zhang.  Design and Experimental Validation of a Cyber-Physical SMR emulator for digital twin-based control via</a:t>
            </a:r>
          </a:p>
          <a:p>
            <a:pPr>
              <a:lnSpc>
                <a:spcPct val="100000"/>
              </a:lnSpc>
              <a:spcBef>
                <a:spcPts val="0"/>
              </a:spcBef>
              <a:buNone/>
            </a:pPr>
            <a:r>
              <a:rPr lang="en-US" sz="1600" b="0" strike="noStrike" spc="-1" dirty="0">
                <a:solidFill>
                  <a:srgbClr val="000000"/>
                </a:solidFill>
                <a:latin typeface="Arial"/>
                <a:ea typeface="Noto Sans CJK SC"/>
              </a:rPr>
              <a:t>time-constant synchronization.</a:t>
            </a:r>
            <a:endParaRPr lang="en-US" sz="1600" b="0" strike="noStrike" spc="-1" dirty="0">
              <a:latin typeface="Arial"/>
            </a:endParaRPr>
          </a:p>
          <a:p>
            <a:pPr marL="228600" indent="-228600">
              <a:lnSpc>
                <a:spcPct val="100000"/>
              </a:lnSpc>
              <a:spcBef>
                <a:spcPts val="0"/>
              </a:spcBef>
              <a:buClr>
                <a:srgbClr val="000000"/>
              </a:buClr>
              <a:buFont typeface="Arial"/>
              <a:buChar char="•"/>
            </a:pPr>
            <a:r>
              <a:rPr lang="en-US" sz="1600" b="0" strike="noStrike" spc="-1" dirty="0">
                <a:solidFill>
                  <a:srgbClr val="000000"/>
                </a:solidFill>
                <a:latin typeface="Arial"/>
                <a:ea typeface="Noto Sans CJK SC"/>
              </a:rPr>
              <a:t>Currently under review; adaptation and extension of 2026 IDETC paper</a:t>
            </a:r>
            <a:endParaRPr lang="en-US" sz="1600" b="0" strike="noStrike" spc="-1" dirty="0">
              <a:latin typeface="Arial"/>
            </a:endParaRPr>
          </a:p>
          <a:p>
            <a:pPr marL="228600" indent="-228600">
              <a:lnSpc>
                <a:spcPct val="100000"/>
              </a:lnSpc>
              <a:spcBef>
                <a:spcPts val="0"/>
              </a:spcBef>
              <a:buClr>
                <a:srgbClr val="000000"/>
              </a:buClr>
              <a:buFont typeface="Arial"/>
              <a:buChar char="•"/>
            </a:pPr>
            <a:r>
              <a:rPr lang="en-US" sz="1600" b="0" strike="noStrike" spc="-1" dirty="0">
                <a:solidFill>
                  <a:srgbClr val="000000"/>
                </a:solidFill>
                <a:latin typeface="Arial"/>
                <a:ea typeface="Noto Sans CJK SC"/>
              </a:rPr>
              <a:t>Background knowledge on reactors/SMRs, advice on testbed loop, manuscript review and feedback</a:t>
            </a:r>
            <a:endParaRPr lang="en-US" sz="1600" b="0" strike="noStrike" spc="-1" dirty="0">
              <a:latin typeface="Arial"/>
            </a:endParaRPr>
          </a:p>
          <a:p>
            <a:pPr>
              <a:lnSpc>
                <a:spcPct val="100000"/>
              </a:lnSpc>
              <a:spcBef>
                <a:spcPts val="0"/>
              </a:spcBef>
              <a:buNone/>
            </a:pPr>
            <a:endParaRPr lang="en-US" sz="1600" b="0" strike="noStrike" spc="-1" dirty="0">
              <a:latin typeface="Arial"/>
            </a:endParaRPr>
          </a:p>
          <a:p>
            <a:pPr>
              <a:lnSpc>
                <a:spcPct val="100000"/>
              </a:lnSpc>
              <a:spcBef>
                <a:spcPts val="0"/>
              </a:spcBef>
              <a:buNone/>
            </a:pPr>
            <a:r>
              <a:rPr lang="en-US" sz="1700" b="1" strike="noStrike" spc="-1" dirty="0">
                <a:solidFill>
                  <a:srgbClr val="000000"/>
                </a:solidFill>
                <a:latin typeface="Arial"/>
                <a:ea typeface="DejaVu Sans"/>
              </a:rPr>
              <a:t>PEER-REVIEWED CONFERENCE PAPERS:</a:t>
            </a:r>
          </a:p>
          <a:p>
            <a:pPr>
              <a:lnSpc>
                <a:spcPct val="100000"/>
              </a:lnSpc>
              <a:spcBef>
                <a:spcPts val="0"/>
              </a:spcBef>
              <a:buNone/>
            </a:pPr>
            <a:endParaRPr lang="en-US" sz="1700" b="0" strike="noStrike" spc="-1" dirty="0">
              <a:latin typeface="Arial"/>
            </a:endParaRPr>
          </a:p>
          <a:p>
            <a:pPr>
              <a:lnSpc>
                <a:spcPct val="100000"/>
              </a:lnSpc>
              <a:spcBef>
                <a:spcPts val="0"/>
              </a:spcBef>
              <a:buNone/>
            </a:pPr>
            <a:r>
              <a:rPr lang="en-US" sz="1600" b="0" strike="noStrike" spc="-1" dirty="0" err="1">
                <a:solidFill>
                  <a:srgbClr val="000000"/>
                </a:solidFill>
                <a:latin typeface="Arial"/>
                <a:ea typeface="Noto Sans CJK SC"/>
              </a:rPr>
              <a:t>Korebami</a:t>
            </a:r>
            <a:r>
              <a:rPr lang="en-US" sz="1600" b="0" strike="noStrike" spc="-1" dirty="0">
                <a:solidFill>
                  <a:srgbClr val="000000"/>
                </a:solidFill>
                <a:latin typeface="Arial"/>
                <a:ea typeface="Noto Sans CJK SC"/>
              </a:rPr>
              <a:t> O. Adebajo, </a:t>
            </a:r>
            <a:r>
              <a:rPr lang="en-US" sz="1600" b="1" strike="noStrike" spc="-1" dirty="0">
                <a:solidFill>
                  <a:srgbClr val="000000"/>
                </a:solidFill>
                <a:latin typeface="Arial"/>
                <a:ea typeface="Noto Sans CJK SC"/>
              </a:rPr>
              <a:t>Nathaniel Cooper</a:t>
            </a:r>
            <a:r>
              <a:rPr lang="en-US" sz="1600" b="0" strike="noStrike" spc="-1" dirty="0">
                <a:solidFill>
                  <a:srgbClr val="000000"/>
                </a:solidFill>
                <a:latin typeface="Arial"/>
                <a:ea typeface="Noto Sans CJK SC"/>
              </a:rPr>
              <a:t>, Ali Mahboub Rad, Matthew Whetham, Nolan Shute, Andrew Huebner, Austin R. J.</a:t>
            </a:r>
          </a:p>
          <a:p>
            <a:pPr>
              <a:lnSpc>
                <a:spcPct val="100000"/>
              </a:lnSpc>
              <a:spcBef>
                <a:spcPts val="0"/>
              </a:spcBef>
              <a:buNone/>
            </a:pPr>
            <a:r>
              <a:rPr lang="en-US" sz="1600" b="0" strike="noStrike" spc="-1" dirty="0">
                <a:solidFill>
                  <a:srgbClr val="000000"/>
                </a:solidFill>
                <a:latin typeface="Arial"/>
                <a:ea typeface="Noto Sans CJK SC"/>
              </a:rPr>
              <a:t>Downey, Jie Zhang, Jamil Khan, and Travis Knight.  Design architecture of a cyber-physical small modular reactor emulator for</a:t>
            </a:r>
          </a:p>
          <a:p>
            <a:pPr>
              <a:lnSpc>
                <a:spcPct val="100000"/>
              </a:lnSpc>
              <a:spcBef>
                <a:spcPts val="0"/>
              </a:spcBef>
              <a:buNone/>
            </a:pPr>
            <a:r>
              <a:rPr lang="en-US" sz="1600" b="0" strike="noStrike" spc="-1" dirty="0">
                <a:solidFill>
                  <a:srgbClr val="000000"/>
                </a:solidFill>
                <a:latin typeface="Arial"/>
                <a:ea typeface="Noto Sans CJK SC"/>
              </a:rPr>
              <a:t>real-time control and grid interaction. Proceedings of the ASME 2026 International Design Engineering Technical Conferences &amp;</a:t>
            </a:r>
          </a:p>
          <a:p>
            <a:pPr>
              <a:lnSpc>
                <a:spcPct val="100000"/>
              </a:lnSpc>
              <a:spcBef>
                <a:spcPts val="0"/>
              </a:spcBef>
              <a:buNone/>
            </a:pPr>
            <a:r>
              <a:rPr lang="en-US" sz="1600" b="0" strike="noStrike" spc="-1" dirty="0">
                <a:solidFill>
                  <a:srgbClr val="000000"/>
                </a:solidFill>
                <a:latin typeface="Arial"/>
                <a:ea typeface="Noto Sans CJK SC"/>
              </a:rPr>
              <a:t>Computers and Information in Engineering Conference.  American Society of Engineers, August 2026.</a:t>
            </a:r>
            <a:endParaRPr lang="en-US" sz="1600" b="0" strike="noStrike" spc="-1" dirty="0">
              <a:latin typeface="Arial"/>
            </a:endParaRPr>
          </a:p>
          <a:p>
            <a:pPr marL="228600" indent="-228600">
              <a:lnSpc>
                <a:spcPct val="100000"/>
              </a:lnSpc>
              <a:spcBef>
                <a:spcPts val="0"/>
              </a:spcBef>
              <a:buClr>
                <a:srgbClr val="000000"/>
              </a:buClr>
              <a:buFont typeface="Arial"/>
              <a:buChar char="•"/>
            </a:pPr>
            <a:r>
              <a:rPr lang="en-US" sz="1600" b="0" strike="noStrike" spc="-1" dirty="0">
                <a:solidFill>
                  <a:srgbClr val="000000"/>
                </a:solidFill>
                <a:latin typeface="Arial"/>
                <a:ea typeface="Noto Sans CJK SC"/>
              </a:rPr>
              <a:t>Background knowledge on reactors/SMRs, advice on testbed loop, manuscript review and feedback</a:t>
            </a:r>
            <a:endParaRPr lang="en-US" sz="1600" b="0" strike="noStrike" spc="-1" dirty="0">
              <a:latin typeface="Arial"/>
            </a:endParaRPr>
          </a:p>
          <a:p>
            <a:pPr>
              <a:lnSpc>
                <a:spcPct val="100000"/>
              </a:lnSpc>
              <a:buNone/>
            </a:pPr>
            <a:endParaRPr lang="en-US" sz="2000" b="0" strike="noStrike" spc="-1" dirty="0">
              <a:latin typeface="Arial"/>
            </a:endParaRPr>
          </a:p>
          <a:p>
            <a:pPr>
              <a:lnSpc>
                <a:spcPct val="100000"/>
              </a:lnSpc>
              <a:spcBef>
                <a:spcPts val="1001"/>
              </a:spcBef>
              <a:buNone/>
            </a:pPr>
            <a:endParaRPr lang="en-US" sz="2000" b="0" strike="noStrike" spc="-1" dirty="0">
              <a:latin typeface="Arial"/>
            </a:endParaRPr>
          </a:p>
        </p:txBody>
      </p:sp>
      <p:sp>
        <p:nvSpPr>
          <p:cNvPr id="4" name="PlaceHolder 3"/>
          <p:cNvSpPr>
            <a:spLocks noGrp="1"/>
          </p:cNvSpPr>
          <p:nvPr>
            <p:ph type="sldNum" idx="3"/>
          </p:nvPr>
        </p:nvSpPr>
        <p:spPr/>
        <p:txBody>
          <a:bodyPr/>
          <a:lstStyle/>
          <a:p>
            <a:fld id="{800A0C0C-8056-4178-832B-B3242CAE6520}" type="slidenum">
              <a:rPr/>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PlaceHolder 1"/>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a:solidFill>
                  <a:srgbClr val="000000"/>
                </a:solidFill>
                <a:latin typeface="Arial Black"/>
              </a:rPr>
              <a:t>Other Publications (Master’s Degree)</a:t>
            </a:r>
            <a:endParaRPr lang="en-US" sz="3600" b="0" strike="noStrike" spc="-1">
              <a:latin typeface="Arial"/>
            </a:endParaRPr>
          </a:p>
        </p:txBody>
      </p:sp>
      <p:sp>
        <p:nvSpPr>
          <p:cNvPr id="261" name="PlaceHolder 2"/>
          <p:cNvSpPr>
            <a:spLocks noGrp="1"/>
          </p:cNvSpPr>
          <p:nvPr>
            <p:ph/>
          </p:nvPr>
        </p:nvSpPr>
        <p:spPr>
          <a:xfrm>
            <a:off x="838080" y="1825560"/>
            <a:ext cx="11048760" cy="3990960"/>
          </a:xfrm>
          <a:prstGeom prst="rect">
            <a:avLst/>
          </a:prstGeom>
          <a:noFill/>
          <a:ln w="0">
            <a:noFill/>
          </a:ln>
        </p:spPr>
        <p:txBody>
          <a:bodyPr lIns="90000" tIns="45000" rIns="90000" bIns="45000" anchor="t">
            <a:normAutofit fontScale="97500" lnSpcReduction="10000"/>
          </a:bodyPr>
          <a:lstStyle/>
          <a:p>
            <a:pPr>
              <a:lnSpc>
                <a:spcPct val="100000"/>
              </a:lnSpc>
              <a:spcBef>
                <a:spcPts val="0"/>
              </a:spcBef>
              <a:buNone/>
            </a:pPr>
            <a:r>
              <a:rPr lang="en-US" sz="1600" b="1" strike="noStrike" spc="-1" dirty="0">
                <a:solidFill>
                  <a:srgbClr val="000000"/>
                </a:solidFill>
                <a:latin typeface="Arial"/>
                <a:ea typeface="Noto Sans CJK SC"/>
              </a:rPr>
              <a:t>JOURNAL ARTICLES:</a:t>
            </a:r>
          </a:p>
          <a:p>
            <a:pPr>
              <a:lnSpc>
                <a:spcPct val="100000"/>
              </a:lnSpc>
              <a:spcBef>
                <a:spcPts val="0"/>
              </a:spcBef>
              <a:buNone/>
            </a:pPr>
            <a:endParaRPr lang="en-US" sz="1400" b="0" strike="noStrike" spc="-1" dirty="0">
              <a:latin typeface="Arial"/>
            </a:endParaRPr>
          </a:p>
          <a:p>
            <a:pPr>
              <a:lnSpc>
                <a:spcPct val="100000"/>
              </a:lnSpc>
              <a:spcBef>
                <a:spcPts val="0"/>
              </a:spcBef>
              <a:buNone/>
            </a:pPr>
            <a:r>
              <a:rPr lang="en-US" sz="1400" b="0" strike="noStrike" spc="-1" dirty="0">
                <a:solidFill>
                  <a:srgbClr val="000000"/>
                </a:solidFill>
                <a:latin typeface="Arial"/>
                <a:ea typeface="DejaVu Sans"/>
              </a:rPr>
              <a:t>Islam, F., </a:t>
            </a:r>
            <a:r>
              <a:rPr lang="en-US" sz="1400" b="1" strike="noStrike" spc="-1" dirty="0">
                <a:solidFill>
                  <a:srgbClr val="000000"/>
                </a:solidFill>
                <a:latin typeface="Arial"/>
                <a:ea typeface="DejaVu Sans"/>
              </a:rPr>
              <a:t>Cooper, N.</a:t>
            </a:r>
            <a:r>
              <a:rPr lang="en-US" sz="1400" b="0" strike="noStrike" spc="-1" dirty="0">
                <a:solidFill>
                  <a:srgbClr val="000000"/>
                </a:solidFill>
                <a:latin typeface="Arial"/>
                <a:ea typeface="DejaVu Sans"/>
              </a:rPr>
              <a:t>, Abboud, A. W., Farouk, T., Khan, J., Guillen, D. P., &amp; Knight, T. (2024). CFD model for</a:t>
            </a:r>
          </a:p>
          <a:p>
            <a:pPr>
              <a:lnSpc>
                <a:spcPct val="100000"/>
              </a:lnSpc>
              <a:spcBef>
                <a:spcPts val="0"/>
              </a:spcBef>
              <a:buNone/>
            </a:pPr>
            <a:r>
              <a:rPr lang="en-US" sz="1400" b="0" strike="noStrike" spc="-1" dirty="0">
                <a:solidFill>
                  <a:srgbClr val="000000"/>
                </a:solidFill>
                <a:latin typeface="Arial"/>
                <a:ea typeface="DejaVu Sans"/>
              </a:rPr>
              <a:t>predicting spent nuclear fuel drying conditions. </a:t>
            </a:r>
            <a:r>
              <a:rPr lang="en-US" sz="1400" b="0" i="1" strike="noStrike" spc="-1" dirty="0">
                <a:solidFill>
                  <a:srgbClr val="000000"/>
                </a:solidFill>
                <a:latin typeface="Arial"/>
                <a:ea typeface="DejaVu Sans"/>
              </a:rPr>
              <a:t>Nuclear Science and Technology Open Research</a:t>
            </a:r>
            <a:r>
              <a:rPr lang="en-US" sz="1400" b="0" strike="noStrike" spc="-1" dirty="0">
                <a:solidFill>
                  <a:srgbClr val="000000"/>
                </a:solidFill>
                <a:latin typeface="Arial"/>
                <a:ea typeface="DejaVu Sans"/>
              </a:rPr>
              <a:t>, </a:t>
            </a:r>
            <a:r>
              <a:rPr lang="en-US" sz="1400" b="0" i="1" strike="noStrike" spc="-1" dirty="0">
                <a:solidFill>
                  <a:srgbClr val="000000"/>
                </a:solidFill>
                <a:latin typeface="Arial"/>
                <a:ea typeface="DejaVu Sans"/>
              </a:rPr>
              <a:t>2</a:t>
            </a:r>
            <a:r>
              <a:rPr lang="en-US" sz="1400" b="0" strike="noStrike" spc="-1" dirty="0">
                <a:solidFill>
                  <a:srgbClr val="000000"/>
                </a:solidFill>
                <a:latin typeface="Arial"/>
                <a:ea typeface="DejaVu Sans"/>
              </a:rPr>
              <a:t>(49), 49.</a:t>
            </a:r>
          </a:p>
          <a:p>
            <a:pPr>
              <a:lnSpc>
                <a:spcPct val="100000"/>
              </a:lnSpc>
              <a:spcBef>
                <a:spcPts val="0"/>
              </a:spcBef>
              <a:buNone/>
            </a:pPr>
            <a:endParaRPr lang="en-US" sz="1400" b="0" strike="noStrike" spc="-1" dirty="0">
              <a:latin typeface="Arial"/>
            </a:endParaRPr>
          </a:p>
          <a:p>
            <a:pPr>
              <a:lnSpc>
                <a:spcPct val="100000"/>
              </a:lnSpc>
              <a:spcBef>
                <a:spcPts val="0"/>
              </a:spcBef>
              <a:buNone/>
            </a:pPr>
            <a:endParaRPr lang="en-US" sz="1400" b="0" strike="noStrike" spc="-1" dirty="0">
              <a:latin typeface="Arial"/>
            </a:endParaRPr>
          </a:p>
          <a:p>
            <a:pPr>
              <a:lnSpc>
                <a:spcPct val="100000"/>
              </a:lnSpc>
              <a:spcBef>
                <a:spcPts val="0"/>
              </a:spcBef>
              <a:buNone/>
            </a:pPr>
            <a:r>
              <a:rPr lang="en-US" sz="1600" b="1" strike="noStrike" spc="-1" dirty="0">
                <a:solidFill>
                  <a:srgbClr val="000000"/>
                </a:solidFill>
                <a:latin typeface="Arial"/>
                <a:ea typeface="DejaVu Sans"/>
              </a:rPr>
              <a:t>PEER-REVIEWED CONFERENCE PAPERS:</a:t>
            </a:r>
          </a:p>
          <a:p>
            <a:pPr>
              <a:lnSpc>
                <a:spcPct val="100000"/>
              </a:lnSpc>
              <a:spcBef>
                <a:spcPts val="0"/>
              </a:spcBef>
              <a:buNone/>
            </a:pPr>
            <a:endParaRPr lang="en-US" sz="1400" b="0" strike="noStrike" spc="-1" dirty="0">
              <a:latin typeface="Arial"/>
            </a:endParaRPr>
          </a:p>
          <a:p>
            <a:pPr>
              <a:lnSpc>
                <a:spcPct val="100000"/>
              </a:lnSpc>
              <a:spcBef>
                <a:spcPts val="0"/>
              </a:spcBef>
              <a:buNone/>
            </a:pPr>
            <a:r>
              <a:rPr lang="en-US" sz="1400" b="1" strike="noStrike" spc="-1" dirty="0">
                <a:solidFill>
                  <a:srgbClr val="000000"/>
                </a:solidFill>
                <a:latin typeface="Arial"/>
                <a:ea typeface="DejaVu Sans"/>
              </a:rPr>
              <a:t>Cooper, N. </a:t>
            </a:r>
            <a:r>
              <a:rPr lang="en-US" sz="1400" b="0" strike="noStrike" spc="-1" dirty="0">
                <a:solidFill>
                  <a:srgbClr val="000000"/>
                </a:solidFill>
                <a:latin typeface="Arial"/>
                <a:ea typeface="DejaVu Sans"/>
              </a:rPr>
              <a:t>(2020). Development of a CFD model for the drying of aluminum-clad spent fuel.  </a:t>
            </a:r>
            <a:r>
              <a:rPr lang="en-US" sz="1400" b="0" i="1" strike="noStrike" spc="-1" dirty="0">
                <a:solidFill>
                  <a:srgbClr val="000000"/>
                </a:solidFill>
                <a:latin typeface="Arial"/>
                <a:ea typeface="DejaVu Sans"/>
              </a:rPr>
              <a:t>Transactions of the</a:t>
            </a:r>
          </a:p>
          <a:p>
            <a:pPr>
              <a:lnSpc>
                <a:spcPct val="100000"/>
              </a:lnSpc>
              <a:spcBef>
                <a:spcPts val="0"/>
              </a:spcBef>
              <a:buNone/>
            </a:pPr>
            <a:r>
              <a:rPr lang="en-US" sz="1400" b="0" i="1" strike="noStrike" spc="-1" dirty="0">
                <a:solidFill>
                  <a:srgbClr val="000000"/>
                </a:solidFill>
                <a:latin typeface="Arial"/>
                <a:ea typeface="DejaVu Sans"/>
              </a:rPr>
              <a:t>American Nuclear Society, 122</a:t>
            </a:r>
            <a:r>
              <a:rPr lang="en-US" sz="1400" b="0" strike="noStrike" spc="-1" dirty="0">
                <a:solidFill>
                  <a:srgbClr val="000000"/>
                </a:solidFill>
                <a:latin typeface="Arial"/>
                <a:ea typeface="DejaVu Sans"/>
              </a:rPr>
              <a:t>, 66-67.  https://doi.org/10.13182/T122-32601</a:t>
            </a:r>
            <a:endParaRPr lang="en-US" sz="1400" b="0" strike="noStrike" spc="-1" dirty="0">
              <a:latin typeface="Arial"/>
            </a:endParaRPr>
          </a:p>
          <a:p>
            <a:pPr>
              <a:lnSpc>
                <a:spcPct val="100000"/>
              </a:lnSpc>
              <a:spcBef>
                <a:spcPts val="0"/>
              </a:spcBef>
              <a:buNone/>
            </a:pPr>
            <a:endParaRPr lang="en-US" sz="1400" b="0" strike="noStrike" spc="-1" dirty="0">
              <a:latin typeface="Arial"/>
            </a:endParaRPr>
          </a:p>
          <a:p>
            <a:pPr>
              <a:lnSpc>
                <a:spcPct val="100000"/>
              </a:lnSpc>
              <a:spcBef>
                <a:spcPts val="0"/>
              </a:spcBef>
              <a:buNone/>
            </a:pPr>
            <a:r>
              <a:rPr lang="en-US" sz="1600" b="1" strike="noStrike" spc="-1" dirty="0">
                <a:solidFill>
                  <a:srgbClr val="000000"/>
                </a:solidFill>
                <a:latin typeface="Arial"/>
                <a:ea typeface="Noto Sans CJK SC"/>
              </a:rPr>
              <a:t>OTHER PUBLICATIONS:</a:t>
            </a:r>
          </a:p>
          <a:p>
            <a:pPr>
              <a:lnSpc>
                <a:spcPct val="100000"/>
              </a:lnSpc>
              <a:spcBef>
                <a:spcPts val="0"/>
              </a:spcBef>
              <a:buNone/>
            </a:pPr>
            <a:endParaRPr lang="en-US" sz="1400" b="0" strike="noStrike" spc="-1" dirty="0">
              <a:latin typeface="Arial"/>
            </a:endParaRPr>
          </a:p>
          <a:p>
            <a:pPr>
              <a:lnSpc>
                <a:spcPct val="100000"/>
              </a:lnSpc>
              <a:spcBef>
                <a:spcPts val="0"/>
              </a:spcBef>
              <a:buNone/>
            </a:pPr>
            <a:r>
              <a:rPr lang="en-US" sz="1400" b="1" strike="noStrike" spc="-1" dirty="0">
                <a:solidFill>
                  <a:srgbClr val="000000"/>
                </a:solidFill>
                <a:latin typeface="Arial"/>
                <a:ea typeface="DejaVu Sans"/>
              </a:rPr>
              <a:t>Cooper, N. </a:t>
            </a:r>
            <a:r>
              <a:rPr lang="en-US" sz="1400" b="0" strike="noStrike" spc="-1" dirty="0">
                <a:solidFill>
                  <a:srgbClr val="000000"/>
                </a:solidFill>
                <a:latin typeface="Arial"/>
                <a:ea typeface="DejaVu Sans"/>
              </a:rPr>
              <a:t>(2020). </a:t>
            </a:r>
            <a:r>
              <a:rPr lang="en-US" sz="1400" b="0" i="1" strike="noStrike" spc="-1" dirty="0">
                <a:solidFill>
                  <a:srgbClr val="000000"/>
                </a:solidFill>
                <a:latin typeface="Arial"/>
                <a:ea typeface="DejaVu Sans"/>
              </a:rPr>
              <a:t>Development of a CFD Model for the Drying of Aluminum-clad Spent Nuclear Fuel</a:t>
            </a:r>
            <a:r>
              <a:rPr lang="en-US" sz="1400" b="0" strike="noStrike" spc="-1" dirty="0">
                <a:solidFill>
                  <a:srgbClr val="000000"/>
                </a:solidFill>
                <a:latin typeface="Arial"/>
                <a:ea typeface="DejaVu Sans"/>
              </a:rPr>
              <a:t> (Master’s</a:t>
            </a:r>
          </a:p>
          <a:p>
            <a:pPr>
              <a:lnSpc>
                <a:spcPct val="100000"/>
              </a:lnSpc>
              <a:spcBef>
                <a:spcPts val="0"/>
              </a:spcBef>
              <a:buNone/>
            </a:pPr>
            <a:r>
              <a:rPr lang="en-US" sz="1400" b="0" strike="noStrike" spc="-1" dirty="0">
                <a:solidFill>
                  <a:srgbClr val="000000"/>
                </a:solidFill>
                <a:latin typeface="Arial"/>
                <a:ea typeface="DejaVu Sans"/>
              </a:rPr>
              <a:t>thesis, University of South Carolina).</a:t>
            </a:r>
            <a:endParaRPr lang="en-US" sz="1400" b="0" strike="noStrike" spc="-1" dirty="0">
              <a:latin typeface="Arial"/>
            </a:endParaRPr>
          </a:p>
          <a:p>
            <a:pPr>
              <a:lnSpc>
                <a:spcPct val="100000"/>
              </a:lnSpc>
              <a:spcBef>
                <a:spcPts val="0"/>
              </a:spcBef>
              <a:buNone/>
            </a:pPr>
            <a:endParaRPr lang="en-US" sz="1400" b="0" strike="noStrike" spc="-1" dirty="0">
              <a:latin typeface="Arial"/>
            </a:endParaRPr>
          </a:p>
          <a:p>
            <a:pPr>
              <a:lnSpc>
                <a:spcPct val="100000"/>
              </a:lnSpc>
              <a:spcBef>
                <a:spcPts val="0"/>
              </a:spcBef>
              <a:buNone/>
            </a:pPr>
            <a:r>
              <a:rPr lang="en-US" sz="1400" b="0" strike="noStrike" spc="-1" dirty="0">
                <a:solidFill>
                  <a:srgbClr val="000000"/>
                </a:solidFill>
                <a:latin typeface="Arial"/>
                <a:ea typeface="DejaVu Sans"/>
              </a:rPr>
              <a:t>Knight, T., </a:t>
            </a:r>
            <a:r>
              <a:rPr lang="en-US" sz="1400" b="1" strike="noStrike" spc="-1" dirty="0">
                <a:solidFill>
                  <a:srgbClr val="000000"/>
                </a:solidFill>
                <a:latin typeface="Arial"/>
                <a:ea typeface="DejaVu Sans"/>
              </a:rPr>
              <a:t>Cooper, N.</a:t>
            </a:r>
            <a:r>
              <a:rPr lang="en-US" sz="1400" b="0" strike="noStrike" spc="-1" dirty="0">
                <a:solidFill>
                  <a:srgbClr val="000000"/>
                </a:solidFill>
                <a:latin typeface="Arial"/>
                <a:ea typeface="DejaVu Sans"/>
              </a:rPr>
              <a:t>, </a:t>
            </a:r>
            <a:r>
              <a:rPr lang="en-US" sz="1400" b="0" strike="noStrike" spc="-1" dirty="0" err="1">
                <a:solidFill>
                  <a:srgbClr val="000000"/>
                </a:solidFill>
                <a:latin typeface="Arial"/>
                <a:ea typeface="DejaVu Sans"/>
              </a:rPr>
              <a:t>Shalloo</a:t>
            </a:r>
            <a:r>
              <a:rPr lang="en-US" sz="1400" b="0" strike="noStrike" spc="-1" dirty="0">
                <a:solidFill>
                  <a:srgbClr val="000000"/>
                </a:solidFill>
                <a:latin typeface="Arial"/>
                <a:ea typeface="DejaVu Sans"/>
              </a:rPr>
              <a:t>, M., Farouk, T., Wang, Y., Khan, J., and Smith, R. (2019).  Aluminum-clad Spent</a:t>
            </a:r>
          </a:p>
          <a:p>
            <a:pPr>
              <a:lnSpc>
                <a:spcPct val="100000"/>
              </a:lnSpc>
              <a:spcBef>
                <a:spcPts val="0"/>
              </a:spcBef>
              <a:buNone/>
            </a:pPr>
            <a:r>
              <a:rPr lang="en-US" sz="1400" b="0" strike="noStrike" spc="-1" dirty="0">
                <a:solidFill>
                  <a:srgbClr val="000000"/>
                </a:solidFill>
                <a:latin typeface="Arial"/>
                <a:ea typeface="DejaVu Sans"/>
              </a:rPr>
              <a:t>Nuclear Fuel Engineering Scale Drying Experiment Design.  INL/EXT-19-56017.</a:t>
            </a:r>
            <a:endParaRPr lang="en-US" sz="1400" b="0" strike="noStrike" spc="-1" dirty="0">
              <a:latin typeface="Arial"/>
            </a:endParaRPr>
          </a:p>
          <a:p>
            <a:pPr>
              <a:lnSpc>
                <a:spcPct val="100000"/>
              </a:lnSpc>
              <a:buNone/>
            </a:pPr>
            <a:endParaRPr lang="en-US" sz="1400" b="0" strike="noStrike" spc="-1" dirty="0">
              <a:latin typeface="Arial"/>
            </a:endParaRPr>
          </a:p>
          <a:p>
            <a:pPr>
              <a:lnSpc>
                <a:spcPct val="100000"/>
              </a:lnSpc>
              <a:spcBef>
                <a:spcPts val="1001"/>
              </a:spcBef>
              <a:buNone/>
            </a:pPr>
            <a:endParaRPr lang="en-US" sz="1400" b="0" strike="noStrike" spc="-1" dirty="0">
              <a:latin typeface="Arial"/>
            </a:endParaRPr>
          </a:p>
        </p:txBody>
      </p:sp>
      <p:sp>
        <p:nvSpPr>
          <p:cNvPr id="4" name="PlaceHolder 3"/>
          <p:cNvSpPr>
            <a:spLocks noGrp="1"/>
          </p:cNvSpPr>
          <p:nvPr>
            <p:ph type="sldNum" idx="3"/>
          </p:nvPr>
        </p:nvSpPr>
        <p:spPr/>
        <p:txBody>
          <a:bodyPr/>
          <a:lstStyle/>
          <a:p>
            <a:fld id="{05CE5BAB-CE97-4939-BAEA-2283A27C9380}" type="slidenum">
              <a:rPr/>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PlaceHolder 1"/>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a:solidFill>
                  <a:srgbClr val="000000"/>
                </a:solidFill>
                <a:latin typeface="Arial Black"/>
              </a:rPr>
              <a:t>Motivation</a:t>
            </a:r>
            <a:endParaRPr lang="en-US" sz="3600" b="0" strike="noStrike" spc="-1">
              <a:latin typeface="Arial"/>
            </a:endParaRPr>
          </a:p>
        </p:txBody>
      </p:sp>
      <p:sp>
        <p:nvSpPr>
          <p:cNvPr id="263" name="PlaceHolder 2"/>
          <p:cNvSpPr>
            <a:spLocks noGrp="1"/>
          </p:cNvSpPr>
          <p:nvPr>
            <p:ph/>
          </p:nvPr>
        </p:nvSpPr>
        <p:spPr>
          <a:xfrm>
            <a:off x="838080" y="1432800"/>
            <a:ext cx="4771800" cy="4703040"/>
          </a:xfrm>
          <a:prstGeom prst="rect">
            <a:avLst/>
          </a:prstGeom>
          <a:noFill/>
          <a:ln w="0">
            <a:noFill/>
          </a:ln>
        </p:spPr>
        <p:txBody>
          <a:bodyPr lIns="90000" tIns="45000" rIns="90000" bIns="45000" anchor="t">
            <a:normAutofit fontScale="73000" lnSpcReduction="20000"/>
          </a:bodyPr>
          <a:lstStyle/>
          <a:p>
            <a:pPr marL="228600" indent="-228600">
              <a:lnSpc>
                <a:spcPct val="100000"/>
              </a:lnSpc>
              <a:spcBef>
                <a:spcPts val="1001"/>
              </a:spcBef>
              <a:buClr>
                <a:srgbClr val="000000"/>
              </a:buClr>
              <a:buFont typeface="Arial"/>
              <a:buChar char="•"/>
            </a:pPr>
            <a:r>
              <a:rPr lang="en-US" sz="3000" b="0" strike="noStrike" spc="-1">
                <a:solidFill>
                  <a:srgbClr val="000000"/>
                </a:solidFill>
                <a:latin typeface="Arial"/>
              </a:rPr>
              <a:t>Electrification of the aviation sector will lead to reduced emissions and improved mechanical efficiency</a:t>
            </a:r>
            <a:endParaRPr lang="en-US" sz="3000" b="0" strike="noStrike" spc="-1">
              <a:latin typeface="Arial"/>
            </a:endParaRPr>
          </a:p>
          <a:p>
            <a:pPr marL="228600" indent="-228600">
              <a:lnSpc>
                <a:spcPct val="100000"/>
              </a:lnSpc>
              <a:spcBef>
                <a:spcPts val="1001"/>
              </a:spcBef>
              <a:buClr>
                <a:srgbClr val="000000"/>
              </a:buClr>
              <a:buFont typeface="Arial"/>
              <a:buChar char="•"/>
            </a:pPr>
            <a:r>
              <a:rPr lang="en-US" sz="3000" b="0" strike="noStrike" spc="-1">
                <a:solidFill>
                  <a:srgbClr val="000000"/>
                </a:solidFill>
                <a:latin typeface="Arial"/>
              </a:rPr>
              <a:t>Energy Management Systems (EMS) key to performance and load balancing</a:t>
            </a:r>
            <a:endParaRPr lang="en-US" sz="3000" b="0" strike="noStrike" spc="-1">
              <a:latin typeface="Arial"/>
            </a:endParaRPr>
          </a:p>
          <a:p>
            <a:pPr marL="228600" indent="-228600">
              <a:lnSpc>
                <a:spcPct val="100000"/>
              </a:lnSpc>
              <a:spcBef>
                <a:spcPts val="1001"/>
              </a:spcBef>
              <a:buClr>
                <a:srgbClr val="000000"/>
              </a:buClr>
              <a:buFont typeface="Arial"/>
              <a:buChar char="•"/>
            </a:pPr>
            <a:r>
              <a:rPr lang="en-US" sz="3000" b="0" strike="noStrike" spc="-1">
                <a:solidFill>
                  <a:srgbClr val="000000"/>
                </a:solidFill>
                <a:latin typeface="Arial"/>
              </a:rPr>
              <a:t>In hybrid electric systems, battery stacks represent the maintenance bottleneck</a:t>
            </a:r>
            <a:endParaRPr lang="en-US" sz="3000" b="0" strike="noStrike" spc="-1">
              <a:latin typeface="Arial"/>
            </a:endParaRPr>
          </a:p>
          <a:p>
            <a:pPr marL="228600" indent="-228600">
              <a:lnSpc>
                <a:spcPct val="100000"/>
              </a:lnSpc>
              <a:spcBef>
                <a:spcPts val="1001"/>
              </a:spcBef>
              <a:buClr>
                <a:srgbClr val="000000"/>
              </a:buClr>
              <a:buFont typeface="Arial"/>
              <a:buChar char="•"/>
            </a:pPr>
            <a:r>
              <a:rPr lang="en-US" sz="3000" b="1" strike="noStrike" spc="-1">
                <a:solidFill>
                  <a:srgbClr val="000000"/>
                </a:solidFill>
                <a:latin typeface="Arial"/>
              </a:rPr>
              <a:t>Objective: Develop component models and controllers to optimize battery useful life in all-electric hybrid aircraft</a:t>
            </a:r>
            <a:endParaRPr lang="en-US" sz="3000" b="0" strike="noStrike" spc="-1">
              <a:latin typeface="Arial"/>
            </a:endParaRPr>
          </a:p>
          <a:p>
            <a:pPr>
              <a:lnSpc>
                <a:spcPct val="100000"/>
              </a:lnSpc>
              <a:spcBef>
                <a:spcPts val="1001"/>
              </a:spcBef>
              <a:buNone/>
            </a:pPr>
            <a:endParaRPr lang="en-US" sz="2800" b="0" strike="noStrike" spc="-1">
              <a:latin typeface="Arial"/>
            </a:endParaRPr>
          </a:p>
        </p:txBody>
      </p:sp>
      <p:pic>
        <p:nvPicPr>
          <p:cNvPr id="264" name="Picture 5"/>
          <p:cNvPicPr/>
          <p:nvPr/>
        </p:nvPicPr>
        <p:blipFill>
          <a:blip r:embed="rId3"/>
          <a:stretch/>
        </p:blipFill>
        <p:spPr>
          <a:xfrm>
            <a:off x="5610960" y="1432800"/>
            <a:ext cx="6318000" cy="4177080"/>
          </a:xfrm>
          <a:prstGeom prst="rect">
            <a:avLst/>
          </a:prstGeom>
          <a:ln w="0">
            <a:noFill/>
          </a:ln>
        </p:spPr>
      </p:pic>
      <p:sp>
        <p:nvSpPr>
          <p:cNvPr id="4" name="PlaceHolder 3"/>
          <p:cNvSpPr>
            <a:spLocks noGrp="1"/>
          </p:cNvSpPr>
          <p:nvPr>
            <p:ph type="sldNum" idx="3"/>
          </p:nvPr>
        </p:nvSpPr>
        <p:spPr/>
        <p:txBody>
          <a:bodyPr/>
          <a:lstStyle/>
          <a:p>
            <a:fld id="{D69CD94E-3AF2-4868-9FBD-F430B9251BCE}" type="slidenum">
              <a:rPr/>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PlaceHolder 1"/>
          <p:cNvSpPr>
            <a:spLocks noGrp="1"/>
          </p:cNvSpPr>
          <p:nvPr>
            <p:ph type="title"/>
          </p:nvPr>
        </p:nvSpPr>
        <p:spPr>
          <a:xfrm>
            <a:off x="831960" y="2835720"/>
            <a:ext cx="10514520" cy="1185120"/>
          </a:xfrm>
          <a:prstGeom prst="rect">
            <a:avLst/>
          </a:prstGeom>
          <a:noFill/>
          <a:ln w="0">
            <a:noFill/>
          </a:ln>
        </p:spPr>
        <p:txBody>
          <a:bodyPr lIns="90000" tIns="45000" rIns="90000" bIns="45000" anchor="t">
            <a:noAutofit/>
          </a:bodyPr>
          <a:lstStyle/>
          <a:p>
            <a:pPr algn="ctr">
              <a:lnSpc>
                <a:spcPct val="90000"/>
              </a:lnSpc>
              <a:buNone/>
            </a:pPr>
            <a:r>
              <a:rPr lang="en-US" sz="3600" b="0" strike="noStrike" spc="-1">
                <a:solidFill>
                  <a:srgbClr val="FFFFFF"/>
                </a:solidFill>
                <a:latin typeface="Arial Black"/>
              </a:rPr>
              <a:t>Background and Initial Results</a:t>
            </a:r>
            <a:endParaRPr lang="en-US" sz="3600" b="0" strike="noStrike" spc="-1">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47341-CE02-C3F2-99B0-E693146AA387}"/>
            </a:ext>
          </a:extLst>
        </p:cNvPr>
        <p:cNvGrpSpPr/>
        <p:nvPr/>
      </p:nvGrpSpPr>
      <p:grpSpPr>
        <a:xfrm>
          <a:off x="0" y="0"/>
          <a:ext cx="0" cy="0"/>
          <a:chOff x="0" y="0"/>
          <a:chExt cx="0" cy="0"/>
        </a:xfrm>
      </p:grpSpPr>
      <p:sp>
        <p:nvSpPr>
          <p:cNvPr id="275" name="PlaceHolder 1">
            <a:extLst>
              <a:ext uri="{FF2B5EF4-FFF2-40B4-BE49-F238E27FC236}">
                <a16:creationId xmlns:a16="http://schemas.microsoft.com/office/drawing/2014/main" id="{F2FEF40A-3618-8A8E-F147-45955F5400CB}"/>
              </a:ext>
            </a:extLst>
          </p:cNvPr>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a:solidFill>
                  <a:srgbClr val="000000"/>
                </a:solidFill>
                <a:latin typeface="Arial Black"/>
              </a:rPr>
              <a:t>Hybrid Electric Architectures </a:t>
            </a:r>
            <a:endParaRPr lang="en-US" sz="3600" b="0" strike="noStrike" spc="-1">
              <a:latin typeface="Arial"/>
            </a:endParaRPr>
          </a:p>
        </p:txBody>
      </p:sp>
      <p:sp>
        <p:nvSpPr>
          <p:cNvPr id="276" name="PlaceHolder 2">
            <a:extLst>
              <a:ext uri="{FF2B5EF4-FFF2-40B4-BE49-F238E27FC236}">
                <a16:creationId xmlns:a16="http://schemas.microsoft.com/office/drawing/2014/main" id="{FFAEC126-A220-F2E0-C08B-1C164E8E6942}"/>
              </a:ext>
            </a:extLst>
          </p:cNvPr>
          <p:cNvSpPr>
            <a:spLocks noGrp="1"/>
          </p:cNvSpPr>
          <p:nvPr>
            <p:ph/>
          </p:nvPr>
        </p:nvSpPr>
        <p:spPr>
          <a:xfrm>
            <a:off x="4549320" y="1376639"/>
            <a:ext cx="7301880" cy="3988439"/>
          </a:xfrm>
          <a:prstGeom prst="rect">
            <a:avLst/>
          </a:prstGeom>
          <a:noFill/>
          <a:ln w="0">
            <a:noFill/>
          </a:ln>
        </p:spPr>
        <p:txBody>
          <a:bodyPr lIns="90000" tIns="45000" rIns="90000" bIns="45000" anchor="t">
            <a:noAutofit/>
          </a:bodyPr>
          <a:lstStyle/>
          <a:p>
            <a:pPr marL="228600" indent="-228600">
              <a:lnSpc>
                <a:spcPct val="100000"/>
              </a:lnSpc>
              <a:spcBef>
                <a:spcPts val="1001"/>
              </a:spcBef>
              <a:buClr>
                <a:srgbClr val="000000"/>
              </a:buClr>
              <a:buFont typeface="Arial"/>
              <a:buChar char="•"/>
            </a:pPr>
            <a:r>
              <a:rPr lang="en-US" sz="2400" b="0" strike="noStrike" spc="-1" dirty="0">
                <a:solidFill>
                  <a:srgbClr val="000000"/>
                </a:solidFill>
                <a:latin typeface="Arial"/>
              </a:rPr>
              <a:t>Majority of research focuses on land vehicles: cars, buses, etc.</a:t>
            </a:r>
          </a:p>
          <a:p>
            <a:pPr marL="228600" indent="-228600">
              <a:lnSpc>
                <a:spcPct val="100000"/>
              </a:lnSpc>
              <a:spcBef>
                <a:spcPts val="1001"/>
              </a:spcBef>
              <a:buClr>
                <a:srgbClr val="000000"/>
              </a:buClr>
              <a:buFont typeface="Arial"/>
              <a:buChar char="•"/>
            </a:pPr>
            <a:r>
              <a:rPr lang="en-US" sz="2400" spc="-1" dirty="0">
                <a:solidFill>
                  <a:srgbClr val="000000"/>
                </a:solidFill>
                <a:latin typeface="Arial"/>
              </a:rPr>
              <a:t>Typical configuration is a fuel cell/battery hybrid</a:t>
            </a:r>
          </a:p>
          <a:p>
            <a:pPr lvl="1">
              <a:lnSpc>
                <a:spcPct val="100000"/>
              </a:lnSpc>
              <a:spcBef>
                <a:spcPts val="1001"/>
              </a:spcBef>
              <a:buClr>
                <a:srgbClr val="000000"/>
              </a:buClr>
              <a:buFont typeface="Arial"/>
              <a:buChar char="•"/>
            </a:pPr>
            <a:r>
              <a:rPr lang="en-US" sz="2000" spc="-1" dirty="0">
                <a:solidFill>
                  <a:srgbClr val="000000"/>
                </a:solidFill>
                <a:latin typeface="Arial"/>
              </a:rPr>
              <a:t>Either can operate as the primary or the secondary power supply, or as a simple range extender</a:t>
            </a:r>
          </a:p>
          <a:p>
            <a:pPr marL="228600" indent="-228600">
              <a:lnSpc>
                <a:spcPct val="100000"/>
              </a:lnSpc>
              <a:spcBef>
                <a:spcPts val="1001"/>
              </a:spcBef>
              <a:buClr>
                <a:srgbClr val="000000"/>
              </a:buClr>
              <a:buFont typeface="Arial"/>
              <a:buChar char="•"/>
            </a:pPr>
            <a:r>
              <a:rPr lang="en-US" sz="2400" spc="-1" dirty="0">
                <a:solidFill>
                  <a:srgbClr val="000000"/>
                </a:solidFill>
                <a:latin typeface="Arial"/>
              </a:rPr>
              <a:t>Ultracapacitors are frequently used, either in combination with the other power supplies or as a substitute (most frequently for the battery)</a:t>
            </a:r>
          </a:p>
          <a:p>
            <a:pPr lvl="1">
              <a:lnSpc>
                <a:spcPct val="100000"/>
              </a:lnSpc>
              <a:spcBef>
                <a:spcPts val="1001"/>
              </a:spcBef>
              <a:buClr>
                <a:srgbClr val="000000"/>
              </a:buClr>
              <a:buFont typeface="Arial"/>
              <a:buChar char="•"/>
            </a:pPr>
            <a:endParaRPr lang="en-US" b="0" strike="noStrike" spc="-1" dirty="0">
              <a:latin typeface="Arial"/>
            </a:endParaRPr>
          </a:p>
          <a:p>
            <a:pPr>
              <a:lnSpc>
                <a:spcPct val="100000"/>
              </a:lnSpc>
              <a:spcBef>
                <a:spcPts val="1001"/>
              </a:spcBef>
              <a:buNone/>
            </a:pPr>
            <a:endParaRPr lang="en-US" sz="2400" b="0" strike="noStrike" spc="-1" dirty="0">
              <a:latin typeface="Arial"/>
            </a:endParaRPr>
          </a:p>
        </p:txBody>
      </p:sp>
      <p:pic>
        <p:nvPicPr>
          <p:cNvPr id="277" name="Picture 6">
            <a:extLst>
              <a:ext uri="{FF2B5EF4-FFF2-40B4-BE49-F238E27FC236}">
                <a16:creationId xmlns:a16="http://schemas.microsoft.com/office/drawing/2014/main" id="{FA4D66EB-E06C-9D17-10F9-A5A555AD72D8}"/>
              </a:ext>
            </a:extLst>
          </p:cNvPr>
          <p:cNvPicPr/>
          <p:nvPr/>
        </p:nvPicPr>
        <p:blipFill>
          <a:blip r:embed="rId3"/>
          <a:stretch/>
        </p:blipFill>
        <p:spPr>
          <a:xfrm>
            <a:off x="407160" y="1492200"/>
            <a:ext cx="4233960" cy="3988440"/>
          </a:xfrm>
          <a:prstGeom prst="rect">
            <a:avLst/>
          </a:prstGeom>
          <a:ln w="0">
            <a:noFill/>
          </a:ln>
        </p:spPr>
      </p:pic>
      <p:sp>
        <p:nvSpPr>
          <p:cNvPr id="4" name="PlaceHolder 3">
            <a:extLst>
              <a:ext uri="{FF2B5EF4-FFF2-40B4-BE49-F238E27FC236}">
                <a16:creationId xmlns:a16="http://schemas.microsoft.com/office/drawing/2014/main" id="{DDEEE771-9E66-5FA3-C902-DCD2BA24CB62}"/>
              </a:ext>
            </a:extLst>
          </p:cNvPr>
          <p:cNvSpPr>
            <a:spLocks noGrp="1"/>
          </p:cNvSpPr>
          <p:nvPr>
            <p:ph type="sldNum" idx="3"/>
          </p:nvPr>
        </p:nvSpPr>
        <p:spPr/>
        <p:txBody>
          <a:bodyPr/>
          <a:lstStyle/>
          <a:p>
            <a:fld id="{D5857911-B22D-4A5F-A5A4-3E54ADCA3DBF}" type="slidenum">
              <a:rPr/>
              <a:t>10</a:t>
            </a:fld>
            <a:endParaRPr/>
          </a:p>
        </p:txBody>
      </p:sp>
    </p:spTree>
    <p:extLst>
      <p:ext uri="{BB962C8B-B14F-4D97-AF65-F5344CB8AC3E}">
        <p14:creationId xmlns:p14="http://schemas.microsoft.com/office/powerpoint/2010/main" val="4001617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PlaceHolder 1"/>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a:solidFill>
                  <a:srgbClr val="000000"/>
                </a:solidFill>
                <a:latin typeface="Arial Black"/>
              </a:rPr>
              <a:t>Hybrid Electric Architectures </a:t>
            </a:r>
            <a:endParaRPr lang="en-US" sz="3600" b="0" strike="noStrike" spc="-1">
              <a:latin typeface="Arial"/>
            </a:endParaRPr>
          </a:p>
        </p:txBody>
      </p:sp>
      <p:sp>
        <p:nvSpPr>
          <p:cNvPr id="267" name="PlaceHolder 2"/>
          <p:cNvSpPr>
            <a:spLocks noGrp="1"/>
          </p:cNvSpPr>
          <p:nvPr>
            <p:ph/>
          </p:nvPr>
        </p:nvSpPr>
        <p:spPr>
          <a:xfrm>
            <a:off x="838080" y="1488240"/>
            <a:ext cx="4032000" cy="2491560"/>
          </a:xfrm>
          <a:prstGeom prst="rect">
            <a:avLst/>
          </a:prstGeom>
          <a:noFill/>
          <a:ln w="0">
            <a:noFill/>
          </a:ln>
        </p:spPr>
        <p:txBody>
          <a:bodyPr lIns="90000" tIns="45000" rIns="90000" bIns="45000" anchor="t">
            <a:normAutofit fontScale="77000" lnSpcReduction="20000"/>
          </a:bodyPr>
          <a:lstStyle/>
          <a:p>
            <a:pPr marL="228600" indent="-228600">
              <a:lnSpc>
                <a:spcPct val="100000"/>
              </a:lnSpc>
              <a:spcBef>
                <a:spcPts val="1001"/>
              </a:spcBef>
              <a:buClr>
                <a:srgbClr val="000000"/>
              </a:buClr>
              <a:buFont typeface="Arial"/>
              <a:buChar char="•"/>
            </a:pPr>
            <a:r>
              <a:rPr lang="en-US" sz="2800" b="0" strike="noStrike" spc="-1">
                <a:solidFill>
                  <a:srgbClr val="000000"/>
                </a:solidFill>
                <a:latin typeface="Arial"/>
              </a:rPr>
              <a:t>Historically focused on turbogenerator/battery or turbogenerator/fuel cell aircraft</a:t>
            </a:r>
            <a:endParaRPr lang="en-US" sz="2800" b="0" strike="noStrike" spc="-1">
              <a:latin typeface="Arial"/>
            </a:endParaRPr>
          </a:p>
          <a:p>
            <a:pPr marL="228600" indent="-228600">
              <a:lnSpc>
                <a:spcPct val="100000"/>
              </a:lnSpc>
              <a:spcBef>
                <a:spcPts val="1001"/>
              </a:spcBef>
              <a:buClr>
                <a:srgbClr val="000000"/>
              </a:buClr>
              <a:buFont typeface="Arial"/>
              <a:buChar char="•"/>
            </a:pPr>
            <a:r>
              <a:rPr lang="en-US" sz="2800" b="0" strike="noStrike" spc="-1">
                <a:solidFill>
                  <a:srgbClr val="000000"/>
                </a:solidFill>
                <a:latin typeface="Arial"/>
              </a:rPr>
              <a:t>Full electrification limited by battery technology; mainly limited to 1-2 seat trainer craft</a:t>
            </a:r>
            <a:endParaRPr lang="en-US" sz="2800" b="0" strike="noStrike" spc="-1">
              <a:latin typeface="Arial"/>
            </a:endParaRPr>
          </a:p>
          <a:p>
            <a:pPr>
              <a:lnSpc>
                <a:spcPct val="100000"/>
              </a:lnSpc>
              <a:spcBef>
                <a:spcPts val="1001"/>
              </a:spcBef>
              <a:buNone/>
            </a:pPr>
            <a:endParaRPr lang="en-US" sz="2800" b="0" strike="noStrike" spc="-1">
              <a:latin typeface="Arial"/>
            </a:endParaRPr>
          </a:p>
        </p:txBody>
      </p:sp>
      <p:pic>
        <p:nvPicPr>
          <p:cNvPr id="268" name="Picture 5"/>
          <p:cNvPicPr/>
          <p:nvPr/>
        </p:nvPicPr>
        <p:blipFill>
          <a:blip r:embed="rId3"/>
          <a:stretch/>
        </p:blipFill>
        <p:spPr>
          <a:xfrm>
            <a:off x="4871160" y="1238400"/>
            <a:ext cx="6722280" cy="2483280"/>
          </a:xfrm>
          <a:prstGeom prst="rect">
            <a:avLst/>
          </a:prstGeom>
          <a:ln w="0">
            <a:noFill/>
          </a:ln>
        </p:spPr>
      </p:pic>
      <p:pic>
        <p:nvPicPr>
          <p:cNvPr id="269" name="Picture 7"/>
          <p:cNvPicPr/>
          <p:nvPr/>
        </p:nvPicPr>
        <p:blipFill>
          <a:blip r:embed="rId4"/>
          <a:stretch/>
        </p:blipFill>
        <p:spPr>
          <a:xfrm>
            <a:off x="838080" y="3956760"/>
            <a:ext cx="6072480" cy="2414520"/>
          </a:xfrm>
          <a:prstGeom prst="rect">
            <a:avLst/>
          </a:prstGeom>
          <a:ln w="0">
            <a:noFill/>
          </a:ln>
        </p:spPr>
      </p:pic>
      <p:sp>
        <p:nvSpPr>
          <p:cNvPr id="270" name="TextBox 8"/>
          <p:cNvSpPr/>
          <p:nvPr/>
        </p:nvSpPr>
        <p:spPr>
          <a:xfrm>
            <a:off x="838080" y="6372360"/>
            <a:ext cx="4622040" cy="2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800" b="0" strike="noStrike" spc="-1">
                <a:solidFill>
                  <a:srgbClr val="000000"/>
                </a:solidFill>
                <a:latin typeface="Arial"/>
                <a:ea typeface="DejaVu Sans"/>
              </a:rPr>
              <a:t>https://zeroavia.com/complete-flight-test/</a:t>
            </a:r>
            <a:endParaRPr lang="en-US" sz="800" b="0" strike="noStrike" spc="-1">
              <a:latin typeface="Arial"/>
            </a:endParaRPr>
          </a:p>
        </p:txBody>
      </p:sp>
      <p:sp>
        <p:nvSpPr>
          <p:cNvPr id="271" name="TextBox 9"/>
          <p:cNvSpPr/>
          <p:nvPr/>
        </p:nvSpPr>
        <p:spPr>
          <a:xfrm>
            <a:off x="4871160" y="3722760"/>
            <a:ext cx="2592360" cy="2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800" b="0" strike="noStrike" spc="-1">
                <a:solidFill>
                  <a:srgbClr val="000000"/>
                </a:solidFill>
                <a:latin typeface="Arial"/>
                <a:ea typeface="DejaVu Sans"/>
              </a:rPr>
              <a:t>https://www.ampaire.com/vehicles/eco-caravan</a:t>
            </a:r>
            <a:endParaRPr lang="en-US" sz="800" b="0" strike="noStrike" spc="-1">
              <a:latin typeface="Arial"/>
            </a:endParaRPr>
          </a:p>
        </p:txBody>
      </p:sp>
      <p:pic>
        <p:nvPicPr>
          <p:cNvPr id="272" name="Picture 11"/>
          <p:cNvPicPr/>
          <p:nvPr/>
        </p:nvPicPr>
        <p:blipFill>
          <a:blip r:embed="rId5"/>
          <a:stretch/>
        </p:blipFill>
        <p:spPr>
          <a:xfrm>
            <a:off x="7146000" y="3722760"/>
            <a:ext cx="4447440" cy="1942560"/>
          </a:xfrm>
          <a:prstGeom prst="rect">
            <a:avLst/>
          </a:prstGeom>
          <a:ln w="0">
            <a:noFill/>
          </a:ln>
        </p:spPr>
      </p:pic>
      <p:sp>
        <p:nvSpPr>
          <p:cNvPr id="273" name="TextBox 13"/>
          <p:cNvSpPr/>
          <p:nvPr/>
        </p:nvSpPr>
        <p:spPr>
          <a:xfrm>
            <a:off x="7146000" y="5666400"/>
            <a:ext cx="6096240" cy="2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800" b="0" strike="noStrike" spc="-1">
                <a:solidFill>
                  <a:srgbClr val="000000"/>
                </a:solidFill>
                <a:latin typeface="Arial"/>
                <a:ea typeface="ＭＳ Ｐゴシック"/>
              </a:rPr>
              <a:t>Image credit: Pipistrel Velis Pilot’s Manual, June 2020</a:t>
            </a:r>
            <a:endParaRPr lang="en-US" sz="800" b="0" strike="noStrike" spc="-1">
              <a:latin typeface="Arial"/>
            </a:endParaRPr>
          </a:p>
        </p:txBody>
      </p:sp>
      <p:sp>
        <p:nvSpPr>
          <p:cNvPr id="274" name="TextBox 14"/>
          <p:cNvSpPr/>
          <p:nvPr/>
        </p:nvSpPr>
        <p:spPr>
          <a:xfrm>
            <a:off x="7146000" y="5774040"/>
            <a:ext cx="482796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0" strike="noStrike" spc="-1">
                <a:solidFill>
                  <a:srgbClr val="000000"/>
                </a:solidFill>
                <a:latin typeface="Arial"/>
                <a:ea typeface="DejaVu Sans"/>
              </a:rPr>
              <a:t>Top: Ampaire Eco Caravan</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Bottom Left: ZeroAvia Dornier 228</a:t>
            </a:r>
            <a:endParaRPr lang="en-US" sz="1800" b="0" strike="noStrike" spc="-1">
              <a:latin typeface="Arial"/>
            </a:endParaRPr>
          </a:p>
          <a:p>
            <a:pPr>
              <a:lnSpc>
                <a:spcPct val="100000"/>
              </a:lnSpc>
              <a:buNone/>
            </a:pPr>
            <a:r>
              <a:rPr lang="en-US" sz="1800" b="0" strike="noStrike" spc="-1">
                <a:solidFill>
                  <a:srgbClr val="000000"/>
                </a:solidFill>
                <a:latin typeface="Arial"/>
                <a:ea typeface="DejaVu Sans"/>
              </a:rPr>
              <a:t>Bottom Right: Pipistrel Velis Electro </a:t>
            </a:r>
            <a:endParaRPr lang="en-US" sz="1800" b="0" strike="noStrike" spc="-1">
              <a:latin typeface="Arial"/>
            </a:endParaRPr>
          </a:p>
        </p:txBody>
      </p:sp>
      <p:sp>
        <p:nvSpPr>
          <p:cNvPr id="4" name="PlaceHolder 3"/>
          <p:cNvSpPr>
            <a:spLocks noGrp="1"/>
          </p:cNvSpPr>
          <p:nvPr>
            <p:ph type="sldNum" idx="3"/>
          </p:nvPr>
        </p:nvSpPr>
        <p:spPr/>
        <p:txBody>
          <a:bodyPr/>
          <a:lstStyle/>
          <a:p>
            <a:fld id="{16F05E37-A301-4C6E-8517-850DC0A09635}" type="slidenum">
              <a:rPr/>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PlaceHolder 1"/>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a:solidFill>
                  <a:srgbClr val="000000"/>
                </a:solidFill>
                <a:latin typeface="Arial Black"/>
              </a:rPr>
              <a:t>Hybrid Electric Architectures </a:t>
            </a:r>
            <a:endParaRPr lang="en-US" sz="3600" b="0" strike="noStrike" spc="-1">
              <a:latin typeface="Arial"/>
            </a:endParaRPr>
          </a:p>
        </p:txBody>
      </p:sp>
      <p:sp>
        <p:nvSpPr>
          <p:cNvPr id="276" name="PlaceHolder 2"/>
          <p:cNvSpPr>
            <a:spLocks noGrp="1"/>
          </p:cNvSpPr>
          <p:nvPr>
            <p:ph/>
          </p:nvPr>
        </p:nvSpPr>
        <p:spPr>
          <a:xfrm>
            <a:off x="7192108" y="1804485"/>
            <a:ext cx="4659092" cy="4769183"/>
          </a:xfrm>
          <a:prstGeom prst="rect">
            <a:avLst/>
          </a:prstGeom>
          <a:noFill/>
          <a:ln w="0">
            <a:noFill/>
          </a:ln>
        </p:spPr>
        <p:txBody>
          <a:bodyPr lIns="90000" tIns="45000" rIns="90000" bIns="45000" anchor="t">
            <a:normAutofit fontScale="99500"/>
          </a:bodyPr>
          <a:lstStyle/>
          <a:p>
            <a:pPr marL="228600" indent="-228600">
              <a:lnSpc>
                <a:spcPct val="100000"/>
              </a:lnSpc>
              <a:spcBef>
                <a:spcPts val="1001"/>
              </a:spcBef>
              <a:buClr>
                <a:srgbClr val="000000"/>
              </a:buClr>
              <a:buFont typeface="Arial"/>
              <a:buChar char="•"/>
            </a:pPr>
            <a:r>
              <a:rPr lang="en-US" sz="2200" b="0" strike="noStrike" spc="-1" dirty="0">
                <a:solidFill>
                  <a:srgbClr val="000000"/>
                </a:solidFill>
                <a:latin typeface="Arial"/>
              </a:rPr>
              <a:t>Prominent example of an all-electric hybrid: NASA’s X-57 Maxwell</a:t>
            </a:r>
          </a:p>
          <a:p>
            <a:pPr lvl="1">
              <a:lnSpc>
                <a:spcPct val="100000"/>
              </a:lnSpc>
              <a:spcBef>
                <a:spcPts val="1001"/>
              </a:spcBef>
              <a:buClr>
                <a:srgbClr val="000000"/>
              </a:buClr>
              <a:buFont typeface="Arial"/>
              <a:buChar char="•"/>
            </a:pPr>
            <a:r>
              <a:rPr lang="en-US" sz="2000" spc="-1" dirty="0">
                <a:solidFill>
                  <a:srgbClr val="000000"/>
                </a:solidFill>
                <a:latin typeface="Arial"/>
              </a:rPr>
              <a:t>Fuel cell/battery hybrid adapted from </a:t>
            </a:r>
            <a:r>
              <a:rPr lang="en-US" sz="2000" spc="-1" dirty="0" err="1">
                <a:solidFill>
                  <a:srgbClr val="000000"/>
                </a:solidFill>
                <a:latin typeface="Arial"/>
              </a:rPr>
              <a:t>Tecnam</a:t>
            </a:r>
            <a:r>
              <a:rPr lang="en-US" sz="2000" spc="-1" dirty="0">
                <a:solidFill>
                  <a:srgbClr val="000000"/>
                </a:solidFill>
                <a:latin typeface="Arial"/>
              </a:rPr>
              <a:t> P2006T</a:t>
            </a:r>
          </a:p>
          <a:p>
            <a:pPr lvl="1">
              <a:lnSpc>
                <a:spcPct val="100000"/>
              </a:lnSpc>
              <a:spcBef>
                <a:spcPts val="1001"/>
              </a:spcBef>
              <a:buClr>
                <a:srgbClr val="000000"/>
              </a:buClr>
              <a:buFont typeface="Arial"/>
              <a:buChar char="•"/>
            </a:pPr>
            <a:r>
              <a:rPr lang="en-US" sz="2000" spc="-1" dirty="0">
                <a:solidFill>
                  <a:srgbClr val="000000"/>
                </a:solidFill>
              </a:rPr>
              <a:t>Project begun in 2016; cancelled in 2023</a:t>
            </a:r>
            <a:endParaRPr lang="en-US" sz="2000" b="0" strike="noStrike" spc="-1" dirty="0">
              <a:latin typeface="Arial"/>
            </a:endParaRPr>
          </a:p>
          <a:p>
            <a:pPr marL="685800" lvl="1" indent="-228600">
              <a:lnSpc>
                <a:spcPct val="100000"/>
              </a:lnSpc>
              <a:spcBef>
                <a:spcPts val="499"/>
              </a:spcBef>
              <a:buClr>
                <a:srgbClr val="000000"/>
              </a:buClr>
              <a:buFont typeface="Arial"/>
              <a:buChar char="•"/>
            </a:pPr>
            <a:r>
              <a:rPr lang="en-US" sz="2000" b="0" strike="noStrike" spc="-1" dirty="0">
                <a:solidFill>
                  <a:srgbClr val="000000"/>
                </a:solidFill>
                <a:latin typeface="Arial"/>
              </a:rPr>
              <a:t>Note: Utilized solid oxide fuel cells (SOFC), rather than the more common proton exchange membrane</a:t>
            </a:r>
            <a:endParaRPr lang="en-US" sz="2000" b="0" strike="noStrike" spc="-1" dirty="0">
              <a:latin typeface="Arial"/>
            </a:endParaRPr>
          </a:p>
        </p:txBody>
      </p:sp>
      <p:pic>
        <p:nvPicPr>
          <p:cNvPr id="278" name="Picture 8"/>
          <p:cNvPicPr/>
          <p:nvPr/>
        </p:nvPicPr>
        <p:blipFill>
          <a:blip r:embed="rId3"/>
          <a:stretch/>
        </p:blipFill>
        <p:spPr>
          <a:xfrm>
            <a:off x="340800" y="1804485"/>
            <a:ext cx="6665289" cy="3643768"/>
          </a:xfrm>
          <a:prstGeom prst="rect">
            <a:avLst/>
          </a:prstGeom>
          <a:ln w="0">
            <a:noFill/>
          </a:ln>
        </p:spPr>
      </p:pic>
      <p:sp>
        <p:nvSpPr>
          <p:cNvPr id="279" name="TextBox 9"/>
          <p:cNvSpPr/>
          <p:nvPr/>
        </p:nvSpPr>
        <p:spPr>
          <a:xfrm>
            <a:off x="2155140" y="5515026"/>
            <a:ext cx="3387600" cy="2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800" b="0" strike="noStrike" spc="-1" dirty="0">
                <a:solidFill>
                  <a:srgbClr val="000000"/>
                </a:solidFill>
                <a:latin typeface="Arial"/>
                <a:ea typeface="DejaVu Sans"/>
              </a:rPr>
              <a:t>https://www.nasa.gov/centers-and-facilities/armstrong/x-57-maxwell/</a:t>
            </a:r>
            <a:endParaRPr lang="en-US" sz="800" b="0" strike="noStrike" spc="-1" dirty="0">
              <a:latin typeface="Arial"/>
            </a:endParaRPr>
          </a:p>
        </p:txBody>
      </p:sp>
      <p:sp>
        <p:nvSpPr>
          <p:cNvPr id="4" name="PlaceHolder 3"/>
          <p:cNvSpPr>
            <a:spLocks noGrp="1"/>
          </p:cNvSpPr>
          <p:nvPr>
            <p:ph type="sldNum" idx="3"/>
          </p:nvPr>
        </p:nvSpPr>
        <p:spPr/>
        <p:txBody>
          <a:bodyPr/>
          <a:lstStyle/>
          <a:p>
            <a:fld id="{D5857911-B22D-4A5F-A5A4-3E54ADCA3DBF}" type="slidenum">
              <a:rPr/>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p>
            <a:pPr>
              <a:lnSpc>
                <a:spcPct val="90000"/>
              </a:lnSpc>
              <a:buNone/>
            </a:pPr>
            <a:r>
              <a:rPr lang="en-US" sz="3600" b="0" strike="noStrike" spc="-1">
                <a:solidFill>
                  <a:srgbClr val="000000"/>
                </a:solidFill>
                <a:latin typeface="Arial Black"/>
              </a:rPr>
              <a:t>Energy Management Systems</a:t>
            </a:r>
            <a:endParaRPr lang="en-US" sz="3600" b="0" strike="noStrike" spc="-1">
              <a:latin typeface="Arial"/>
            </a:endParaRPr>
          </a:p>
        </p:txBody>
      </p:sp>
      <p:sp>
        <p:nvSpPr>
          <p:cNvPr id="281" name="PlaceHolder 2"/>
          <p:cNvSpPr>
            <a:spLocks noGrp="1"/>
          </p:cNvSpPr>
          <p:nvPr>
            <p:ph/>
          </p:nvPr>
        </p:nvSpPr>
        <p:spPr>
          <a:xfrm>
            <a:off x="6172200" y="1704240"/>
            <a:ext cx="5180400" cy="2446200"/>
          </a:xfrm>
          <a:prstGeom prst="rect">
            <a:avLst/>
          </a:prstGeom>
          <a:noFill/>
          <a:ln w="0">
            <a:noFill/>
          </a:ln>
        </p:spPr>
        <p:txBody>
          <a:bodyPr lIns="0" tIns="0" rIns="0" bIns="0" anchor="t">
            <a:normAutofit fontScale="92500" lnSpcReduction="10000"/>
          </a:bodyPr>
          <a:lstStyle/>
          <a:p>
            <a:pPr marL="228600" indent="-228600">
              <a:lnSpc>
                <a:spcPct val="100000"/>
              </a:lnSpc>
              <a:spcBef>
                <a:spcPts val="1001"/>
              </a:spcBef>
              <a:buClr>
                <a:srgbClr val="000000"/>
              </a:buClr>
              <a:buFont typeface="Arial"/>
              <a:buChar char="•"/>
            </a:pPr>
            <a:r>
              <a:rPr lang="en-US" sz="2800" b="0" strike="noStrike" spc="-1">
                <a:solidFill>
                  <a:srgbClr val="000000"/>
                </a:solidFill>
                <a:latin typeface="Arial"/>
              </a:rPr>
              <a:t>Four primary approaches:</a:t>
            </a:r>
            <a:endParaRPr lang="en-US" sz="2800" b="0" strike="noStrike" spc="-1">
              <a:latin typeface="Arial"/>
            </a:endParaRPr>
          </a:p>
          <a:p>
            <a:pPr marL="685800" lvl="1" indent="-228600">
              <a:lnSpc>
                <a:spcPct val="100000"/>
              </a:lnSpc>
              <a:spcBef>
                <a:spcPts val="499"/>
              </a:spcBef>
              <a:buClr>
                <a:srgbClr val="000000"/>
              </a:buClr>
              <a:buFont typeface="Arial"/>
              <a:buChar char="•"/>
            </a:pPr>
            <a:r>
              <a:rPr lang="en-US" sz="2400" b="0" strike="noStrike" spc="-1">
                <a:solidFill>
                  <a:srgbClr val="000000"/>
                </a:solidFill>
                <a:latin typeface="Arial"/>
              </a:rPr>
              <a:t>Operational Mode-Based Control (OMC)</a:t>
            </a:r>
            <a:endParaRPr lang="en-US" sz="2400" b="0" strike="noStrike" spc="-1">
              <a:latin typeface="Arial"/>
            </a:endParaRPr>
          </a:p>
          <a:p>
            <a:pPr marL="685800" lvl="1" indent="-228600">
              <a:lnSpc>
                <a:spcPct val="100000"/>
              </a:lnSpc>
              <a:spcBef>
                <a:spcPts val="499"/>
              </a:spcBef>
              <a:buClr>
                <a:srgbClr val="000000"/>
              </a:buClr>
              <a:buFont typeface="Arial"/>
              <a:buChar char="•"/>
            </a:pPr>
            <a:r>
              <a:rPr lang="en-US" sz="2400" b="0" strike="noStrike" spc="-1">
                <a:solidFill>
                  <a:srgbClr val="000000"/>
                </a:solidFill>
                <a:latin typeface="Arial"/>
              </a:rPr>
              <a:t>Fuzzy Logic Control (FLC)</a:t>
            </a:r>
            <a:endParaRPr lang="en-US" sz="2400" b="0" strike="noStrike" spc="-1">
              <a:latin typeface="Arial"/>
            </a:endParaRPr>
          </a:p>
          <a:p>
            <a:pPr marL="685800" lvl="1" indent="-228600">
              <a:lnSpc>
                <a:spcPct val="100000"/>
              </a:lnSpc>
              <a:spcBef>
                <a:spcPts val="499"/>
              </a:spcBef>
              <a:buClr>
                <a:srgbClr val="000000"/>
              </a:buClr>
              <a:buFont typeface="Arial"/>
              <a:buChar char="•"/>
            </a:pPr>
            <a:r>
              <a:rPr lang="en-US" sz="2400" b="0" strike="noStrike" spc="-1">
                <a:solidFill>
                  <a:srgbClr val="000000"/>
                </a:solidFill>
                <a:latin typeface="Arial"/>
              </a:rPr>
              <a:t>Equivalent Consumption Minimization Strategies (ECMS)</a:t>
            </a:r>
            <a:endParaRPr lang="en-US" sz="2400" b="0" strike="noStrike" spc="-1">
              <a:latin typeface="Arial"/>
            </a:endParaRPr>
          </a:p>
          <a:p>
            <a:pPr marL="685800" lvl="1" indent="-228600">
              <a:lnSpc>
                <a:spcPct val="100000"/>
              </a:lnSpc>
              <a:spcBef>
                <a:spcPts val="499"/>
              </a:spcBef>
              <a:buClr>
                <a:srgbClr val="000000"/>
              </a:buClr>
              <a:buFont typeface="Arial"/>
              <a:buChar char="•"/>
            </a:pPr>
            <a:r>
              <a:rPr lang="en-US" sz="2400" b="0" strike="noStrike" spc="-1">
                <a:solidFill>
                  <a:srgbClr val="000000"/>
                </a:solidFill>
                <a:latin typeface="Arial"/>
              </a:rPr>
              <a:t>Predictive Controls</a:t>
            </a:r>
            <a:endParaRPr lang="en-US" sz="2400" b="0" strike="noStrike" spc="-1">
              <a:latin typeface="Arial"/>
            </a:endParaRPr>
          </a:p>
        </p:txBody>
      </p:sp>
      <p:sp>
        <p:nvSpPr>
          <p:cNvPr id="282" name="PlaceHolder 3"/>
          <p:cNvSpPr>
            <a:spLocks noGrp="1"/>
          </p:cNvSpPr>
          <p:nvPr>
            <p:ph/>
          </p:nvPr>
        </p:nvSpPr>
        <p:spPr>
          <a:xfrm>
            <a:off x="838080" y="4164840"/>
            <a:ext cx="7601400" cy="2446200"/>
          </a:xfrm>
          <a:prstGeom prst="rect">
            <a:avLst/>
          </a:prstGeom>
          <a:noFill/>
          <a:ln w="0">
            <a:noFill/>
          </a:ln>
        </p:spPr>
        <p:txBody>
          <a:bodyPr lIns="0" tIns="0" rIns="0" bIns="0" anchor="t">
            <a:normAutofit/>
          </a:bodyPr>
          <a:lstStyle/>
          <a:p>
            <a:pPr marL="228600" indent="-228600">
              <a:lnSpc>
                <a:spcPct val="100000"/>
              </a:lnSpc>
              <a:spcBef>
                <a:spcPts val="1001"/>
              </a:spcBef>
              <a:buClr>
                <a:srgbClr val="000000"/>
              </a:buClr>
              <a:buFont typeface="Arial"/>
              <a:buChar char="•"/>
            </a:pPr>
            <a:r>
              <a:rPr lang="en-US" sz="2800" b="0" strike="noStrike" spc="-1">
                <a:solidFill>
                  <a:srgbClr val="000000"/>
                </a:solidFill>
                <a:latin typeface="Arial"/>
              </a:rPr>
              <a:t>OMC defines a number of operating “modes” and assigns output power for each supply accordingly</a:t>
            </a:r>
            <a:endParaRPr lang="en-US" sz="2800" b="0" strike="noStrike" spc="-1">
              <a:latin typeface="Arial"/>
            </a:endParaRPr>
          </a:p>
          <a:p>
            <a:pPr marL="228600" indent="-228600">
              <a:lnSpc>
                <a:spcPct val="100000"/>
              </a:lnSpc>
              <a:spcBef>
                <a:spcPts val="1001"/>
              </a:spcBef>
              <a:buClr>
                <a:srgbClr val="000000"/>
              </a:buClr>
              <a:buFont typeface="Arial"/>
              <a:buChar char="•"/>
            </a:pPr>
            <a:r>
              <a:rPr lang="en-US" sz="2800" b="0" strike="noStrike" spc="-1">
                <a:solidFill>
                  <a:srgbClr val="000000"/>
                </a:solidFill>
                <a:latin typeface="Arial"/>
              </a:rPr>
              <a:t>Also called rules-based control or state-machines</a:t>
            </a:r>
            <a:endParaRPr lang="en-US" sz="2800" b="0" strike="noStrike" spc="-1">
              <a:latin typeface="Arial"/>
            </a:endParaRPr>
          </a:p>
        </p:txBody>
      </p:sp>
      <p:pic>
        <p:nvPicPr>
          <p:cNvPr id="283" name="Picture 5"/>
          <p:cNvPicPr/>
          <p:nvPr/>
        </p:nvPicPr>
        <p:blipFill>
          <a:blip r:embed="rId3"/>
          <a:stretch/>
        </p:blipFill>
        <p:spPr>
          <a:xfrm>
            <a:off x="1089360" y="1690560"/>
            <a:ext cx="5005800" cy="1873440"/>
          </a:xfrm>
          <a:prstGeom prst="rect">
            <a:avLst/>
          </a:prstGeom>
          <a:ln w="0">
            <a:noFill/>
          </a:ln>
        </p:spPr>
      </p:pic>
      <p:sp>
        <p:nvSpPr>
          <p:cNvPr id="284" name="TextBox 6"/>
          <p:cNvSpPr/>
          <p:nvPr/>
        </p:nvSpPr>
        <p:spPr>
          <a:xfrm>
            <a:off x="1089360" y="3578760"/>
            <a:ext cx="4357080" cy="2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800" b="0" strike="noStrike" spc="-1">
                <a:solidFill>
                  <a:srgbClr val="000000"/>
                </a:solidFill>
                <a:latin typeface="Arial"/>
                <a:ea typeface="DejaVu Sans"/>
              </a:rPr>
              <a:t>Wise et. al. 2026, [35]</a:t>
            </a:r>
            <a:endParaRPr lang="en-US" sz="800" b="0" strike="noStrike" spc="-1">
              <a:latin typeface="Arial"/>
            </a:endParaRPr>
          </a:p>
        </p:txBody>
      </p:sp>
      <p:pic>
        <p:nvPicPr>
          <p:cNvPr id="285" name="Picture 8"/>
          <p:cNvPicPr/>
          <p:nvPr/>
        </p:nvPicPr>
        <p:blipFill>
          <a:blip r:embed="rId4"/>
          <a:stretch/>
        </p:blipFill>
        <p:spPr>
          <a:xfrm>
            <a:off x="8130240" y="4150440"/>
            <a:ext cx="3115122" cy="2217600"/>
          </a:xfrm>
          <a:prstGeom prst="rect">
            <a:avLst/>
          </a:prstGeom>
          <a:ln w="0">
            <a:noFill/>
          </a:ln>
        </p:spPr>
      </p:pic>
      <p:sp>
        <p:nvSpPr>
          <p:cNvPr id="286" name="TextBox 9"/>
          <p:cNvSpPr/>
          <p:nvPr/>
        </p:nvSpPr>
        <p:spPr>
          <a:xfrm>
            <a:off x="8130240" y="6261840"/>
            <a:ext cx="2340720" cy="2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800" b="0" strike="noStrike" spc="-1">
                <a:solidFill>
                  <a:srgbClr val="000000"/>
                </a:solidFill>
                <a:latin typeface="Arial"/>
                <a:ea typeface="DejaVu Sans"/>
              </a:rPr>
              <a:t>Lee et. al. 2014, [38]</a:t>
            </a:r>
            <a:endParaRPr lang="en-US" sz="800" b="0" strike="noStrike" spc="-1">
              <a:latin typeface="Arial"/>
            </a:endParaRPr>
          </a:p>
        </p:txBody>
      </p:sp>
      <p:sp>
        <p:nvSpPr>
          <p:cNvPr id="5" name="PlaceHolder 4"/>
          <p:cNvSpPr>
            <a:spLocks noGrp="1"/>
          </p:cNvSpPr>
          <p:nvPr>
            <p:ph type="sldNum" idx="5"/>
          </p:nvPr>
        </p:nvSpPr>
        <p:spPr/>
        <p:txBody>
          <a:bodyPr/>
          <a:lstStyle/>
          <a:p>
            <a:fld id="{CF667958-50FC-4F7D-B7E1-10E4F410500E}" type="slidenum">
              <a:rPr/>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 name="PlaceHolder 1"/>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a:solidFill>
                  <a:srgbClr val="000000"/>
                </a:solidFill>
                <a:latin typeface="Arial Black"/>
              </a:rPr>
              <a:t>Energy Management Systems </a:t>
            </a:r>
            <a:endParaRPr lang="en-US" sz="3600" b="0" strike="noStrike" spc="-1">
              <a:latin typeface="Arial"/>
            </a:endParaRPr>
          </a:p>
        </p:txBody>
      </p:sp>
      <p:sp>
        <p:nvSpPr>
          <p:cNvPr id="288" name="PlaceHolder 2"/>
          <p:cNvSpPr>
            <a:spLocks noGrp="1"/>
          </p:cNvSpPr>
          <p:nvPr>
            <p:ph/>
          </p:nvPr>
        </p:nvSpPr>
        <p:spPr>
          <a:xfrm>
            <a:off x="838080" y="1825560"/>
            <a:ext cx="4205520" cy="4666320"/>
          </a:xfrm>
          <a:prstGeom prst="rect">
            <a:avLst/>
          </a:prstGeom>
          <a:noFill/>
          <a:ln w="0">
            <a:noFill/>
          </a:ln>
        </p:spPr>
        <p:txBody>
          <a:bodyPr lIns="90000" tIns="45000" rIns="90000" bIns="45000" anchor="t">
            <a:normAutofit fontScale="83000" lnSpcReduction="10000"/>
          </a:bodyPr>
          <a:lstStyle/>
          <a:p>
            <a:pPr marL="228600" indent="-228600">
              <a:lnSpc>
                <a:spcPct val="100000"/>
              </a:lnSpc>
              <a:spcBef>
                <a:spcPts val="1001"/>
              </a:spcBef>
              <a:buClr>
                <a:srgbClr val="000000"/>
              </a:buClr>
              <a:buFont typeface="Arial"/>
              <a:buChar char="•"/>
            </a:pPr>
            <a:r>
              <a:rPr lang="en-US" sz="2800" b="0" strike="noStrike" spc="-1" dirty="0">
                <a:solidFill>
                  <a:srgbClr val="000000"/>
                </a:solidFill>
                <a:latin typeface="Arial"/>
              </a:rPr>
              <a:t>FLC’s combine aspects of machine learning and rules-based controllers</a:t>
            </a:r>
            <a:endParaRPr lang="en-US" sz="2800" b="0" strike="noStrike" spc="-1" dirty="0">
              <a:latin typeface="Arial"/>
            </a:endParaRPr>
          </a:p>
          <a:p>
            <a:pPr marL="228600" indent="-228600">
              <a:lnSpc>
                <a:spcPct val="100000"/>
              </a:lnSpc>
              <a:spcBef>
                <a:spcPts val="1001"/>
              </a:spcBef>
              <a:buClr>
                <a:srgbClr val="000000"/>
              </a:buClr>
              <a:buFont typeface="Arial"/>
              <a:buChar char="•"/>
            </a:pPr>
            <a:r>
              <a:rPr lang="en-US" sz="2800" b="0" strike="noStrike" spc="-1" dirty="0">
                <a:solidFill>
                  <a:srgbClr val="000000"/>
                </a:solidFill>
                <a:latin typeface="Arial"/>
              </a:rPr>
              <a:t>Inputs are classified using a set of membership functions</a:t>
            </a:r>
            <a:endParaRPr lang="en-US" sz="2800" b="0" strike="noStrike" spc="-1" dirty="0">
              <a:latin typeface="Arial"/>
            </a:endParaRPr>
          </a:p>
          <a:p>
            <a:pPr marL="228600" indent="-228600">
              <a:lnSpc>
                <a:spcPct val="100000"/>
              </a:lnSpc>
              <a:spcBef>
                <a:spcPts val="1001"/>
              </a:spcBef>
              <a:buClr>
                <a:srgbClr val="000000"/>
              </a:buClr>
              <a:buFont typeface="Arial"/>
              <a:buChar char="•"/>
            </a:pPr>
            <a:r>
              <a:rPr lang="en-US" sz="2800" b="0" strike="noStrike" spc="-1" dirty="0">
                <a:solidFill>
                  <a:srgbClr val="000000"/>
                </a:solidFill>
                <a:latin typeface="Arial"/>
              </a:rPr>
              <a:t>Classified inputs subjected to a set of logical rules similar to an OMC to determine output</a:t>
            </a:r>
            <a:endParaRPr lang="en-US" sz="2800" b="0" strike="noStrike" spc="-1" dirty="0">
              <a:latin typeface="Arial"/>
            </a:endParaRPr>
          </a:p>
          <a:p>
            <a:pPr marL="228600" indent="-228600">
              <a:lnSpc>
                <a:spcPct val="100000"/>
              </a:lnSpc>
              <a:spcBef>
                <a:spcPts val="1001"/>
              </a:spcBef>
              <a:buClr>
                <a:srgbClr val="000000"/>
              </a:buClr>
              <a:buFont typeface="Arial"/>
              <a:buChar char="•"/>
            </a:pPr>
            <a:r>
              <a:rPr lang="en-US" sz="2800" b="0" strike="noStrike" spc="-1" dirty="0">
                <a:solidFill>
                  <a:srgbClr val="000000"/>
                </a:solidFill>
                <a:latin typeface="Arial"/>
              </a:rPr>
              <a:t>Generally more flexible and better accounts for grey areas in between states</a:t>
            </a:r>
            <a:endParaRPr lang="en-US" sz="2800" b="0" strike="noStrike" spc="-1" dirty="0">
              <a:latin typeface="Arial"/>
            </a:endParaRPr>
          </a:p>
          <a:p>
            <a:pPr>
              <a:lnSpc>
                <a:spcPct val="100000"/>
              </a:lnSpc>
              <a:spcBef>
                <a:spcPts val="1001"/>
              </a:spcBef>
              <a:buNone/>
            </a:pPr>
            <a:endParaRPr lang="en-US" sz="2800" b="0" strike="noStrike" spc="-1" dirty="0">
              <a:latin typeface="Arial"/>
            </a:endParaRPr>
          </a:p>
        </p:txBody>
      </p:sp>
      <p:pic>
        <p:nvPicPr>
          <p:cNvPr id="289" name="Picture 5"/>
          <p:cNvPicPr/>
          <p:nvPr/>
        </p:nvPicPr>
        <p:blipFill>
          <a:blip r:embed="rId3"/>
          <a:stretch/>
        </p:blipFill>
        <p:spPr>
          <a:xfrm>
            <a:off x="5192280" y="1690560"/>
            <a:ext cx="6160680" cy="3430440"/>
          </a:xfrm>
          <a:prstGeom prst="rect">
            <a:avLst/>
          </a:prstGeom>
          <a:ln w="0">
            <a:noFill/>
          </a:ln>
        </p:spPr>
      </p:pic>
      <p:sp>
        <p:nvSpPr>
          <p:cNvPr id="290" name="TextBox 6"/>
          <p:cNvSpPr/>
          <p:nvPr/>
        </p:nvSpPr>
        <p:spPr>
          <a:xfrm>
            <a:off x="5276160" y="5330160"/>
            <a:ext cx="6076440" cy="1186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a:lnSpc>
                <a:spcPct val="100000"/>
              </a:lnSpc>
              <a:buClr>
                <a:srgbClr val="000000"/>
              </a:buClr>
              <a:buFont typeface="Arial"/>
              <a:buChar char="•"/>
            </a:pPr>
            <a:r>
              <a:rPr lang="en-US" sz="1800" b="0" strike="noStrike" spc="-1">
                <a:solidFill>
                  <a:srgbClr val="000000"/>
                </a:solidFill>
                <a:latin typeface="Arial"/>
                <a:ea typeface="DejaVu Sans"/>
              </a:rPr>
              <a:t>Number of inputs is arbitrary; battery SOC and power demand most commonly used</a:t>
            </a:r>
            <a:endParaRPr lang="en-US" sz="1800" b="0" strike="noStrike" spc="-1">
              <a:latin typeface="Arial"/>
            </a:endParaRPr>
          </a:p>
          <a:p>
            <a:pPr marL="743040" lvl="1" indent="-285840">
              <a:lnSpc>
                <a:spcPct val="100000"/>
              </a:lnSpc>
              <a:buClr>
                <a:srgbClr val="000000"/>
              </a:buClr>
              <a:buFont typeface="Arial"/>
              <a:buChar char="•"/>
            </a:pPr>
            <a:r>
              <a:rPr lang="en-US" sz="1800" b="0" strike="noStrike" spc="-1">
                <a:solidFill>
                  <a:srgbClr val="000000"/>
                </a:solidFill>
                <a:latin typeface="Arial"/>
                <a:ea typeface="DejaVu Sans"/>
              </a:rPr>
              <a:t>Suggested additions: hydrogen consumption, fuel tank level, ultracapacitor SOC (if present)</a:t>
            </a:r>
            <a:endParaRPr lang="en-US" sz="1800" b="0" strike="noStrike" spc="-1">
              <a:latin typeface="Arial"/>
            </a:endParaRPr>
          </a:p>
        </p:txBody>
      </p:sp>
      <p:sp>
        <p:nvSpPr>
          <p:cNvPr id="4" name="PlaceHolder 3"/>
          <p:cNvSpPr>
            <a:spLocks noGrp="1"/>
          </p:cNvSpPr>
          <p:nvPr>
            <p:ph type="sldNum" idx="3"/>
          </p:nvPr>
        </p:nvSpPr>
        <p:spPr/>
        <p:txBody>
          <a:bodyPr/>
          <a:lstStyle/>
          <a:p>
            <a:fld id="{1DBC0134-ECF0-483B-B8FF-D84157F67902}" type="slidenum">
              <a:rPr/>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p>
            <a:pPr>
              <a:lnSpc>
                <a:spcPct val="90000"/>
              </a:lnSpc>
              <a:buNone/>
            </a:pPr>
            <a:r>
              <a:rPr lang="en-US" sz="3600" b="0" strike="noStrike" spc="-1">
                <a:solidFill>
                  <a:srgbClr val="000000"/>
                </a:solidFill>
                <a:latin typeface="Arial Black"/>
              </a:rPr>
              <a:t>Energy Management Systems</a:t>
            </a:r>
            <a:endParaRPr lang="en-US" sz="3600" b="0" strike="noStrike" spc="-1">
              <a:latin typeface="Arial"/>
            </a:endParaRPr>
          </a:p>
        </p:txBody>
      </p:sp>
      <p:sp>
        <p:nvSpPr>
          <p:cNvPr id="292" name="PlaceHolder 2"/>
          <p:cNvSpPr>
            <a:spLocks noGrp="1"/>
          </p:cNvSpPr>
          <p:nvPr>
            <p:ph/>
          </p:nvPr>
        </p:nvSpPr>
        <p:spPr>
          <a:xfrm>
            <a:off x="838080" y="1825560"/>
            <a:ext cx="5180400" cy="4042800"/>
          </a:xfrm>
          <a:prstGeom prst="rect">
            <a:avLst/>
          </a:prstGeom>
          <a:noFill/>
          <a:ln w="0">
            <a:noFill/>
          </a:ln>
        </p:spPr>
        <p:txBody>
          <a:bodyPr lIns="0" tIns="0" rIns="0" bIns="0" anchor="t">
            <a:normAutofit/>
          </a:bodyPr>
          <a:lstStyle/>
          <a:p>
            <a:pPr marL="228600" indent="-228600">
              <a:lnSpc>
                <a:spcPct val="100000"/>
              </a:lnSpc>
              <a:spcBef>
                <a:spcPts val="1001"/>
              </a:spcBef>
              <a:buClr>
                <a:srgbClr val="000000"/>
              </a:buClr>
              <a:buFont typeface="Arial"/>
              <a:buChar char="•"/>
            </a:pPr>
            <a:r>
              <a:rPr lang="en-US" sz="2400" b="0" strike="noStrike" spc="-1" dirty="0">
                <a:solidFill>
                  <a:srgbClr val="000000"/>
                </a:solidFill>
                <a:latin typeface="Arial"/>
              </a:rPr>
              <a:t>ECMS aims to minimize hydrogen consumption, like so:</a:t>
            </a:r>
            <a:endParaRPr lang="en-US" sz="2400" b="0" strike="noStrike" spc="-1" dirty="0">
              <a:latin typeface="Arial"/>
            </a:endParaRPr>
          </a:p>
          <a:p>
            <a:pPr>
              <a:lnSpc>
                <a:spcPct val="100000"/>
              </a:lnSpc>
              <a:spcBef>
                <a:spcPts val="1001"/>
              </a:spcBef>
              <a:buNone/>
            </a:pPr>
            <a:endParaRPr lang="en-US" sz="2400" b="0" strike="noStrike" spc="-1" dirty="0">
              <a:latin typeface="Arial"/>
            </a:endParaRPr>
          </a:p>
          <a:p>
            <a:pPr marL="228600" indent="-228600">
              <a:lnSpc>
                <a:spcPct val="100000"/>
              </a:lnSpc>
              <a:spcBef>
                <a:spcPts val="1001"/>
              </a:spcBef>
              <a:buClr>
                <a:srgbClr val="000000"/>
              </a:buClr>
              <a:buFont typeface="Arial"/>
              <a:buChar char="•"/>
            </a:pPr>
            <a:r>
              <a:rPr lang="en-US" sz="2400" b="0" strike="noStrike" spc="-1" dirty="0">
                <a:solidFill>
                  <a:srgbClr val="000000"/>
                </a:solidFill>
                <a:latin typeface="Arial"/>
              </a:rPr>
              <a:t>Coefficients k</a:t>
            </a:r>
            <a:r>
              <a:rPr lang="en-US" sz="2400" b="0" strike="noStrike" spc="-1" baseline="-25000" dirty="0">
                <a:solidFill>
                  <a:srgbClr val="000000"/>
                </a:solidFill>
                <a:latin typeface="Arial"/>
              </a:rPr>
              <a:t>1</a:t>
            </a:r>
            <a:r>
              <a:rPr lang="en-US" sz="2400" b="0" strike="noStrike" spc="-1" dirty="0">
                <a:solidFill>
                  <a:srgbClr val="000000"/>
                </a:solidFill>
                <a:latin typeface="Arial"/>
              </a:rPr>
              <a:t> and k</a:t>
            </a:r>
            <a:r>
              <a:rPr lang="en-US" sz="2400" b="0" strike="noStrike" spc="-1" baseline="-25000" dirty="0">
                <a:solidFill>
                  <a:srgbClr val="000000"/>
                </a:solidFill>
                <a:latin typeface="Arial"/>
              </a:rPr>
              <a:t>2</a:t>
            </a:r>
            <a:r>
              <a:rPr lang="en-US" sz="2400" b="0" strike="noStrike" spc="-1" dirty="0">
                <a:solidFill>
                  <a:srgbClr val="000000"/>
                </a:solidFill>
                <a:latin typeface="Arial"/>
              </a:rPr>
              <a:t> represent penalties used to maintain SOC within a certain band</a:t>
            </a:r>
            <a:endParaRPr lang="en-US" sz="2400" b="0" strike="noStrike" spc="-1" dirty="0">
              <a:latin typeface="Arial"/>
            </a:endParaRPr>
          </a:p>
        </p:txBody>
      </p:sp>
      <p:sp>
        <p:nvSpPr>
          <p:cNvPr id="293" name="PlaceHolder 3"/>
          <p:cNvSpPr>
            <a:spLocks noGrp="1"/>
          </p:cNvSpPr>
          <p:nvPr>
            <p:ph/>
          </p:nvPr>
        </p:nvSpPr>
        <p:spPr>
          <a:xfrm>
            <a:off x="6172200" y="1825560"/>
            <a:ext cx="5180400" cy="4042800"/>
          </a:xfrm>
          <a:prstGeom prst="rect">
            <a:avLst/>
          </a:prstGeom>
          <a:noFill/>
          <a:ln w="0">
            <a:noFill/>
          </a:ln>
        </p:spPr>
        <p:txBody>
          <a:bodyPr lIns="0" tIns="0" rIns="0" bIns="0" anchor="t">
            <a:normAutofit fontScale="89000" lnSpcReduction="10000"/>
          </a:bodyPr>
          <a:lstStyle/>
          <a:p>
            <a:pPr marL="228600" indent="-228600">
              <a:lnSpc>
                <a:spcPct val="100000"/>
              </a:lnSpc>
              <a:spcBef>
                <a:spcPts val="1001"/>
              </a:spcBef>
              <a:buClr>
                <a:srgbClr val="000000"/>
              </a:buClr>
              <a:buFont typeface="Arial"/>
              <a:buChar char="•"/>
            </a:pPr>
            <a:r>
              <a:rPr lang="en-US" sz="2800" b="0" strike="noStrike" spc="-1">
                <a:solidFill>
                  <a:srgbClr val="000000"/>
                </a:solidFill>
                <a:latin typeface="Arial"/>
              </a:rPr>
              <a:t>Predictive controls govern output by forward projection of the system state</a:t>
            </a:r>
            <a:endParaRPr lang="en-US" sz="2800" b="0" strike="noStrike" spc="-1">
              <a:latin typeface="Arial"/>
            </a:endParaRPr>
          </a:p>
          <a:p>
            <a:pPr marL="228600" indent="-228600">
              <a:lnSpc>
                <a:spcPct val="100000"/>
              </a:lnSpc>
              <a:spcBef>
                <a:spcPts val="1001"/>
              </a:spcBef>
              <a:buClr>
                <a:srgbClr val="000000"/>
              </a:buClr>
              <a:buFont typeface="Arial"/>
              <a:buChar char="•"/>
            </a:pPr>
            <a:r>
              <a:rPr lang="en-US" sz="2800" b="0" strike="noStrike" spc="-1">
                <a:solidFill>
                  <a:srgbClr val="000000"/>
                </a:solidFill>
                <a:latin typeface="Arial"/>
              </a:rPr>
              <a:t>At each sampling instant, measure the state and compare to current and future predictions</a:t>
            </a:r>
            <a:endParaRPr lang="en-US" sz="2800" b="0" strike="noStrike" spc="-1">
              <a:latin typeface="Arial"/>
            </a:endParaRPr>
          </a:p>
          <a:p>
            <a:pPr marL="228600" indent="-228600">
              <a:lnSpc>
                <a:spcPct val="100000"/>
              </a:lnSpc>
              <a:spcBef>
                <a:spcPts val="1001"/>
              </a:spcBef>
              <a:buClr>
                <a:srgbClr val="000000"/>
              </a:buClr>
              <a:buFont typeface="Arial"/>
              <a:buChar char="•"/>
            </a:pPr>
            <a:r>
              <a:rPr lang="en-US" sz="2800" b="0" strike="noStrike" spc="-1">
                <a:solidFill>
                  <a:srgbClr val="000000"/>
                </a:solidFill>
                <a:latin typeface="Arial"/>
              </a:rPr>
              <a:t>Optimize changes in the manipulated variables to bring outputs into agreement with set point</a:t>
            </a:r>
            <a:endParaRPr lang="en-US" sz="2800" b="0" strike="noStrike" spc="-1">
              <a:latin typeface="Arial"/>
            </a:endParaRPr>
          </a:p>
        </p:txBody>
      </p:sp>
      <mc:AlternateContent xmlns:mc="http://schemas.openxmlformats.org/markup-compatibility/2006" xmlns:a14="http://schemas.microsoft.com/office/drawing/2010/main">
        <mc:Choice Requires="a14">
          <p:sp>
            <p:nvSpPr>
              <p:cNvPr id="294" name="TextBox 5"/>
              <p:cNvSpPr txBox="1"/>
              <p:nvPr/>
            </p:nvSpPr>
            <p:spPr>
              <a:xfrm>
                <a:off x="1523160" y="2620080"/>
                <a:ext cx="3468960" cy="298080"/>
              </a:xfrm>
              <a:prstGeom prst="rect">
                <a:avLst/>
              </a:prstGeom>
            </p:spPr>
            <p:txBody>
              <a:bodyPr/>
              <a:lstStyle/>
              <a:p>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𝑓𝑐</m:t>
                          </m:r>
                        </m:sub>
                      </m:sSub>
                      <m:r>
                        <a:rPr>
                          <a:latin typeface="Cambria Math" panose="02040503050406030204" pitchFamily="18" charset="0"/>
                        </a:rPr>
                        <m:t>=</m:t>
                      </m:r>
                      <m:r>
                        <a:rPr>
                          <a:latin typeface="Cambria Math" panose="02040503050406030204" pitchFamily="18" charset="0"/>
                        </a:rPr>
                        <m:t>𝑚𝑖𝑛</m:t>
                      </m:r>
                      <m:r>
                        <a:rPr>
                          <a:latin typeface="Cambria Math" panose="02040503050406030204" pitchFamily="18" charset="0"/>
                        </a:rPr>
                        <m:t>⁡</m:t>
                      </m:r>
                      <m:d>
                        <m:dPr>
                          <m:ctrlPr>
                            <a:rPr i="1">
                              <a:latin typeface="Cambria Math" panose="02040503050406030204" pitchFamily="18" charset="0"/>
                            </a:rPr>
                          </m:ctrlPr>
                        </m:dPr>
                        <m:e>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𝑓𝑐</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𝑘</m:t>
                              </m:r>
                            </m:e>
                            <m:sub>
                              <m:r>
                                <a:rPr>
                                  <a:latin typeface="Cambria Math" panose="02040503050406030204" pitchFamily="18" charset="0"/>
                                </a:rPr>
                                <m:t>1</m:t>
                              </m:r>
                            </m:sub>
                          </m:sSub>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𝑏𝑎𝑡</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𝑘</m:t>
                              </m:r>
                            </m:e>
                            <m:sub>
                              <m:r>
                                <a:rPr>
                                  <a:latin typeface="Cambria Math" panose="02040503050406030204" pitchFamily="18" charset="0"/>
                                </a:rPr>
                                <m:t>2</m:t>
                              </m:r>
                            </m:sub>
                          </m:sSub>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𝑠𝑐</m:t>
                              </m:r>
                            </m:sub>
                          </m:sSub>
                        </m:e>
                      </m:d>
                    </m:oMath>
                  </m:oMathPara>
                </a14:m>
                <a:endParaRPr dirty="0"/>
              </a:p>
            </p:txBody>
          </p:sp>
        </mc:Choice>
        <mc:Fallback xmlns="">
          <p:sp>
            <p:nvSpPr>
              <p:cNvPr id="294" name="TextBox 5"/>
              <p:cNvSpPr txBox="1">
                <a:spLocks noRot="1" noChangeAspect="1" noMove="1" noResize="1" noEditPoints="1" noAdjustHandles="1" noChangeArrowheads="1" noChangeShapeType="1" noTextEdit="1"/>
              </p:cNvSpPr>
              <p:nvPr/>
            </p:nvSpPr>
            <p:spPr>
              <a:xfrm>
                <a:off x="1523160" y="2620080"/>
                <a:ext cx="3468960" cy="298080"/>
              </a:xfrm>
              <a:prstGeom prst="rect">
                <a:avLst/>
              </a:prstGeom>
              <a:blipFill>
                <a:blip r:embed="rId2"/>
                <a:stretch>
                  <a:fillRect b="-48980"/>
                </a:stretch>
              </a:blipFill>
            </p:spPr>
            <p:txBody>
              <a:bodyPr/>
              <a:lstStyle/>
              <a:p>
                <a:r>
                  <a:rPr lang="en-US">
                    <a:noFill/>
                  </a:rPr>
                  <a:t> </a:t>
                </a:r>
              </a:p>
            </p:txBody>
          </p:sp>
        </mc:Fallback>
      </mc:AlternateContent>
      <p:pic>
        <p:nvPicPr>
          <p:cNvPr id="295" name="Picture 7"/>
          <p:cNvPicPr/>
          <p:nvPr/>
        </p:nvPicPr>
        <p:blipFill>
          <a:blip r:embed="rId3"/>
          <a:stretch/>
        </p:blipFill>
        <p:spPr>
          <a:xfrm>
            <a:off x="1523160" y="4352192"/>
            <a:ext cx="3163140" cy="1904968"/>
          </a:xfrm>
          <a:prstGeom prst="rect">
            <a:avLst/>
          </a:prstGeom>
          <a:ln w="0">
            <a:noFill/>
          </a:ln>
        </p:spPr>
      </p:pic>
      <p:sp>
        <p:nvSpPr>
          <p:cNvPr id="296" name="TextBox 8"/>
          <p:cNvSpPr/>
          <p:nvPr/>
        </p:nvSpPr>
        <p:spPr>
          <a:xfrm>
            <a:off x="1523160" y="6150600"/>
            <a:ext cx="2768400" cy="2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800" b="0" strike="noStrike" spc="-1">
                <a:solidFill>
                  <a:srgbClr val="000000"/>
                </a:solidFill>
                <a:latin typeface="Arial"/>
                <a:ea typeface="DejaVu Sans"/>
              </a:rPr>
              <a:t>Arce et. al. 2009, [32]</a:t>
            </a:r>
            <a:endParaRPr lang="en-US" sz="800" b="0" strike="noStrike" spc="-1">
              <a:latin typeface="Arial"/>
            </a:endParaRPr>
          </a:p>
        </p:txBody>
      </p:sp>
      <p:sp>
        <p:nvSpPr>
          <p:cNvPr id="5" name="PlaceHolder 4"/>
          <p:cNvSpPr>
            <a:spLocks noGrp="1"/>
          </p:cNvSpPr>
          <p:nvPr>
            <p:ph type="sldNum" idx="5"/>
          </p:nvPr>
        </p:nvSpPr>
        <p:spPr/>
        <p:txBody>
          <a:bodyPr/>
          <a:lstStyle/>
          <a:p>
            <a:fld id="{A32AA1F2-9C5E-439B-984B-6A87F0720A92}" type="slidenum">
              <a:rPr/>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PlaceHolder 1"/>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a:solidFill>
                  <a:srgbClr val="000000"/>
                </a:solidFill>
                <a:latin typeface="Arial Black"/>
              </a:rPr>
              <a:t>Power Train Modeling: Power Supplies </a:t>
            </a:r>
            <a:endParaRPr lang="en-US" sz="3600" b="0" strike="noStrike" spc="-1">
              <a:latin typeface="Arial"/>
            </a:endParaRPr>
          </a:p>
        </p:txBody>
      </p:sp>
      <p:sp>
        <p:nvSpPr>
          <p:cNvPr id="298" name="PlaceHolder 2"/>
          <p:cNvSpPr>
            <a:spLocks noGrp="1"/>
          </p:cNvSpPr>
          <p:nvPr>
            <p:ph/>
          </p:nvPr>
        </p:nvSpPr>
        <p:spPr>
          <a:xfrm>
            <a:off x="838080" y="1494000"/>
            <a:ext cx="3918600" cy="4322520"/>
          </a:xfrm>
          <a:prstGeom prst="rect">
            <a:avLst/>
          </a:prstGeom>
          <a:noFill/>
          <a:ln w="0">
            <a:noFill/>
          </a:ln>
        </p:spPr>
        <p:txBody>
          <a:bodyPr lIns="90000" tIns="45000" rIns="90000" bIns="45000" anchor="t">
            <a:normAutofit fontScale="96000" lnSpcReduction="10000"/>
          </a:bodyPr>
          <a:lstStyle/>
          <a:p>
            <a:pPr marL="228600" indent="-228600">
              <a:lnSpc>
                <a:spcPct val="100000"/>
              </a:lnSpc>
              <a:spcBef>
                <a:spcPts val="1001"/>
              </a:spcBef>
              <a:buClr>
                <a:srgbClr val="000000"/>
              </a:buClr>
              <a:buFont typeface="Arial"/>
              <a:buChar char="•"/>
            </a:pPr>
            <a:r>
              <a:rPr lang="en-US" sz="2800" b="0" strike="noStrike" spc="-1">
                <a:solidFill>
                  <a:srgbClr val="000000"/>
                </a:solidFill>
                <a:latin typeface="Arial"/>
              </a:rPr>
              <a:t>Component models developed from OpenModelica, an open-source multiphysics package written in the Modelica language</a:t>
            </a:r>
            <a:endParaRPr lang="en-US" sz="2800" b="0" strike="noStrike" spc="-1">
              <a:latin typeface="Arial"/>
            </a:endParaRPr>
          </a:p>
          <a:p>
            <a:pPr marL="228600" indent="-228600">
              <a:lnSpc>
                <a:spcPct val="100000"/>
              </a:lnSpc>
              <a:spcBef>
                <a:spcPts val="1001"/>
              </a:spcBef>
              <a:buClr>
                <a:srgbClr val="000000"/>
              </a:buClr>
              <a:buFont typeface="Arial"/>
              <a:buChar char="•"/>
            </a:pPr>
            <a:r>
              <a:rPr lang="en-US" sz="2800" b="0" strike="noStrike" spc="-1">
                <a:solidFill>
                  <a:srgbClr val="000000"/>
                </a:solidFill>
                <a:latin typeface="Arial"/>
              </a:rPr>
              <a:t>Primary components: fuel cell and battery stacks</a:t>
            </a:r>
            <a:endParaRPr lang="en-US" sz="2800" b="0" strike="noStrike" spc="-1">
              <a:latin typeface="Arial"/>
            </a:endParaRPr>
          </a:p>
          <a:p>
            <a:pPr>
              <a:lnSpc>
                <a:spcPct val="100000"/>
              </a:lnSpc>
              <a:spcBef>
                <a:spcPts val="1001"/>
              </a:spcBef>
              <a:buNone/>
            </a:pPr>
            <a:endParaRPr lang="en-US" sz="2800" b="0" strike="noStrike" spc="-1">
              <a:latin typeface="Arial"/>
            </a:endParaRPr>
          </a:p>
        </p:txBody>
      </p:sp>
      <p:pic>
        <p:nvPicPr>
          <p:cNvPr id="299" name="Picture 9"/>
          <p:cNvPicPr/>
          <p:nvPr/>
        </p:nvPicPr>
        <p:blipFill>
          <a:blip r:embed="rId3"/>
          <a:stretch/>
        </p:blipFill>
        <p:spPr>
          <a:xfrm>
            <a:off x="4758120" y="1494000"/>
            <a:ext cx="6952320" cy="4388040"/>
          </a:xfrm>
          <a:prstGeom prst="rect">
            <a:avLst/>
          </a:prstGeom>
          <a:ln w="0">
            <a:noFill/>
          </a:ln>
        </p:spPr>
      </p:pic>
      <p:sp>
        <p:nvSpPr>
          <p:cNvPr id="4" name="PlaceHolder 3"/>
          <p:cNvSpPr>
            <a:spLocks noGrp="1"/>
          </p:cNvSpPr>
          <p:nvPr>
            <p:ph type="sldNum" idx="3"/>
          </p:nvPr>
        </p:nvSpPr>
        <p:spPr/>
        <p:txBody>
          <a:bodyPr/>
          <a:lstStyle/>
          <a:p>
            <a:fld id="{B60AA50A-EEE7-4219-B65A-7427D2624833}" type="slidenum">
              <a:rPr/>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PlaceHolder 1"/>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dirty="0">
                <a:solidFill>
                  <a:srgbClr val="000000"/>
                </a:solidFill>
                <a:latin typeface="Arial Black"/>
              </a:rPr>
              <a:t>Power Train Modeling: Fuel Cell</a:t>
            </a:r>
            <a:endParaRPr lang="en-US" sz="3600" b="0" strike="noStrike" spc="-1" dirty="0">
              <a:latin typeface="Arial"/>
            </a:endParaRPr>
          </a:p>
        </p:txBody>
      </p:sp>
      <p:sp>
        <p:nvSpPr>
          <p:cNvPr id="301" name="PlaceHolder 2"/>
          <p:cNvSpPr>
            <a:spLocks noGrp="1"/>
          </p:cNvSpPr>
          <p:nvPr>
            <p:ph/>
          </p:nvPr>
        </p:nvSpPr>
        <p:spPr>
          <a:xfrm>
            <a:off x="838080" y="1812240"/>
            <a:ext cx="3737880" cy="903600"/>
          </a:xfrm>
          <a:prstGeom prst="rect">
            <a:avLst/>
          </a:prstGeom>
          <a:noFill/>
          <a:ln w="0">
            <a:noFill/>
          </a:ln>
        </p:spPr>
        <p:txBody>
          <a:bodyPr lIns="90000" tIns="45000" rIns="90000" bIns="45000" anchor="t">
            <a:normAutofit fontScale="99000" lnSpcReduction="10000"/>
          </a:bodyPr>
          <a:lstStyle/>
          <a:p>
            <a:pPr marL="228600" indent="-228600">
              <a:lnSpc>
                <a:spcPct val="100000"/>
              </a:lnSpc>
              <a:spcBef>
                <a:spcPts val="1001"/>
              </a:spcBef>
              <a:buClr>
                <a:srgbClr val="000000"/>
              </a:buClr>
              <a:buFont typeface="Arial"/>
              <a:buChar char="•"/>
            </a:pPr>
            <a:r>
              <a:rPr lang="en-US" sz="1800" b="0" strike="noStrike" spc="-1">
                <a:solidFill>
                  <a:srgbClr val="000000"/>
                </a:solidFill>
                <a:latin typeface="Arial"/>
              </a:rPr>
              <a:t>Behavior of fuel cell stack is a summation of the open-circuit voltage and the overvoltages:</a:t>
            </a:r>
            <a:endParaRPr lang="en-US" sz="1800" b="0" strike="noStrike" spc="-1">
              <a:latin typeface="Arial"/>
            </a:endParaRPr>
          </a:p>
          <a:p>
            <a:pPr>
              <a:lnSpc>
                <a:spcPct val="100000"/>
              </a:lnSpc>
              <a:spcBef>
                <a:spcPts val="1001"/>
              </a:spcBef>
              <a:buNone/>
            </a:pPr>
            <a:endParaRPr lang="en-US" sz="2800" b="0" strike="noStrike" spc="-1">
              <a:latin typeface="Arial"/>
            </a:endParaRPr>
          </a:p>
        </p:txBody>
      </p:sp>
      <p:pic>
        <p:nvPicPr>
          <p:cNvPr id="302" name="Picture 7"/>
          <p:cNvPicPr/>
          <p:nvPr/>
        </p:nvPicPr>
        <p:blipFill>
          <a:blip r:embed="rId3"/>
          <a:stretch/>
        </p:blipFill>
        <p:spPr>
          <a:xfrm>
            <a:off x="4998600" y="1782000"/>
            <a:ext cx="6938280" cy="1501560"/>
          </a:xfrm>
          <a:prstGeom prst="rect">
            <a:avLst/>
          </a:prstGeom>
          <a:ln w="0">
            <a:noFill/>
          </a:ln>
        </p:spPr>
      </p:pic>
      <mc:AlternateContent xmlns:mc="http://schemas.openxmlformats.org/markup-compatibility/2006" xmlns:a14="http://schemas.microsoft.com/office/drawing/2010/main">
        <mc:Choice Requires="a14">
          <p:sp>
            <p:nvSpPr>
              <p:cNvPr id="303" name="TextBox 8"/>
              <p:cNvSpPr txBox="1"/>
              <p:nvPr/>
            </p:nvSpPr>
            <p:spPr>
              <a:xfrm>
                <a:off x="756138" y="2716920"/>
                <a:ext cx="4057782" cy="298080"/>
              </a:xfrm>
              <a:prstGeom prst="rect">
                <a:avLst/>
              </a:prstGeom>
            </p:spPr>
            <p:txBody>
              <a:bodyPr/>
              <a:lstStyle/>
              <a:p>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𝐸</m:t>
                          </m:r>
                        </m:e>
                        <m:sub>
                          <m:r>
                            <a:rPr>
                              <a:latin typeface="Cambria Math" panose="02040503050406030204" pitchFamily="18" charset="0"/>
                            </a:rPr>
                            <m:t>𝑓𝑐</m:t>
                          </m:r>
                        </m:sub>
                      </m:sSub>
                      <m:r>
                        <a:rPr>
                          <a:latin typeface="Cambria Math" panose="02040503050406030204" pitchFamily="18" charset="0"/>
                        </a:rPr>
                        <m:t>=</m:t>
                      </m:r>
                      <m:r>
                        <a:rPr>
                          <a:latin typeface="Cambria Math" panose="02040503050406030204" pitchFamily="18" charset="0"/>
                        </a:rPr>
                        <m:t>𝑁</m:t>
                      </m:r>
                      <m:sSub>
                        <m:sSubPr>
                          <m:ctrlPr>
                            <a:rPr>
                              <a:latin typeface="Cambria Math" panose="02040503050406030204" pitchFamily="18" charset="0"/>
                            </a:rPr>
                          </m:ctrlPr>
                        </m:sSubPr>
                        <m:e>
                          <m:r>
                            <a:rPr>
                              <a:latin typeface="Cambria Math" panose="02040503050406030204" pitchFamily="18" charset="0"/>
                            </a:rPr>
                            <m:t>𝑁</m:t>
                          </m:r>
                        </m:e>
                        <m:sub>
                          <m:r>
                            <a:rPr>
                              <a:latin typeface="Cambria Math" panose="02040503050406030204" pitchFamily="18" charset="0"/>
                            </a:rPr>
                            <m:t>𝑚</m:t>
                          </m:r>
                        </m:sub>
                      </m:sSub>
                      <m:d>
                        <m:dPr>
                          <m:ctrlPr>
                            <a:rPr i="1">
                              <a:latin typeface="Cambria Math" panose="02040503050406030204" pitchFamily="18" charset="0"/>
                            </a:rPr>
                          </m:ctrlPr>
                        </m:dPr>
                        <m:e>
                          <m:sSub>
                            <m:sSubPr>
                              <m:ctrlPr>
                                <a:rPr>
                                  <a:latin typeface="Cambria Math" panose="02040503050406030204" pitchFamily="18" charset="0"/>
                                </a:rPr>
                              </m:ctrlPr>
                            </m:sSubPr>
                            <m:e>
                              <m:r>
                                <a:rPr>
                                  <a:latin typeface="Cambria Math" panose="02040503050406030204" pitchFamily="18" charset="0"/>
                                </a:rPr>
                                <m:t>𝐸</m:t>
                              </m:r>
                            </m:e>
                            <m:sub>
                              <m:r>
                                <a:rPr>
                                  <a:latin typeface="Cambria Math" panose="02040503050406030204" pitchFamily="18" charset="0"/>
                                </a:rPr>
                                <m:t>𝑂𝐶</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𝑉</m:t>
                              </m:r>
                            </m:e>
                            <m:sub>
                              <m:r>
                                <a:rPr>
                                  <a:latin typeface="Cambria Math" panose="02040503050406030204" pitchFamily="18" charset="0"/>
                                </a:rPr>
                                <m:t>𝑎𝑐𝑡</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𝑉</m:t>
                              </m:r>
                            </m:e>
                            <m:sub>
                              <m:r>
                                <a:rPr>
                                  <a:latin typeface="Cambria Math" panose="02040503050406030204" pitchFamily="18" charset="0"/>
                                </a:rPr>
                                <m:t>𝑐𝑜𝑛𝑐</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𝑉</m:t>
                              </m:r>
                            </m:e>
                            <m:sub>
                              <m:r>
                                <a:rPr>
                                  <a:latin typeface="Cambria Math" panose="02040503050406030204" pitchFamily="18" charset="0"/>
                                </a:rPr>
                                <m:t>𝑜ℎ𝑚</m:t>
                              </m:r>
                            </m:sub>
                          </m:sSub>
                        </m:e>
                      </m:d>
                    </m:oMath>
                  </m:oMathPara>
                </a14:m>
                <a:endParaRPr dirty="0"/>
              </a:p>
            </p:txBody>
          </p:sp>
        </mc:Choice>
        <mc:Fallback xmlns="">
          <p:sp>
            <p:nvSpPr>
              <p:cNvPr id="303" name="TextBox 8"/>
              <p:cNvSpPr txBox="1">
                <a:spLocks noRot="1" noChangeAspect="1" noMove="1" noResize="1" noEditPoints="1" noAdjustHandles="1" noChangeArrowheads="1" noChangeShapeType="1" noTextEdit="1"/>
              </p:cNvSpPr>
              <p:nvPr/>
            </p:nvSpPr>
            <p:spPr>
              <a:xfrm>
                <a:off x="756138" y="2716920"/>
                <a:ext cx="4057782" cy="298080"/>
              </a:xfrm>
              <a:prstGeom prst="rect">
                <a:avLst/>
              </a:prstGeom>
              <a:blipFill>
                <a:blip r:embed="rId4"/>
                <a:stretch>
                  <a:fillRect b="-42857"/>
                </a:stretch>
              </a:blipFill>
            </p:spPr>
            <p:txBody>
              <a:bodyPr/>
              <a:lstStyle/>
              <a:p>
                <a:r>
                  <a:rPr lang="en-US">
                    <a:noFill/>
                  </a:rPr>
                  <a:t> </a:t>
                </a:r>
              </a:p>
            </p:txBody>
          </p:sp>
        </mc:Fallback>
      </mc:AlternateContent>
      <p:sp>
        <p:nvSpPr>
          <p:cNvPr id="304" name="TextBox 9"/>
          <p:cNvSpPr/>
          <p:nvPr/>
        </p:nvSpPr>
        <p:spPr>
          <a:xfrm>
            <a:off x="887760" y="3284640"/>
            <a:ext cx="39754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a:lnSpc>
                <a:spcPct val="100000"/>
              </a:lnSpc>
              <a:buClr>
                <a:srgbClr val="000000"/>
              </a:buClr>
              <a:buFont typeface="Arial"/>
              <a:buChar char="•"/>
            </a:pPr>
            <a:r>
              <a:rPr lang="en-US" sz="1800" b="0" strike="noStrike" spc="-1" dirty="0">
                <a:solidFill>
                  <a:srgbClr val="000000"/>
                </a:solidFill>
                <a:latin typeface="Arial"/>
                <a:ea typeface="DejaVu Sans"/>
              </a:rPr>
              <a:t>The </a:t>
            </a:r>
            <a:r>
              <a:rPr lang="en-US" sz="1800" b="0" strike="noStrike" spc="-1" dirty="0" err="1">
                <a:solidFill>
                  <a:srgbClr val="000000"/>
                </a:solidFill>
                <a:latin typeface="Arial"/>
                <a:ea typeface="DejaVu Sans"/>
              </a:rPr>
              <a:t>overvoltages</a:t>
            </a:r>
            <a:r>
              <a:rPr lang="en-US" sz="1800" b="0" strike="noStrike" spc="-1" dirty="0">
                <a:solidFill>
                  <a:srgbClr val="000000"/>
                </a:solidFill>
                <a:latin typeface="Arial"/>
                <a:ea typeface="DejaVu Sans"/>
              </a:rPr>
              <a:t> are further defined by:</a:t>
            </a:r>
            <a:endParaRPr lang="en-US" sz="1800" b="0" strike="noStrike" spc="-1" dirty="0">
              <a:latin typeface="Arial"/>
            </a:endParaRPr>
          </a:p>
        </p:txBody>
      </p:sp>
      <p:sp>
        <p:nvSpPr>
          <p:cNvPr id="305" name="TextBox 10"/>
          <p:cNvSpPr/>
          <p:nvPr/>
        </p:nvSpPr>
        <p:spPr>
          <a:xfrm>
            <a:off x="2875320" y="3908880"/>
            <a:ext cx="360" cy="5482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a:lnSpc>
                <a:spcPct val="100000"/>
              </a:lnSpc>
              <a:buNone/>
            </a:pPr>
            <a:endParaRPr lang="en-US" sz="1800" b="0" strike="noStrike" spc="-1">
              <a:latin typeface="Arial"/>
            </a:endParaRPr>
          </a:p>
          <a:p>
            <a:pPr>
              <a:lnSpc>
                <a:spcPct val="100000"/>
              </a:lnSpc>
              <a:buNone/>
            </a:pPr>
            <a:endParaRPr lang="en-US" sz="1800" b="0" strike="noStrike" spc="-1">
              <a:latin typeface="Arial"/>
            </a:endParaRPr>
          </a:p>
        </p:txBody>
      </p:sp>
      <mc:AlternateContent xmlns:mc="http://schemas.openxmlformats.org/markup-compatibility/2006" xmlns:a14="http://schemas.microsoft.com/office/drawing/2010/main">
        <mc:Choice Requires="a14">
          <p:sp>
            <p:nvSpPr>
              <p:cNvPr id="306" name="TextBox 11"/>
              <p:cNvSpPr txBox="1"/>
              <p:nvPr/>
            </p:nvSpPr>
            <p:spPr>
              <a:xfrm>
                <a:off x="1873689" y="4989005"/>
                <a:ext cx="1462990" cy="284760"/>
              </a:xfrm>
              <a:prstGeom prst="rect">
                <a:avLst/>
              </a:prstGeom>
            </p:spPr>
            <p:txBody>
              <a:bodyPr/>
              <a:lstStyle/>
              <a:p>
                <a:pPr/>
                <a14:m>
                  <m:oMathPara xmlns:m="http://schemas.openxmlformats.org/officeDocument/2006/math">
                    <m:oMath>
                      <m:sSub>
                        <m:sSubPr>
                          <m:ctrlPr>
                            <a:rPr lang="ar-AE">
                              <a:latin typeface="Cambria Math" panose="02040503050406030204" pitchFamily="18" charset="0"/>
                            </a:rPr>
                          </m:ctrlPr>
                        </m:sSubPr>
                        <m:e>
                          <m:r>
                            <a:rPr lang="ar-AE">
                              <a:latin typeface="Cambria Math" panose="02040503050406030204" pitchFamily="18" charset="0"/>
                            </a:rPr>
                            <m:t>𝑉</m:t>
                          </m:r>
                        </m:e>
                        <m:sub>
                          <m:r>
                            <a:rPr lang="ar-AE">
                              <a:latin typeface="Cambria Math" panose="02040503050406030204" pitchFamily="18" charset="0"/>
                            </a:rPr>
                            <m:t>𝑎𝑐𝑡</m:t>
                          </m:r>
                        </m:sub>
                      </m:sSub>
                      <m:r>
                        <a:rPr lang="ar-AE">
                          <a:latin typeface="Cambria Math" panose="02040503050406030204" pitchFamily="18" charset="0"/>
                        </a:rPr>
                        <m:t>=</m:t>
                      </m:r>
                      <m:r>
                        <a:rPr lang="ar-AE">
                          <a:latin typeface="Cambria Math" panose="02040503050406030204" pitchFamily="18" charset="0"/>
                        </a:rPr>
                        <m:t>𝑎</m:t>
                      </m:r>
                      <m:func>
                        <m:funcPr>
                          <m:ctrlPr>
                            <a:rPr lang="en-US" i="0" smtClean="0">
                              <a:latin typeface="Cambria Math" panose="02040503050406030204" pitchFamily="18" charset="0"/>
                            </a:rPr>
                          </m:ctrlPr>
                        </m:funcPr>
                        <m:fName>
                          <m:r>
                            <m:rPr>
                              <m:sty m:val="p"/>
                            </m:rPr>
                            <a:rPr lang="en-US" i="0" smtClean="0">
                              <a:latin typeface="Cambria Math" panose="02040503050406030204" pitchFamily="18" charset="0"/>
                            </a:rPr>
                            <m:t>ln</m:t>
                          </m:r>
                        </m:fName>
                        <m:e>
                          <m:r>
                            <a:rPr lang="ar-AE" b="0" i="1" smtClean="0">
                              <a:latin typeface="Cambria Math" panose="02040503050406030204" pitchFamily="18" charset="0"/>
                            </a:rPr>
                            <m:t>𝑖</m:t>
                          </m:r>
                        </m:e>
                      </m:func>
                    </m:oMath>
                  </m:oMathPara>
                </a14:m>
                <a:endParaRPr dirty="0"/>
              </a:p>
            </p:txBody>
          </p:sp>
        </mc:Choice>
        <mc:Fallback xmlns="">
          <p:sp>
            <p:nvSpPr>
              <p:cNvPr id="306" name="TextBox 11"/>
              <p:cNvSpPr txBox="1">
                <a:spLocks noRot="1" noChangeAspect="1" noMove="1" noResize="1" noEditPoints="1" noAdjustHandles="1" noChangeArrowheads="1" noChangeShapeType="1" noTextEdit="1"/>
              </p:cNvSpPr>
              <p:nvPr/>
            </p:nvSpPr>
            <p:spPr>
              <a:xfrm>
                <a:off x="1873689" y="4989005"/>
                <a:ext cx="1462990" cy="284760"/>
              </a:xfrm>
              <a:prstGeom prst="rect">
                <a:avLst/>
              </a:prstGeom>
              <a:blipFill>
                <a:blip r:embed="rId5"/>
                <a:stretch>
                  <a:fillRect b="-276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7" name="TextBox 12"/>
              <p:cNvSpPr txBox="1"/>
              <p:nvPr/>
            </p:nvSpPr>
            <p:spPr>
              <a:xfrm>
                <a:off x="1870874" y="5496744"/>
                <a:ext cx="1468620" cy="275760"/>
              </a:xfrm>
              <a:prstGeom prst="rect">
                <a:avLst/>
              </a:prstGeom>
            </p:spPr>
            <p:txBody>
              <a:bodyPr/>
              <a:lstStyle/>
              <a:p>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𝑉</m:t>
                          </m:r>
                        </m:e>
                        <m:sub>
                          <m:r>
                            <a:rPr>
                              <a:latin typeface="Cambria Math" panose="02040503050406030204" pitchFamily="18" charset="0"/>
                            </a:rPr>
                            <m:t>𝑐𝑜𝑛𝑐</m:t>
                          </m:r>
                        </m:sub>
                      </m:sSub>
                      <m:r>
                        <a:rPr>
                          <a:latin typeface="Cambria Math" panose="02040503050406030204" pitchFamily="18" charset="0"/>
                        </a:rPr>
                        <m:t>=</m:t>
                      </m:r>
                      <m:r>
                        <a:rPr>
                          <a:latin typeface="Cambria Math" panose="02040503050406030204" pitchFamily="18" charset="0"/>
                        </a:rPr>
                        <m:t>𝑚</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𝑏𝑖</m:t>
                          </m:r>
                        </m:sup>
                      </m:sSup>
                    </m:oMath>
                  </m:oMathPara>
                </a14:m>
                <a:endParaRPr dirty="0"/>
              </a:p>
            </p:txBody>
          </p:sp>
        </mc:Choice>
        <mc:Fallback xmlns="">
          <p:sp>
            <p:nvSpPr>
              <p:cNvPr id="307" name="TextBox 12"/>
              <p:cNvSpPr txBox="1">
                <a:spLocks noRot="1" noChangeAspect="1" noMove="1" noResize="1" noEditPoints="1" noAdjustHandles="1" noChangeArrowheads="1" noChangeShapeType="1" noTextEdit="1"/>
              </p:cNvSpPr>
              <p:nvPr/>
            </p:nvSpPr>
            <p:spPr>
              <a:xfrm>
                <a:off x="1870874" y="5496744"/>
                <a:ext cx="1468620" cy="275760"/>
              </a:xfrm>
              <a:prstGeom prst="rect">
                <a:avLst/>
              </a:prstGeom>
              <a:blipFill>
                <a:blip r:embed="rId6"/>
                <a:stretch>
                  <a:fillRect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8" name="TextBox 13"/>
              <p:cNvSpPr txBox="1"/>
              <p:nvPr/>
            </p:nvSpPr>
            <p:spPr>
              <a:xfrm>
                <a:off x="1870874" y="5943961"/>
                <a:ext cx="1213643" cy="275760"/>
              </a:xfrm>
              <a:prstGeom prst="rect">
                <a:avLst/>
              </a:prstGeom>
            </p:spPr>
            <p:txBody>
              <a:bodyPr/>
              <a:lstStyle/>
              <a:p>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𝑉</m:t>
                          </m:r>
                        </m:e>
                        <m:sub>
                          <m:r>
                            <a:rPr>
                              <a:latin typeface="Cambria Math" panose="02040503050406030204" pitchFamily="18" charset="0"/>
                            </a:rPr>
                            <m:t>𝑜ℎ𝑚</m:t>
                          </m:r>
                        </m:sub>
                      </m:sSub>
                      <m:r>
                        <a:rPr>
                          <a:latin typeface="Cambria Math" panose="02040503050406030204" pitchFamily="18" charset="0"/>
                        </a:rPr>
                        <m:t>=</m:t>
                      </m:r>
                      <m:r>
                        <a:rPr>
                          <a:latin typeface="Cambria Math" panose="02040503050406030204" pitchFamily="18" charset="0"/>
                        </a:rPr>
                        <m:t>𝑟𝑖</m:t>
                      </m:r>
                    </m:oMath>
                  </m:oMathPara>
                </a14:m>
                <a:endParaRPr dirty="0"/>
              </a:p>
            </p:txBody>
          </p:sp>
        </mc:Choice>
        <mc:Fallback xmlns="">
          <p:sp>
            <p:nvSpPr>
              <p:cNvPr id="308" name="TextBox 13"/>
              <p:cNvSpPr txBox="1">
                <a:spLocks noRot="1" noChangeAspect="1" noMove="1" noResize="1" noEditPoints="1" noAdjustHandles="1" noChangeArrowheads="1" noChangeShapeType="1" noTextEdit="1"/>
              </p:cNvSpPr>
              <p:nvPr/>
            </p:nvSpPr>
            <p:spPr>
              <a:xfrm>
                <a:off x="1870874" y="5943961"/>
                <a:ext cx="1213643" cy="275760"/>
              </a:xfrm>
              <a:prstGeom prst="rect">
                <a:avLst/>
              </a:prstGeom>
              <a:blipFill>
                <a:blip r:embed="rId7"/>
                <a:stretch>
                  <a:fillRect b="-35556"/>
                </a:stretch>
              </a:blipFill>
            </p:spPr>
            <p:txBody>
              <a:bodyPr/>
              <a:lstStyle/>
              <a:p>
                <a:r>
                  <a:rPr lang="en-US">
                    <a:noFill/>
                  </a:rPr>
                  <a:t> </a:t>
                </a:r>
              </a:p>
            </p:txBody>
          </p:sp>
        </mc:Fallback>
      </mc:AlternateContent>
      <p:pic>
        <p:nvPicPr>
          <p:cNvPr id="309" name="Picture 15"/>
          <p:cNvPicPr/>
          <p:nvPr/>
        </p:nvPicPr>
        <p:blipFill>
          <a:blip r:embed="rId8"/>
          <a:stretch/>
        </p:blipFill>
        <p:spPr>
          <a:xfrm>
            <a:off x="4864680" y="3550680"/>
            <a:ext cx="6946560" cy="1766520"/>
          </a:xfrm>
          <a:prstGeom prst="rect">
            <a:avLst/>
          </a:prstGeom>
          <a:ln w="0">
            <a:noFill/>
          </a:ln>
        </p:spPr>
      </p:pic>
      <p:sp>
        <p:nvSpPr>
          <p:cNvPr id="310" name="TextBox 16"/>
          <p:cNvSpPr/>
          <p:nvPr/>
        </p:nvSpPr>
        <p:spPr>
          <a:xfrm>
            <a:off x="4815000" y="5583960"/>
            <a:ext cx="6451560" cy="950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a:lnSpc>
                <a:spcPct val="100000"/>
              </a:lnSpc>
              <a:buClr>
                <a:srgbClr val="000000"/>
              </a:buClr>
              <a:buFont typeface="Arial"/>
              <a:buChar char="•"/>
            </a:pPr>
            <a:r>
              <a:rPr lang="en-US" sz="1800" b="0" strike="noStrike" spc="-1">
                <a:solidFill>
                  <a:srgbClr val="000000"/>
                </a:solidFill>
                <a:latin typeface="Arial"/>
                <a:ea typeface="DejaVu Sans"/>
              </a:rPr>
              <a:t>Some textbooks also include a double-layer capacitance term in parallel with V</a:t>
            </a:r>
            <a:r>
              <a:rPr lang="en-US" sz="1800" b="0" strike="noStrike" spc="-1" baseline="-25000">
                <a:solidFill>
                  <a:srgbClr val="000000"/>
                </a:solidFill>
                <a:latin typeface="Arial"/>
                <a:ea typeface="DejaVu Sans"/>
              </a:rPr>
              <a:t>act</a:t>
            </a:r>
            <a:r>
              <a:rPr lang="en-US" sz="1800" b="0" strike="noStrike" spc="-1">
                <a:solidFill>
                  <a:srgbClr val="000000"/>
                </a:solidFill>
                <a:latin typeface="Arial"/>
                <a:ea typeface="DejaVu Sans"/>
              </a:rPr>
              <a:t>; however, very little data exists in the literature to parameterize this</a:t>
            </a:r>
            <a:endParaRPr lang="en-US" sz="1800" b="0" strike="noStrike" spc="-1">
              <a:latin typeface="Aria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522D3B9-44A3-EF6F-7AAD-BA5EB2AC06E4}"/>
                  </a:ext>
                </a:extLst>
              </p:cNvPr>
              <p:cNvSpPr txBox="1"/>
              <p:nvPr/>
            </p:nvSpPr>
            <p:spPr>
              <a:xfrm>
                <a:off x="756138" y="4192464"/>
                <a:ext cx="3855864" cy="634084"/>
              </a:xfrm>
              <a:prstGeom prst="rect">
                <a:avLst/>
              </a:prstGeom>
              <a:noFill/>
            </p:spPr>
            <p:txBody>
              <a:bodyPr wrap="none" lIns="0" tIns="0" rIns="0" bIns="0"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𝑂𝐶</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𝑛𝐹</m:t>
                          </m:r>
                        </m:den>
                      </m:f>
                      <m:d>
                        <m:dPr>
                          <m:ctrlPr>
                            <a:rPr lang="en-US" b="0" i="1" smtClean="0">
                              <a:latin typeface="Cambria Math" panose="02040503050406030204" pitchFamily="18" charset="0"/>
                              <a:ea typeface="Cambria Math" panose="02040503050406030204" pitchFamily="18" charset="0"/>
                            </a:rPr>
                          </m:ctrlPr>
                        </m:dPr>
                        <m:e>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𝐺</m:t>
                              </m:r>
                            </m:e>
                            <m:sub>
                              <m:r>
                                <a:rPr lang="en-US" b="0" i="1" smtClean="0">
                                  <a:latin typeface="Cambria Math" panose="02040503050406030204" pitchFamily="18" charset="0"/>
                                </a:rPr>
                                <m:t>𝑟𝑒𝑎𝑐𝑡</m:t>
                              </m:r>
                            </m:sub>
                            <m:sup>
                              <m:r>
                                <a:rPr lang="en-US" b="0" i="1" smtClean="0">
                                  <a:latin typeface="Cambria Math" panose="02040503050406030204" pitchFamily="18" charset="0"/>
                                  <a:ea typeface="Cambria Math" panose="02040503050406030204" pitchFamily="18" charset="0"/>
                                </a:rPr>
                                <m:t>°</m:t>
                              </m:r>
                            </m:sup>
                          </m:sSubSup>
                          <m:r>
                            <a:rPr lang="en-US" b="0" i="1" smtClean="0">
                              <a:latin typeface="Cambria Math" panose="02040503050406030204" pitchFamily="18" charset="0"/>
                            </a:rPr>
                            <m:t>+</m:t>
                          </m:r>
                          <m:r>
                            <a:rPr lang="en-US" b="0" i="1" smtClean="0">
                              <a:latin typeface="Cambria Math" panose="02040503050406030204" pitchFamily="18" charset="0"/>
                            </a:rPr>
                            <m:t>𝑅𝑇</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ln</m:t>
                              </m:r>
                            </m:fName>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𝐻</m:t>
                                          </m:r>
                                          <m:r>
                                            <a:rPr lang="en-US" b="0" i="1" smtClean="0">
                                              <a:latin typeface="Cambria Math" panose="02040503050406030204" pitchFamily="18" charset="0"/>
                                            </a:rPr>
                                            <m:t>2</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𝑂</m:t>
                                          </m:r>
                                          <m:r>
                                            <a:rPr lang="en-US" b="0" i="1" smtClean="0">
                                              <a:latin typeface="Cambria Math" panose="02040503050406030204" pitchFamily="18" charset="0"/>
                                            </a:rPr>
                                            <m:t>2</m:t>
                                          </m:r>
                                        </m:sub>
                                        <m:sup>
                                          <m:r>
                                            <a:rPr lang="en-US" b="0" i="1" smtClean="0">
                                              <a:latin typeface="Cambria Math" panose="02040503050406030204" pitchFamily="18" charset="0"/>
                                            </a:rPr>
                                            <m:t>0.5</m:t>
                                          </m:r>
                                        </m:sup>
                                      </m:sSubSup>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𝐻</m:t>
                                          </m:r>
                                          <m:r>
                                            <a:rPr lang="en-US" b="0" i="1" smtClean="0">
                                              <a:latin typeface="Cambria Math" panose="02040503050406030204" pitchFamily="18" charset="0"/>
                                            </a:rPr>
                                            <m:t>2</m:t>
                                          </m:r>
                                          <m:r>
                                            <a:rPr lang="en-US" b="0" i="1" smtClean="0">
                                              <a:latin typeface="Cambria Math" panose="02040503050406030204" pitchFamily="18" charset="0"/>
                                            </a:rPr>
                                            <m:t>𝑂</m:t>
                                          </m:r>
                                        </m:sub>
                                      </m:sSub>
                                    </m:den>
                                  </m:f>
                                </m:e>
                              </m:d>
                            </m:e>
                          </m:func>
                        </m:e>
                      </m:d>
                    </m:oMath>
                  </m:oMathPara>
                </a14:m>
                <a:endParaRPr lang="en-US" dirty="0"/>
              </a:p>
            </p:txBody>
          </p:sp>
        </mc:Choice>
        <mc:Fallback xmlns="">
          <p:sp>
            <p:nvSpPr>
              <p:cNvPr id="2" name="TextBox 1">
                <a:extLst>
                  <a:ext uri="{FF2B5EF4-FFF2-40B4-BE49-F238E27FC236}">
                    <a16:creationId xmlns:a16="http://schemas.microsoft.com/office/drawing/2014/main" id="{B522D3B9-44A3-EF6F-7AAD-BA5EB2AC06E4}"/>
                  </a:ext>
                </a:extLst>
              </p:cNvPr>
              <p:cNvSpPr txBox="1">
                <a:spLocks noRot="1" noChangeAspect="1" noMove="1" noResize="1" noEditPoints="1" noAdjustHandles="1" noChangeArrowheads="1" noChangeShapeType="1" noTextEdit="1"/>
              </p:cNvSpPr>
              <p:nvPr/>
            </p:nvSpPr>
            <p:spPr>
              <a:xfrm>
                <a:off x="756138" y="4192464"/>
                <a:ext cx="3855864" cy="634084"/>
              </a:xfrm>
              <a:prstGeom prst="rect">
                <a:avLst/>
              </a:prstGeom>
              <a:blipFill>
                <a:blip r:embed="rId9"/>
                <a:stretch>
                  <a:fillRect b="-962"/>
                </a:stretch>
              </a:blipFill>
            </p:spPr>
            <p:txBody>
              <a:bodyPr/>
              <a:lstStyle/>
              <a:p>
                <a:r>
                  <a:rPr 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PlaceHolder 1"/>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a:solidFill>
                  <a:srgbClr val="000000"/>
                </a:solidFill>
                <a:latin typeface="Arial Black"/>
              </a:rPr>
              <a:t>Power Train Modeling: Battery Stack </a:t>
            </a:r>
            <a:endParaRPr lang="en-US" sz="3600" b="0" strike="noStrike" spc="-1">
              <a:latin typeface="Arial"/>
            </a:endParaRPr>
          </a:p>
        </p:txBody>
      </p:sp>
      <p:sp>
        <p:nvSpPr>
          <p:cNvPr id="312" name="PlaceHolder 2"/>
          <p:cNvSpPr>
            <a:spLocks noGrp="1"/>
          </p:cNvSpPr>
          <p:nvPr>
            <p:ph/>
          </p:nvPr>
        </p:nvSpPr>
        <p:spPr>
          <a:xfrm>
            <a:off x="6506280" y="1825560"/>
            <a:ext cx="4846320" cy="3870720"/>
          </a:xfrm>
          <a:prstGeom prst="rect">
            <a:avLst/>
          </a:prstGeom>
          <a:noFill/>
          <a:ln w="0">
            <a:noFill/>
          </a:ln>
        </p:spPr>
        <p:txBody>
          <a:bodyPr lIns="90000" tIns="45000" rIns="90000" bIns="45000" anchor="t">
            <a:noAutofit/>
          </a:bodyPr>
          <a:lstStyle/>
          <a:p>
            <a:pPr marL="228600" indent="-228600">
              <a:lnSpc>
                <a:spcPct val="100000"/>
              </a:lnSpc>
              <a:spcBef>
                <a:spcPts val="1001"/>
              </a:spcBef>
              <a:buClr>
                <a:srgbClr val="000000"/>
              </a:buClr>
              <a:buFont typeface="Arial"/>
              <a:buChar char="•"/>
            </a:pPr>
            <a:r>
              <a:rPr lang="en-US" sz="1400" b="0" strike="noStrike" spc="-1" dirty="0">
                <a:solidFill>
                  <a:srgbClr val="000000"/>
                </a:solidFill>
                <a:latin typeface="Arial"/>
              </a:rPr>
              <a:t>Battery is based on the INR 18650-30Q, a LiCo</a:t>
            </a:r>
            <a:r>
              <a:rPr lang="en-US" sz="1400" b="0" strike="noStrike" spc="-1" baseline="-25000" dirty="0">
                <a:solidFill>
                  <a:srgbClr val="000000"/>
                </a:solidFill>
                <a:latin typeface="Arial"/>
              </a:rPr>
              <a:t>2</a:t>
            </a:r>
            <a:r>
              <a:rPr lang="en-US" sz="1400" b="0" strike="noStrike" spc="-1" dirty="0">
                <a:solidFill>
                  <a:srgbClr val="000000"/>
                </a:solidFill>
                <a:latin typeface="Arial"/>
              </a:rPr>
              <a:t> cell manufactured by Samsung</a:t>
            </a:r>
            <a:endParaRPr lang="en-US" sz="1400" b="0" strike="noStrike" spc="-1" dirty="0">
              <a:latin typeface="Arial"/>
            </a:endParaRPr>
          </a:p>
          <a:p>
            <a:pPr marL="228600" indent="-228600">
              <a:lnSpc>
                <a:spcPct val="100000"/>
              </a:lnSpc>
              <a:spcBef>
                <a:spcPts val="1001"/>
              </a:spcBef>
              <a:buClr>
                <a:srgbClr val="000000"/>
              </a:buClr>
              <a:buFont typeface="Arial"/>
              <a:buChar char="•"/>
            </a:pPr>
            <a:r>
              <a:rPr lang="en-US" sz="1400" b="0" strike="noStrike" spc="-1" dirty="0">
                <a:solidFill>
                  <a:srgbClr val="000000"/>
                </a:solidFill>
                <a:latin typeface="Arial"/>
              </a:rPr>
              <a:t>Parameterized using experimental data from the ARTS Lab</a:t>
            </a:r>
            <a:endParaRPr lang="en-US" sz="1400" b="0" strike="noStrike" spc="-1" dirty="0">
              <a:latin typeface="Arial"/>
            </a:endParaRPr>
          </a:p>
          <a:p>
            <a:pPr marL="228600" indent="-228600">
              <a:lnSpc>
                <a:spcPct val="100000"/>
              </a:lnSpc>
              <a:spcBef>
                <a:spcPts val="1001"/>
              </a:spcBef>
              <a:buClr>
                <a:srgbClr val="000000"/>
              </a:buClr>
              <a:buFont typeface="Arial"/>
              <a:buChar char="•"/>
            </a:pPr>
            <a:r>
              <a:rPr lang="en-US" sz="1400" b="0" strike="noStrike" spc="-1" dirty="0">
                <a:solidFill>
                  <a:srgbClr val="000000"/>
                </a:solidFill>
                <a:latin typeface="Arial"/>
              </a:rPr>
              <a:t>SOC-OCV curve given by:</a:t>
            </a:r>
            <a:endParaRPr lang="en-US" sz="1400" b="0" strike="noStrike" spc="-1" dirty="0">
              <a:latin typeface="Arial"/>
            </a:endParaRPr>
          </a:p>
          <a:p>
            <a:pPr>
              <a:lnSpc>
                <a:spcPct val="100000"/>
              </a:lnSpc>
              <a:spcBef>
                <a:spcPts val="1001"/>
              </a:spcBef>
              <a:buNone/>
            </a:pPr>
            <a:endParaRPr lang="en-US" sz="2800" b="0" strike="noStrike" spc="-1" dirty="0">
              <a:latin typeface="Arial"/>
            </a:endParaRPr>
          </a:p>
        </p:txBody>
      </p:sp>
      <mc:AlternateContent xmlns:mc="http://schemas.openxmlformats.org/markup-compatibility/2006" xmlns:a14="http://schemas.microsoft.com/office/drawing/2010/main">
        <mc:Choice Requires="a14">
          <p:sp>
            <p:nvSpPr>
              <p:cNvPr id="313" name="TextBox 4"/>
              <p:cNvSpPr txBox="1"/>
              <p:nvPr/>
            </p:nvSpPr>
            <p:spPr>
              <a:xfrm>
                <a:off x="6506279" y="3326400"/>
                <a:ext cx="5249035" cy="299160"/>
              </a:xfrm>
              <a:prstGeom prst="rect">
                <a:avLst/>
              </a:prstGeom>
            </p:spPr>
            <p:txBody>
              <a:bodyPr/>
              <a:lstStyle/>
              <a:p>
                <a:pPr/>
                <a14:m>
                  <m:oMathPara xmlns:m="http://schemas.openxmlformats.org/officeDocument/2006/math">
                    <m:oMath>
                      <m:r>
                        <a:rPr lang="ar-AE" smtClean="0">
                          <a:latin typeface="Cambria Math" panose="02040503050406030204" pitchFamily="18" charset="0"/>
                        </a:rPr>
                        <m:t>𝑂𝐶𝑉</m:t>
                      </m:r>
                      <m:r>
                        <a:rPr lang="ar-AE" smtClean="0">
                          <a:latin typeface="Cambria Math" panose="02040503050406030204" pitchFamily="18" charset="0"/>
                        </a:rPr>
                        <m:t>=</m:t>
                      </m:r>
                      <m:sSub>
                        <m:sSubPr>
                          <m:ctrlPr>
                            <a:rPr lang="ar-AE">
                              <a:latin typeface="Cambria Math" panose="02040503050406030204" pitchFamily="18" charset="0"/>
                            </a:rPr>
                          </m:ctrlPr>
                        </m:sSubPr>
                        <m:e>
                          <m:r>
                            <a:rPr lang="ar-AE">
                              <a:latin typeface="Cambria Math" panose="02040503050406030204" pitchFamily="18" charset="0"/>
                            </a:rPr>
                            <m:t>𝐾</m:t>
                          </m:r>
                        </m:e>
                        <m:sub>
                          <m:r>
                            <a:rPr lang="ar-AE">
                              <a:latin typeface="Cambria Math" panose="02040503050406030204" pitchFamily="18" charset="0"/>
                            </a:rPr>
                            <m:t>0</m:t>
                          </m:r>
                        </m:sub>
                      </m:sSub>
                      <m:r>
                        <a:rPr lang="ar-AE">
                          <a:latin typeface="Cambria Math" panose="02040503050406030204" pitchFamily="18" charset="0"/>
                        </a:rPr>
                        <m:t>+</m:t>
                      </m:r>
                      <m:sSub>
                        <m:sSubPr>
                          <m:ctrlPr>
                            <a:rPr lang="ar-AE">
                              <a:latin typeface="Cambria Math" panose="02040503050406030204" pitchFamily="18" charset="0"/>
                            </a:rPr>
                          </m:ctrlPr>
                        </m:sSubPr>
                        <m:e>
                          <m:r>
                            <a:rPr lang="ar-AE">
                              <a:latin typeface="Cambria Math" panose="02040503050406030204" pitchFamily="18" charset="0"/>
                            </a:rPr>
                            <m:t>𝐾</m:t>
                          </m:r>
                        </m:e>
                        <m:sub>
                          <m:r>
                            <a:rPr lang="ar-AE">
                              <a:latin typeface="Cambria Math" panose="02040503050406030204" pitchFamily="18" charset="0"/>
                            </a:rPr>
                            <m:t>1</m:t>
                          </m:r>
                        </m:sub>
                      </m:sSub>
                      <m:r>
                        <a:rPr lang="ar-AE">
                          <a:latin typeface="Cambria Math" panose="02040503050406030204" pitchFamily="18" charset="0"/>
                        </a:rPr>
                        <m:t>𝑆𝑂𝐶</m:t>
                      </m:r>
                      <m:r>
                        <a:rPr lang="ar-AE">
                          <a:latin typeface="Cambria Math" panose="02040503050406030204" pitchFamily="18" charset="0"/>
                        </a:rPr>
                        <m:t>+</m:t>
                      </m:r>
                      <m:sSub>
                        <m:sSubPr>
                          <m:ctrlPr>
                            <a:rPr lang="ar-AE">
                              <a:latin typeface="Cambria Math" panose="02040503050406030204" pitchFamily="18" charset="0"/>
                            </a:rPr>
                          </m:ctrlPr>
                        </m:sSubPr>
                        <m:e>
                          <m:r>
                            <a:rPr lang="ar-AE">
                              <a:latin typeface="Cambria Math" panose="02040503050406030204" pitchFamily="18" charset="0"/>
                            </a:rPr>
                            <m:t>𝐾</m:t>
                          </m:r>
                        </m:e>
                        <m:sub>
                          <m:r>
                            <a:rPr lang="ar-AE">
                              <a:latin typeface="Cambria Math" panose="02040503050406030204" pitchFamily="18" charset="0"/>
                            </a:rPr>
                            <m:t>2</m:t>
                          </m:r>
                        </m:sub>
                      </m:sSub>
                      <m:func>
                        <m:funcPr>
                          <m:ctrlPr>
                            <a:rPr lang="en-US" i="0" smtClean="0">
                              <a:latin typeface="Cambria Math" panose="02040503050406030204" pitchFamily="18" charset="0"/>
                            </a:rPr>
                          </m:ctrlPr>
                        </m:funcPr>
                        <m:fName>
                          <m:r>
                            <m:rPr>
                              <m:sty m:val="p"/>
                            </m:rPr>
                            <a:rPr lang="en-US" i="0" smtClean="0">
                              <a:latin typeface="Cambria Math" panose="02040503050406030204" pitchFamily="18" charset="0"/>
                            </a:rPr>
                            <m:t>ln</m:t>
                          </m:r>
                        </m:fName>
                        <m:e>
                          <m:r>
                            <a:rPr lang="ar-AE" b="0" i="1" smtClean="0">
                              <a:latin typeface="Cambria Math" panose="02040503050406030204" pitchFamily="18" charset="0"/>
                            </a:rPr>
                            <m:t>𝑆</m:t>
                          </m:r>
                          <m:r>
                            <a:rPr lang="en-US" b="0" i="1" smtClean="0">
                              <a:latin typeface="Cambria Math" panose="02040503050406030204" pitchFamily="18" charset="0"/>
                            </a:rPr>
                            <m:t>𝑂𝐶</m:t>
                          </m:r>
                        </m:e>
                      </m:func>
                      <m:r>
                        <a:rPr lang="ar-AE">
                          <a:latin typeface="Cambria Math" panose="02040503050406030204" pitchFamily="18" charset="0"/>
                        </a:rPr>
                        <m:t>+</m:t>
                      </m:r>
                      <m:sSub>
                        <m:sSubPr>
                          <m:ctrlPr>
                            <a:rPr lang="ar-AE">
                              <a:latin typeface="Cambria Math" panose="02040503050406030204" pitchFamily="18" charset="0"/>
                            </a:rPr>
                          </m:ctrlPr>
                        </m:sSubPr>
                        <m:e>
                          <m:r>
                            <a:rPr lang="ar-AE">
                              <a:latin typeface="Cambria Math" panose="02040503050406030204" pitchFamily="18" charset="0"/>
                            </a:rPr>
                            <m:t>𝐾</m:t>
                          </m:r>
                        </m:e>
                        <m:sub>
                          <m:r>
                            <a:rPr lang="ar-AE">
                              <a:latin typeface="Cambria Math" panose="02040503050406030204" pitchFamily="18" charset="0"/>
                            </a:rPr>
                            <m:t>3</m:t>
                          </m:r>
                        </m:sub>
                      </m:sSub>
                      <m:func>
                        <m:funcPr>
                          <m:ctrlPr>
                            <a:rPr lang="en-US" i="0" smtClean="0">
                              <a:latin typeface="Cambria Math" panose="02040503050406030204" pitchFamily="18" charset="0"/>
                            </a:rPr>
                          </m:ctrlPr>
                        </m:funcPr>
                        <m:fName>
                          <m:r>
                            <m:rPr>
                              <m:sty m:val="p"/>
                            </m:rPr>
                            <a:rPr lang="en-US" i="0" smtClean="0">
                              <a:latin typeface="Cambria Math" panose="02040503050406030204" pitchFamily="18" charset="0"/>
                            </a:rPr>
                            <m:t>ln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𝑆𝑂𝐶</m:t>
                              </m:r>
                            </m:e>
                          </m:d>
                        </m:e>
                      </m:func>
                    </m:oMath>
                  </m:oMathPara>
                </a14:m>
                <a:endParaRPr dirty="0"/>
              </a:p>
            </p:txBody>
          </p:sp>
        </mc:Choice>
        <mc:Fallback xmlns="">
          <p:sp>
            <p:nvSpPr>
              <p:cNvPr id="313" name="TextBox 4"/>
              <p:cNvSpPr txBox="1">
                <a:spLocks noRot="1" noChangeAspect="1" noMove="1" noResize="1" noEditPoints="1" noAdjustHandles="1" noChangeArrowheads="1" noChangeShapeType="1" noTextEdit="1"/>
              </p:cNvSpPr>
              <p:nvPr/>
            </p:nvSpPr>
            <p:spPr>
              <a:xfrm>
                <a:off x="6506279" y="3326400"/>
                <a:ext cx="5249035" cy="299160"/>
              </a:xfrm>
              <a:prstGeom prst="rect">
                <a:avLst/>
              </a:prstGeom>
              <a:blipFill>
                <a:blip r:embed="rId3"/>
                <a:stretch>
                  <a:fillRect b="-22449"/>
                </a:stretch>
              </a:blipFill>
            </p:spPr>
            <p:txBody>
              <a:bodyPr/>
              <a:lstStyle/>
              <a:p>
                <a:r>
                  <a:rPr lang="en-US">
                    <a:noFill/>
                  </a:rPr>
                  <a:t> </a:t>
                </a:r>
              </a:p>
            </p:txBody>
          </p:sp>
        </mc:Fallback>
      </mc:AlternateContent>
      <p:sp>
        <p:nvSpPr>
          <p:cNvPr id="314" name="TextBox 5"/>
          <p:cNvSpPr/>
          <p:nvPr/>
        </p:nvSpPr>
        <p:spPr>
          <a:xfrm>
            <a:off x="6506280" y="3761640"/>
            <a:ext cx="5007960" cy="1397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a:lnSpc>
                <a:spcPct val="100000"/>
              </a:lnSpc>
              <a:buClr>
                <a:srgbClr val="000000"/>
              </a:buClr>
              <a:buFont typeface="Arial"/>
              <a:buChar char="•"/>
            </a:pPr>
            <a:r>
              <a:rPr lang="en-US" sz="1400" b="0" strike="noStrike" spc="-1" dirty="0">
                <a:solidFill>
                  <a:srgbClr val="000000"/>
                </a:solidFill>
                <a:latin typeface="Arial"/>
                <a:ea typeface="DejaVu Sans"/>
              </a:rPr>
              <a:t>Five sets of coefficients derived for five different discharge rates</a:t>
            </a:r>
            <a:endParaRPr lang="en-US" sz="1400" b="0" strike="noStrike" spc="-1" dirty="0">
              <a:latin typeface="Arial"/>
            </a:endParaRPr>
          </a:p>
          <a:p>
            <a:pPr marL="285840" indent="-285840">
              <a:lnSpc>
                <a:spcPct val="100000"/>
              </a:lnSpc>
              <a:buClr>
                <a:srgbClr val="000000"/>
              </a:buClr>
              <a:buFont typeface="Arial"/>
              <a:buChar char="•"/>
            </a:pPr>
            <a:r>
              <a:rPr lang="en-US" sz="1400" b="0" strike="noStrike" spc="-1" dirty="0">
                <a:solidFill>
                  <a:srgbClr val="000000"/>
                </a:solidFill>
                <a:latin typeface="Arial"/>
                <a:ea typeface="DejaVu Sans"/>
              </a:rPr>
              <a:t>Initial results overestimated cell voltage by 3-5%; adjusted K</a:t>
            </a:r>
            <a:r>
              <a:rPr lang="en-US" sz="1400" b="0" strike="noStrike" spc="-1" baseline="-25000" dirty="0">
                <a:solidFill>
                  <a:srgbClr val="000000"/>
                </a:solidFill>
                <a:latin typeface="Arial"/>
                <a:ea typeface="DejaVu Sans"/>
              </a:rPr>
              <a:t>0</a:t>
            </a:r>
            <a:r>
              <a:rPr lang="en-US" sz="1400" b="0" strike="noStrike" spc="-1" dirty="0">
                <a:solidFill>
                  <a:srgbClr val="000000"/>
                </a:solidFill>
                <a:latin typeface="Arial"/>
                <a:ea typeface="DejaVu Sans"/>
              </a:rPr>
              <a:t> accordingly</a:t>
            </a:r>
            <a:endParaRPr lang="en-US" sz="1400" b="0" strike="noStrike" spc="-1" dirty="0">
              <a:latin typeface="Arial"/>
            </a:endParaRPr>
          </a:p>
          <a:p>
            <a:pPr marL="285840" indent="-285840">
              <a:lnSpc>
                <a:spcPct val="100000"/>
              </a:lnSpc>
              <a:buClr>
                <a:srgbClr val="000000"/>
              </a:buClr>
              <a:buFont typeface="Arial"/>
              <a:buChar char="•"/>
            </a:pPr>
            <a:r>
              <a:rPr lang="en-US" sz="1400" b="0" strike="noStrike" spc="-1" dirty="0">
                <a:solidFill>
                  <a:srgbClr val="000000"/>
                </a:solidFill>
                <a:latin typeface="Arial"/>
                <a:ea typeface="DejaVu Sans"/>
              </a:rPr>
              <a:t>Additionally, degradation model implemented to estimate capacity fade with use:</a:t>
            </a:r>
            <a:endParaRPr lang="en-US" sz="1400" b="0" strike="noStrike" spc="-1" dirty="0">
              <a:latin typeface="Arial"/>
            </a:endParaRPr>
          </a:p>
        </p:txBody>
      </p:sp>
      <mc:AlternateContent xmlns:mc="http://schemas.openxmlformats.org/markup-compatibility/2006" xmlns:a14="http://schemas.microsoft.com/office/drawing/2010/main">
        <mc:Choice Requires="a14">
          <p:sp>
            <p:nvSpPr>
              <p:cNvPr id="315" name="TextBox 6"/>
              <p:cNvSpPr txBox="1"/>
              <p:nvPr/>
            </p:nvSpPr>
            <p:spPr>
              <a:xfrm>
                <a:off x="8030160" y="5091840"/>
                <a:ext cx="1984278" cy="605880"/>
              </a:xfrm>
              <a:prstGeom prst="rect">
                <a:avLst/>
              </a:prstGeom>
            </p:spPr>
            <p:txBody>
              <a:bodyPr/>
              <a:lstStyle/>
              <a:p>
                <a:pPr/>
                <a14:m>
                  <m:oMathPara xmlns:m="http://schemas.openxmlformats.org/officeDocument/2006/math">
                    <m:oMath>
                      <m:r>
                        <a:rPr>
                          <a:latin typeface="Cambria Math" panose="02040503050406030204" pitchFamily="18" charset="0"/>
                        </a:rPr>
                        <m:t>𝐶</m:t>
                      </m:r>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𝐴</m:t>
                          </m:r>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0</m:t>
                              </m:r>
                            </m:sub>
                          </m:sSub>
                        </m:num>
                        <m:den>
                          <m:r>
                            <a:rPr>
                              <a:latin typeface="Cambria Math" panose="02040503050406030204" pitchFamily="18" charset="0"/>
                            </a:rPr>
                            <m:t>100</m:t>
                          </m:r>
                        </m:den>
                      </m:f>
                      <m:sSup>
                        <m:sSupPr>
                          <m:ctrlPr>
                            <a:rPr i="1">
                              <a:latin typeface="Cambria Math" panose="02040503050406030204" pitchFamily="18" charset="0"/>
                            </a:rPr>
                          </m:ctrlPr>
                        </m:sSupPr>
                        <m:e>
                          <m:d>
                            <m:dPr>
                              <m:ctrlPr>
                                <a:rPr i="1">
                                  <a:latin typeface="Cambria Math" panose="02040503050406030204" pitchFamily="18" charset="0"/>
                                </a:rPr>
                              </m:ctrlPr>
                            </m:dPr>
                            <m:e>
                              <m:f>
                                <m:fPr>
                                  <m:ctrlPr>
                                    <a:rPr>
                                      <a:latin typeface="Cambria Math" panose="02040503050406030204" pitchFamily="18" charset="0"/>
                                    </a:rPr>
                                  </m:ctrlPr>
                                </m:fPr>
                                <m:num>
                                  <m:r>
                                    <a:rPr>
                                      <a:latin typeface="Cambria Math" panose="02040503050406030204" pitchFamily="18" charset="0"/>
                                    </a:rPr>
                                    <m:t>𝐸𝐹𝐶</m:t>
                                  </m:r>
                                </m:num>
                                <m:den>
                                  <m:r>
                                    <a:rPr>
                                      <a:latin typeface="Cambria Math" panose="02040503050406030204" pitchFamily="18" charset="0"/>
                                    </a:rPr>
                                    <m:t>100</m:t>
                                  </m:r>
                                </m:den>
                              </m:f>
                            </m:e>
                          </m:d>
                        </m:e>
                        <m:sup>
                          <m:r>
                            <a:rPr>
                              <a:latin typeface="Cambria Math" panose="02040503050406030204" pitchFamily="18" charset="0"/>
                            </a:rPr>
                            <m:t>𝑏</m:t>
                          </m:r>
                        </m:sup>
                      </m:sSup>
                    </m:oMath>
                  </m:oMathPara>
                </a14:m>
                <a:endParaRPr dirty="0"/>
              </a:p>
            </p:txBody>
          </p:sp>
        </mc:Choice>
        <mc:Fallback xmlns="">
          <p:sp>
            <p:nvSpPr>
              <p:cNvPr id="315" name="TextBox 6"/>
              <p:cNvSpPr txBox="1">
                <a:spLocks noRot="1" noChangeAspect="1" noMove="1" noResize="1" noEditPoints="1" noAdjustHandles="1" noChangeArrowheads="1" noChangeShapeType="1" noTextEdit="1"/>
              </p:cNvSpPr>
              <p:nvPr/>
            </p:nvSpPr>
            <p:spPr>
              <a:xfrm>
                <a:off x="8030160" y="5091840"/>
                <a:ext cx="1984278" cy="605880"/>
              </a:xfrm>
              <a:prstGeom prst="rect">
                <a:avLst/>
              </a:prstGeom>
              <a:blipFill>
                <a:blip r:embed="rId4"/>
                <a:stretch>
                  <a:fillRect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6" name="TextBox 7"/>
              <p:cNvSpPr txBox="1"/>
              <p:nvPr/>
            </p:nvSpPr>
            <p:spPr>
              <a:xfrm>
                <a:off x="6766200" y="5832360"/>
                <a:ext cx="4748040" cy="172080"/>
              </a:xfrm>
              <a:prstGeom prst="rect">
                <a:avLst/>
              </a:prstGeom>
            </p:spPr>
            <p:txBody>
              <a:bodyPr/>
              <a:lstStyle/>
              <a:p>
                <a:pPr/>
                <a14:m>
                  <m:oMathPara xmlns:m="http://schemas.openxmlformats.org/officeDocument/2006/math">
                    <m:oMath>
                      <m:r>
                        <a:rPr>
                          <a:latin typeface="Cambria Math" panose="02040503050406030204" pitchFamily="18" charset="0"/>
                        </a:rPr>
                        <m:t>𝐴</m:t>
                      </m:r>
                      <m:r>
                        <a:rPr>
                          <a:latin typeface="Cambria Math" panose="02040503050406030204" pitchFamily="18" charset="0"/>
                        </a:rPr>
                        <m:t>=3.25</m:t>
                      </m:r>
                      <m:sSub>
                        <m:sSubPr>
                          <m:ctrlPr>
                            <a:rPr>
                              <a:latin typeface="Cambria Math" panose="02040503050406030204" pitchFamily="18" charset="0"/>
                            </a:rPr>
                          </m:ctrlPr>
                        </m:sSubPr>
                        <m:e>
                          <m:r>
                            <a:rPr>
                              <a:latin typeface="Cambria Math" panose="02040503050406030204" pitchFamily="18" charset="0"/>
                            </a:rPr>
                            <m:t>𝑆𝑂𝐶</m:t>
                          </m:r>
                        </m:e>
                        <m:sub>
                          <m:r>
                            <a:rPr>
                              <a:latin typeface="Cambria Math" panose="02040503050406030204" pitchFamily="18" charset="0"/>
                            </a:rPr>
                            <m:t>𝑚</m:t>
                          </m:r>
                        </m:sub>
                      </m:sSub>
                      <m:d>
                        <m:dPr>
                          <m:ctrlPr>
                            <a:rPr>
                              <a:latin typeface="Cambria Math" panose="02040503050406030204" pitchFamily="18" charset="0"/>
                            </a:rPr>
                          </m:ctrlPr>
                        </m:dPr>
                        <m:e>
                          <m:r>
                            <a:rPr>
                              <a:latin typeface="Cambria Math" panose="02040503050406030204" pitchFamily="18" charset="0"/>
                            </a:rPr>
                            <m:t>100+3.25</m:t>
                          </m:r>
                          <m:r>
                            <a:rPr>
                              <a:latin typeface="Cambria Math" panose="02040503050406030204" pitchFamily="18" charset="0"/>
                            </a:rPr>
                            <m:t>𝐷𝑂𝐷</m:t>
                          </m:r>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2.25</m:t>
                              </m:r>
                              <m:r>
                                <a:rPr>
                                  <a:latin typeface="Cambria Math" panose="02040503050406030204" pitchFamily="18" charset="0"/>
                                </a:rPr>
                                <m:t>𝐷𝑂𝐷</m:t>
                              </m:r>
                            </m:e>
                            <m:sup>
                              <m:r>
                                <a:rPr>
                                  <a:latin typeface="Cambria Math" panose="02040503050406030204" pitchFamily="18" charset="0"/>
                                </a:rPr>
                                <m:t>2</m:t>
                              </m:r>
                            </m:sup>
                          </m:sSup>
                        </m:e>
                      </m:d>
                    </m:oMath>
                  </m:oMathPara>
                </a14:m>
                <a:endParaRPr dirty="0"/>
              </a:p>
            </p:txBody>
          </p:sp>
        </mc:Choice>
        <mc:Fallback xmlns="">
          <p:sp>
            <p:nvSpPr>
              <p:cNvPr id="316" name="TextBox 7"/>
              <p:cNvSpPr txBox="1">
                <a:spLocks noRot="1" noChangeAspect="1" noMove="1" noResize="1" noEditPoints="1" noAdjustHandles="1" noChangeArrowheads="1" noChangeShapeType="1" noTextEdit="1"/>
              </p:cNvSpPr>
              <p:nvPr/>
            </p:nvSpPr>
            <p:spPr>
              <a:xfrm>
                <a:off x="6766200" y="5832360"/>
                <a:ext cx="4748040" cy="172080"/>
              </a:xfrm>
              <a:prstGeom prst="rect">
                <a:avLst/>
              </a:prstGeom>
              <a:blipFill>
                <a:blip r:embed="rId5"/>
                <a:stretch>
                  <a:fillRect b="-107143"/>
                </a:stretch>
              </a:blipFill>
            </p:spPr>
            <p:txBody>
              <a:bodyPr/>
              <a:lstStyle/>
              <a:p>
                <a:r>
                  <a:rPr lang="en-US">
                    <a:noFill/>
                  </a:rPr>
                  <a:t> </a:t>
                </a:r>
              </a:p>
            </p:txBody>
          </p:sp>
        </mc:Fallback>
      </mc:AlternateContent>
      <p:pic>
        <p:nvPicPr>
          <p:cNvPr id="317" name="Picture 10"/>
          <p:cNvPicPr/>
          <p:nvPr/>
        </p:nvPicPr>
        <p:blipFill>
          <a:blip r:embed="rId6"/>
          <a:stretch/>
        </p:blipFill>
        <p:spPr>
          <a:xfrm>
            <a:off x="1067760" y="1998360"/>
            <a:ext cx="5180760" cy="3697920"/>
          </a:xfrm>
          <a:prstGeom prst="rect">
            <a:avLst/>
          </a:prstGeom>
          <a:ln w="0">
            <a:noFill/>
          </a:ln>
        </p:spPr>
      </p:pic>
      <p:sp>
        <p:nvSpPr>
          <p:cNvPr id="4" name="PlaceHolder 3"/>
          <p:cNvSpPr>
            <a:spLocks noGrp="1"/>
          </p:cNvSpPr>
          <p:nvPr>
            <p:ph type="sldNum" idx="3"/>
          </p:nvPr>
        </p:nvSpPr>
        <p:spPr/>
        <p:txBody>
          <a:bodyPr/>
          <a:lstStyle/>
          <a:p>
            <a:fld id="{D61D3C18-6559-4D83-8D4F-B4153BA401DC}" type="slidenum">
              <a:rPr/>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PlaceHolder 1"/>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a:solidFill>
                  <a:srgbClr val="000000"/>
                </a:solidFill>
                <a:latin typeface="Arial Black"/>
              </a:rPr>
              <a:t>Power Train Modeling: Fuel &amp; Air Supply Systems </a:t>
            </a:r>
            <a:endParaRPr lang="en-US" sz="3600" b="0" strike="noStrike" spc="-1">
              <a:latin typeface="Arial"/>
            </a:endParaRPr>
          </a:p>
        </p:txBody>
      </p:sp>
      <p:sp>
        <p:nvSpPr>
          <p:cNvPr id="319" name="PlaceHolder 2"/>
          <p:cNvSpPr>
            <a:spLocks noGrp="1"/>
          </p:cNvSpPr>
          <p:nvPr>
            <p:ph/>
          </p:nvPr>
        </p:nvSpPr>
        <p:spPr>
          <a:xfrm>
            <a:off x="838080" y="1825560"/>
            <a:ext cx="3520440" cy="3990960"/>
          </a:xfrm>
          <a:prstGeom prst="rect">
            <a:avLst/>
          </a:prstGeom>
          <a:noFill/>
          <a:ln w="0">
            <a:noFill/>
          </a:ln>
        </p:spPr>
        <p:txBody>
          <a:bodyPr lIns="90000" tIns="45000" rIns="90000" bIns="45000" anchor="t">
            <a:noAutofit/>
          </a:bodyPr>
          <a:lstStyle/>
          <a:p>
            <a:pPr marL="228600" indent="-228600">
              <a:lnSpc>
                <a:spcPct val="100000"/>
              </a:lnSpc>
              <a:spcBef>
                <a:spcPts val="1001"/>
              </a:spcBef>
              <a:buClr>
                <a:srgbClr val="000000"/>
              </a:buClr>
              <a:buFont typeface="Arial"/>
              <a:buChar char="•"/>
            </a:pPr>
            <a:r>
              <a:rPr lang="en-US" sz="2800" b="0" strike="noStrike" spc="-1">
                <a:solidFill>
                  <a:srgbClr val="000000"/>
                </a:solidFill>
                <a:latin typeface="Arial"/>
              </a:rPr>
              <a:t>Main components include:</a:t>
            </a:r>
            <a:endParaRPr lang="en-US" sz="2800" b="0" strike="noStrike" spc="-1">
              <a:latin typeface="Arial"/>
            </a:endParaRPr>
          </a:p>
          <a:p>
            <a:pPr marL="685800" lvl="1" indent="-228600">
              <a:lnSpc>
                <a:spcPct val="100000"/>
              </a:lnSpc>
              <a:spcBef>
                <a:spcPts val="499"/>
              </a:spcBef>
              <a:buClr>
                <a:srgbClr val="000000"/>
              </a:buClr>
              <a:buFont typeface="Arial"/>
              <a:buChar char="•"/>
            </a:pPr>
            <a:r>
              <a:rPr lang="en-US" sz="2400" b="0" strike="noStrike" spc="-1">
                <a:solidFill>
                  <a:srgbClr val="000000"/>
                </a:solidFill>
                <a:latin typeface="Arial"/>
              </a:rPr>
              <a:t>Liquid H</a:t>
            </a:r>
            <a:r>
              <a:rPr lang="en-US" sz="2400" b="0" strike="noStrike" spc="-1" baseline="-25000">
                <a:solidFill>
                  <a:srgbClr val="000000"/>
                </a:solidFill>
                <a:latin typeface="Arial"/>
              </a:rPr>
              <a:t>2</a:t>
            </a:r>
            <a:r>
              <a:rPr lang="en-US" sz="2400" b="0" strike="noStrike" spc="-1">
                <a:solidFill>
                  <a:srgbClr val="000000"/>
                </a:solidFill>
                <a:latin typeface="Arial"/>
              </a:rPr>
              <a:t> storage tank</a:t>
            </a:r>
            <a:endParaRPr lang="en-US" sz="2400" b="0" strike="noStrike" spc="-1">
              <a:latin typeface="Arial"/>
            </a:endParaRPr>
          </a:p>
          <a:p>
            <a:pPr marL="685800" lvl="1" indent="-228600">
              <a:lnSpc>
                <a:spcPct val="100000"/>
              </a:lnSpc>
              <a:spcBef>
                <a:spcPts val="499"/>
              </a:spcBef>
              <a:buClr>
                <a:srgbClr val="000000"/>
              </a:buClr>
              <a:buFont typeface="Arial"/>
              <a:buChar char="•"/>
            </a:pPr>
            <a:r>
              <a:rPr lang="en-US" sz="2400" b="0" strike="noStrike" spc="-1">
                <a:solidFill>
                  <a:srgbClr val="000000"/>
                </a:solidFill>
                <a:latin typeface="Arial"/>
              </a:rPr>
              <a:t>H</a:t>
            </a:r>
            <a:r>
              <a:rPr lang="en-US" sz="2400" b="0" strike="noStrike" spc="-1" baseline="-25000">
                <a:solidFill>
                  <a:srgbClr val="000000"/>
                </a:solidFill>
                <a:latin typeface="Arial"/>
              </a:rPr>
              <a:t>2</a:t>
            </a:r>
            <a:r>
              <a:rPr lang="en-US" sz="2400" b="0" strike="noStrike" spc="-1">
                <a:solidFill>
                  <a:srgbClr val="000000"/>
                </a:solidFill>
                <a:latin typeface="Arial"/>
              </a:rPr>
              <a:t> preheat</a:t>
            </a:r>
            <a:endParaRPr lang="en-US" sz="2400" b="0" strike="noStrike" spc="-1">
              <a:latin typeface="Arial"/>
            </a:endParaRPr>
          </a:p>
          <a:p>
            <a:pPr marL="685800" lvl="1" indent="-228600">
              <a:lnSpc>
                <a:spcPct val="100000"/>
              </a:lnSpc>
              <a:spcBef>
                <a:spcPts val="499"/>
              </a:spcBef>
              <a:buClr>
                <a:srgbClr val="000000"/>
              </a:buClr>
              <a:buFont typeface="Arial"/>
              <a:buChar char="•"/>
            </a:pPr>
            <a:r>
              <a:rPr lang="en-US" sz="2400" b="0" strike="noStrike" spc="-1">
                <a:solidFill>
                  <a:srgbClr val="000000"/>
                </a:solidFill>
                <a:latin typeface="Arial"/>
              </a:rPr>
              <a:t>Air intake</a:t>
            </a:r>
            <a:endParaRPr lang="en-US" sz="2400" b="0" strike="noStrike" spc="-1">
              <a:latin typeface="Arial"/>
            </a:endParaRPr>
          </a:p>
          <a:p>
            <a:pPr marL="685800" lvl="1" indent="-228600">
              <a:lnSpc>
                <a:spcPct val="100000"/>
              </a:lnSpc>
              <a:spcBef>
                <a:spcPts val="499"/>
              </a:spcBef>
              <a:buClr>
                <a:srgbClr val="000000"/>
              </a:buClr>
              <a:buFont typeface="Arial"/>
              <a:buChar char="•"/>
            </a:pPr>
            <a:r>
              <a:rPr lang="en-US" sz="2400" b="0" strike="noStrike" spc="-1">
                <a:solidFill>
                  <a:srgbClr val="000000"/>
                </a:solidFill>
                <a:latin typeface="Arial"/>
              </a:rPr>
              <a:t>Air and H</a:t>
            </a:r>
            <a:r>
              <a:rPr lang="en-US" sz="2400" b="0" strike="noStrike" spc="-1" baseline="-25000">
                <a:solidFill>
                  <a:srgbClr val="000000"/>
                </a:solidFill>
                <a:latin typeface="Arial"/>
              </a:rPr>
              <a:t>2</a:t>
            </a:r>
            <a:r>
              <a:rPr lang="en-US" sz="2400" b="0" strike="noStrike" spc="-1">
                <a:solidFill>
                  <a:srgbClr val="000000"/>
                </a:solidFill>
                <a:latin typeface="Arial"/>
              </a:rPr>
              <a:t> compressors</a:t>
            </a:r>
            <a:endParaRPr lang="en-US" sz="2400" b="0" strike="noStrike" spc="-1">
              <a:latin typeface="Arial"/>
            </a:endParaRPr>
          </a:p>
          <a:p>
            <a:pPr>
              <a:lnSpc>
                <a:spcPct val="90000"/>
              </a:lnSpc>
              <a:spcBef>
                <a:spcPts val="1417"/>
              </a:spcBef>
              <a:buNone/>
            </a:pPr>
            <a:endParaRPr lang="en-US" sz="2400" b="0" strike="noStrike" spc="-1">
              <a:latin typeface="Arial"/>
            </a:endParaRPr>
          </a:p>
        </p:txBody>
      </p:sp>
      <p:pic>
        <p:nvPicPr>
          <p:cNvPr id="320" name="Picture 5"/>
          <p:cNvPicPr/>
          <p:nvPr/>
        </p:nvPicPr>
        <p:blipFill>
          <a:blip r:embed="rId3"/>
          <a:stretch/>
        </p:blipFill>
        <p:spPr>
          <a:xfrm>
            <a:off x="4400280" y="1690560"/>
            <a:ext cx="6952320" cy="4388040"/>
          </a:xfrm>
          <a:prstGeom prst="rect">
            <a:avLst/>
          </a:prstGeom>
          <a:ln w="0">
            <a:noFill/>
          </a:ln>
        </p:spPr>
      </p:pic>
      <p:sp>
        <p:nvSpPr>
          <p:cNvPr id="4" name="PlaceHolder 3"/>
          <p:cNvSpPr>
            <a:spLocks noGrp="1"/>
          </p:cNvSpPr>
          <p:nvPr>
            <p:ph type="sldNum" idx="3"/>
          </p:nvPr>
        </p:nvSpPr>
        <p:spPr/>
        <p:txBody>
          <a:bodyPr/>
          <a:lstStyle/>
          <a:p>
            <a:fld id="{7E1DFD96-622C-4229-960F-ECC4ECC14062}" type="slidenum">
              <a:rPr/>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PlaceHolder 1"/>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a:solidFill>
                  <a:srgbClr val="000000"/>
                </a:solidFill>
                <a:latin typeface="Arial Black"/>
              </a:rPr>
              <a:t>Power Train Modeling: Fuel &amp; Air Supply Systems </a:t>
            </a:r>
            <a:endParaRPr lang="en-US" sz="3600" b="0" strike="noStrike" spc="-1">
              <a:latin typeface="Arial"/>
            </a:endParaRPr>
          </a:p>
        </p:txBody>
      </p:sp>
      <p:sp>
        <p:nvSpPr>
          <p:cNvPr id="322" name="PlaceHolder 2"/>
          <p:cNvSpPr>
            <a:spLocks noGrp="1"/>
          </p:cNvSpPr>
          <p:nvPr>
            <p:ph/>
          </p:nvPr>
        </p:nvSpPr>
        <p:spPr>
          <a:xfrm>
            <a:off x="838080" y="1825560"/>
            <a:ext cx="6546960" cy="3990960"/>
          </a:xfrm>
          <a:prstGeom prst="rect">
            <a:avLst/>
          </a:prstGeom>
          <a:noFill/>
          <a:ln w="0">
            <a:noFill/>
          </a:ln>
        </p:spPr>
        <p:txBody>
          <a:bodyPr lIns="90000" tIns="45000" rIns="90000" bIns="45000" anchor="t">
            <a:normAutofit/>
          </a:bodyPr>
          <a:lstStyle/>
          <a:p>
            <a:pPr marL="228600" indent="-228600">
              <a:lnSpc>
                <a:spcPct val="100000"/>
              </a:lnSpc>
              <a:spcBef>
                <a:spcPts val="1001"/>
              </a:spcBef>
              <a:buClr>
                <a:srgbClr val="000000"/>
              </a:buClr>
              <a:buFont typeface="Arial"/>
              <a:buChar char="•"/>
            </a:pPr>
            <a:r>
              <a:rPr lang="en-US" sz="2300" b="0" strike="noStrike" spc="-1">
                <a:solidFill>
                  <a:srgbClr val="000000"/>
                </a:solidFill>
                <a:latin typeface="Arial"/>
              </a:rPr>
              <a:t>Hydrogen and oxygen are provided to the fuel cell at partial pressures and with utilization rates given by:</a:t>
            </a:r>
            <a:endParaRPr lang="en-US" sz="2300" b="0" strike="noStrike" spc="-1">
              <a:latin typeface="Arial"/>
            </a:endParaRPr>
          </a:p>
          <a:p>
            <a:pPr>
              <a:lnSpc>
                <a:spcPct val="100000"/>
              </a:lnSpc>
              <a:spcBef>
                <a:spcPts val="1001"/>
              </a:spcBef>
              <a:buNone/>
              <a:tabLst>
                <a:tab pos="0" algn="l"/>
              </a:tabLst>
            </a:pPr>
            <a:endParaRPr lang="en-US" sz="2800" b="0" strike="noStrike" spc="-1">
              <a:latin typeface="Arial"/>
            </a:endParaRPr>
          </a:p>
          <a:p>
            <a:pPr>
              <a:lnSpc>
                <a:spcPct val="100000"/>
              </a:lnSpc>
              <a:spcBef>
                <a:spcPts val="1001"/>
              </a:spcBef>
              <a:buNone/>
              <a:tabLst>
                <a:tab pos="0" algn="l"/>
              </a:tabLst>
            </a:pPr>
            <a:endParaRPr lang="en-US" sz="2800" b="0" strike="noStrike" spc="-1">
              <a:latin typeface="Arial"/>
            </a:endParaRPr>
          </a:p>
        </p:txBody>
      </p:sp>
      <mc:AlternateContent xmlns:mc="http://schemas.openxmlformats.org/markup-compatibility/2006" xmlns:a14="http://schemas.microsoft.com/office/drawing/2010/main">
        <mc:Choice Requires="a14">
          <p:sp>
            <p:nvSpPr>
              <p:cNvPr id="323" name="TextBox 4"/>
              <p:cNvSpPr txBox="1"/>
              <p:nvPr/>
            </p:nvSpPr>
            <p:spPr>
              <a:xfrm>
                <a:off x="2026080" y="3254040"/>
                <a:ext cx="2780640" cy="298080"/>
              </a:xfrm>
              <a:prstGeom prst="rect">
                <a:avLst/>
              </a:prstGeom>
            </p:spPr>
            <p:txBody>
              <a:bodyPr/>
              <a:lstStyle/>
              <a:p>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𝐻</m:t>
                          </m:r>
                          <m:r>
                            <a:rPr>
                              <a:latin typeface="Cambria Math" panose="02040503050406030204" pitchFamily="18" charset="0"/>
                            </a:rPr>
                            <m:t>2</m:t>
                          </m:r>
                        </m:sub>
                      </m:sSub>
                      <m:r>
                        <a:rPr>
                          <a:latin typeface="Cambria Math" panose="02040503050406030204" pitchFamily="18" charset="0"/>
                        </a:rPr>
                        <m:t>=</m:t>
                      </m:r>
                      <m:d>
                        <m:dPr>
                          <m:ctrlPr>
                            <a:rPr>
                              <a:latin typeface="Cambria Math" panose="02040503050406030204" pitchFamily="18" charset="0"/>
                            </a:rPr>
                          </m:ctrlPr>
                        </m:dPr>
                        <m:e>
                          <m:r>
                            <a:rPr>
                              <a:latin typeface="Cambria Math" panose="02040503050406030204" pitchFamily="18" charset="0"/>
                            </a:rPr>
                            <m:t>1−</m:t>
                          </m:r>
                          <m:sSub>
                            <m:sSubPr>
                              <m:ctrlPr>
                                <a:rPr>
                                  <a:latin typeface="Cambria Math" panose="02040503050406030204" pitchFamily="18" charset="0"/>
                                </a:rPr>
                              </m:ctrlPr>
                            </m:sSubPr>
                            <m:e>
                              <m:r>
                                <a:rPr>
                                  <a:latin typeface="Cambria Math" panose="02040503050406030204" pitchFamily="18" charset="0"/>
                                </a:rPr>
                                <m:t>𝑈</m:t>
                              </m:r>
                            </m:e>
                            <m:sub>
                              <m:r>
                                <a:rPr>
                                  <a:latin typeface="Cambria Math" panose="02040503050406030204" pitchFamily="18" charset="0"/>
                                </a:rPr>
                                <m:t>𝐻</m:t>
                              </m:r>
                              <m:r>
                                <a:rPr>
                                  <a:latin typeface="Cambria Math" panose="02040503050406030204" pitchFamily="18" charset="0"/>
                                </a:rPr>
                                <m:t>2</m:t>
                              </m:r>
                            </m:sub>
                          </m:sSub>
                        </m:e>
                      </m:d>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𝐻</m:t>
                          </m:r>
                          <m:r>
                            <a:rPr>
                              <a:latin typeface="Cambria Math" panose="02040503050406030204" pitchFamily="18" charset="0"/>
                            </a:rPr>
                            <m:t>2</m:t>
                          </m:r>
                        </m:sub>
                      </m:sSub>
                      <m:sSub>
                        <m:sSubPr>
                          <m:ctrlPr>
                            <a:rPr>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𝑓𝑢𝑒𝑙</m:t>
                          </m:r>
                        </m:sub>
                      </m:sSub>
                    </m:oMath>
                  </m:oMathPara>
                </a14:m>
                <a:endParaRPr dirty="0"/>
              </a:p>
            </p:txBody>
          </p:sp>
        </mc:Choice>
        <mc:Fallback xmlns="">
          <p:sp>
            <p:nvSpPr>
              <p:cNvPr id="323" name="TextBox 4"/>
              <p:cNvSpPr txBox="1">
                <a:spLocks noRot="1" noChangeAspect="1" noMove="1" noResize="1" noEditPoints="1" noAdjustHandles="1" noChangeArrowheads="1" noChangeShapeType="1" noTextEdit="1"/>
              </p:cNvSpPr>
              <p:nvPr/>
            </p:nvSpPr>
            <p:spPr>
              <a:xfrm>
                <a:off x="2026080" y="3254040"/>
                <a:ext cx="2780640" cy="298080"/>
              </a:xfrm>
              <a:prstGeom prst="rect">
                <a:avLst/>
              </a:prstGeom>
              <a:blipFill>
                <a:blip r:embed="rId3"/>
                <a:stretch>
                  <a:fillRect b="-4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4" name="TextBox 8"/>
              <p:cNvSpPr txBox="1"/>
              <p:nvPr/>
            </p:nvSpPr>
            <p:spPr>
              <a:xfrm>
                <a:off x="2026080" y="3558240"/>
                <a:ext cx="2647440" cy="275760"/>
              </a:xfrm>
              <a:prstGeom prst="rect">
                <a:avLst/>
              </a:prstGeom>
            </p:spPr>
            <p:txBody>
              <a:bodyPr/>
              <a:lstStyle/>
              <a:p>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𝑂</m:t>
                          </m:r>
                          <m:r>
                            <a:rPr>
                              <a:latin typeface="Cambria Math" panose="02040503050406030204" pitchFamily="18" charset="0"/>
                            </a:rPr>
                            <m:t>2</m:t>
                          </m:r>
                        </m:sub>
                      </m:sSub>
                      <m:r>
                        <a:rPr>
                          <a:latin typeface="Cambria Math" panose="02040503050406030204" pitchFamily="18" charset="0"/>
                        </a:rPr>
                        <m:t>=</m:t>
                      </m:r>
                      <m:d>
                        <m:dPr>
                          <m:ctrlPr>
                            <a:rPr>
                              <a:latin typeface="Cambria Math" panose="02040503050406030204" pitchFamily="18" charset="0"/>
                            </a:rPr>
                          </m:ctrlPr>
                        </m:dPr>
                        <m:e>
                          <m:r>
                            <a:rPr>
                              <a:latin typeface="Cambria Math" panose="02040503050406030204" pitchFamily="18" charset="0"/>
                            </a:rPr>
                            <m:t>1−</m:t>
                          </m:r>
                          <m:sSub>
                            <m:sSubPr>
                              <m:ctrlPr>
                                <a:rPr>
                                  <a:latin typeface="Cambria Math" panose="02040503050406030204" pitchFamily="18" charset="0"/>
                                </a:rPr>
                              </m:ctrlPr>
                            </m:sSubPr>
                            <m:e>
                              <m:r>
                                <a:rPr>
                                  <a:latin typeface="Cambria Math" panose="02040503050406030204" pitchFamily="18" charset="0"/>
                                </a:rPr>
                                <m:t>𝑈</m:t>
                              </m:r>
                            </m:e>
                            <m:sub>
                              <m:r>
                                <a:rPr>
                                  <a:latin typeface="Cambria Math" panose="02040503050406030204" pitchFamily="18" charset="0"/>
                                </a:rPr>
                                <m:t>𝑂</m:t>
                              </m:r>
                              <m:r>
                                <a:rPr>
                                  <a:latin typeface="Cambria Math" panose="02040503050406030204" pitchFamily="18" charset="0"/>
                                </a:rPr>
                                <m:t>2</m:t>
                              </m:r>
                            </m:sub>
                          </m:sSub>
                        </m:e>
                      </m:d>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𝑂</m:t>
                          </m:r>
                          <m:r>
                            <a:rPr>
                              <a:latin typeface="Cambria Math" panose="02040503050406030204" pitchFamily="18" charset="0"/>
                            </a:rPr>
                            <m:t>2</m:t>
                          </m:r>
                        </m:sub>
                      </m:sSub>
                      <m:sSub>
                        <m:sSubPr>
                          <m:ctrlPr>
                            <a:rPr>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𝑎𝑖𝑟</m:t>
                          </m:r>
                        </m:sub>
                      </m:sSub>
                    </m:oMath>
                  </m:oMathPara>
                </a14:m>
                <a:endParaRPr dirty="0"/>
              </a:p>
            </p:txBody>
          </p:sp>
        </mc:Choice>
        <mc:Fallback xmlns="">
          <p:sp>
            <p:nvSpPr>
              <p:cNvPr id="324" name="TextBox 8"/>
              <p:cNvSpPr txBox="1">
                <a:spLocks noRot="1" noChangeAspect="1" noMove="1" noResize="1" noEditPoints="1" noAdjustHandles="1" noChangeArrowheads="1" noChangeShapeType="1" noTextEdit="1"/>
              </p:cNvSpPr>
              <p:nvPr/>
            </p:nvSpPr>
            <p:spPr>
              <a:xfrm>
                <a:off x="2026080" y="3558240"/>
                <a:ext cx="2647440" cy="275760"/>
              </a:xfrm>
              <a:prstGeom prst="rect">
                <a:avLst/>
              </a:prstGeom>
              <a:blipFill>
                <a:blip r:embed="rId4"/>
                <a:stretch>
                  <a:fillRect b="-4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5" name="TextBox 10"/>
              <p:cNvSpPr txBox="1"/>
              <p:nvPr/>
            </p:nvSpPr>
            <p:spPr>
              <a:xfrm>
                <a:off x="1837592" y="3883320"/>
                <a:ext cx="3206008" cy="275760"/>
              </a:xfrm>
              <a:prstGeom prst="rect">
                <a:avLst/>
              </a:prstGeom>
            </p:spPr>
            <p:txBody>
              <a:bodyPr/>
              <a:lstStyle/>
              <a:p>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𝐻</m:t>
                          </m:r>
                          <m:r>
                            <a:rPr>
                              <a:latin typeface="Cambria Math" panose="02040503050406030204" pitchFamily="18" charset="0"/>
                            </a:rPr>
                            <m:t>2</m:t>
                          </m:r>
                          <m:r>
                            <a:rPr>
                              <a:latin typeface="Cambria Math" panose="02040503050406030204" pitchFamily="18" charset="0"/>
                            </a:rPr>
                            <m:t>𝑂</m:t>
                          </m:r>
                        </m:sub>
                      </m:sSub>
                      <m:r>
                        <a:rPr>
                          <a:latin typeface="Cambria Math" panose="02040503050406030204" pitchFamily="18" charset="0"/>
                        </a:rPr>
                        <m:t>=</m:t>
                      </m:r>
                      <m:d>
                        <m:dPr>
                          <m:ctrlPr>
                            <a:rPr i="1">
                              <a:latin typeface="Cambria Math" panose="02040503050406030204" pitchFamily="18" charset="0"/>
                            </a:rPr>
                          </m:ctrlPr>
                        </m:dPr>
                        <m:e>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𝐻</m:t>
                              </m:r>
                              <m:r>
                                <a:rPr>
                                  <a:latin typeface="Cambria Math" panose="02040503050406030204" pitchFamily="18" charset="0"/>
                                </a:rPr>
                                <m:t>2</m:t>
                              </m:r>
                              <m:r>
                                <a:rPr>
                                  <a:latin typeface="Cambria Math" panose="02040503050406030204" pitchFamily="18" charset="0"/>
                                </a:rPr>
                                <m:t>𝑂</m:t>
                              </m:r>
                            </m:sub>
                          </m:sSub>
                          <m:r>
                            <a:rPr>
                              <a:latin typeface="Cambria Math" panose="02040503050406030204" pitchFamily="18" charset="0"/>
                            </a:rPr>
                            <m:t>+2</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𝑂</m:t>
                              </m:r>
                              <m:r>
                                <a:rPr>
                                  <a:latin typeface="Cambria Math" panose="02040503050406030204" pitchFamily="18" charset="0"/>
                                </a:rPr>
                                <m:t>2</m:t>
                              </m:r>
                            </m:sub>
                          </m:sSub>
                          <m:sSub>
                            <m:sSubPr>
                              <m:ctrlPr>
                                <a:rPr>
                                  <a:latin typeface="Cambria Math" panose="02040503050406030204" pitchFamily="18" charset="0"/>
                                </a:rPr>
                              </m:ctrlPr>
                            </m:sSubPr>
                            <m:e>
                              <m:r>
                                <a:rPr>
                                  <a:latin typeface="Cambria Math" panose="02040503050406030204" pitchFamily="18" charset="0"/>
                                </a:rPr>
                                <m:t>𝑈</m:t>
                              </m:r>
                            </m:e>
                            <m:sub>
                              <m:r>
                                <a:rPr>
                                  <a:latin typeface="Cambria Math" panose="02040503050406030204" pitchFamily="18" charset="0"/>
                                </a:rPr>
                                <m:t>𝑂</m:t>
                              </m:r>
                              <m:r>
                                <a:rPr>
                                  <a:latin typeface="Cambria Math" panose="02040503050406030204" pitchFamily="18" charset="0"/>
                                </a:rPr>
                                <m:t>2</m:t>
                              </m:r>
                            </m:sub>
                          </m:sSub>
                        </m:e>
                      </m:d>
                      <m:sSub>
                        <m:sSubPr>
                          <m:ctrlPr>
                            <a:rPr>
                              <a:latin typeface="Cambria Math" panose="02040503050406030204" pitchFamily="18" charset="0"/>
                            </a:rPr>
                          </m:ctrlPr>
                        </m:sSubPr>
                        <m:e>
                          <m:r>
                            <a:rPr>
                              <a:latin typeface="Cambria Math" panose="02040503050406030204" pitchFamily="18" charset="0"/>
                            </a:rPr>
                            <m:t>𝑝</m:t>
                          </m:r>
                        </m:e>
                        <m:sub>
                          <m:r>
                            <a:rPr>
                              <a:latin typeface="Cambria Math" panose="02040503050406030204" pitchFamily="18" charset="0"/>
                            </a:rPr>
                            <m:t>𝑎𝑖𝑟</m:t>
                          </m:r>
                        </m:sub>
                      </m:sSub>
                    </m:oMath>
                  </m:oMathPara>
                </a14:m>
                <a:endParaRPr dirty="0"/>
              </a:p>
            </p:txBody>
          </p:sp>
        </mc:Choice>
        <mc:Fallback xmlns="">
          <p:sp>
            <p:nvSpPr>
              <p:cNvPr id="325" name="TextBox 10"/>
              <p:cNvSpPr txBox="1">
                <a:spLocks noRot="1" noChangeAspect="1" noMove="1" noResize="1" noEditPoints="1" noAdjustHandles="1" noChangeArrowheads="1" noChangeShapeType="1" noTextEdit="1"/>
              </p:cNvSpPr>
              <p:nvPr/>
            </p:nvSpPr>
            <p:spPr>
              <a:xfrm>
                <a:off x="1837592" y="3883320"/>
                <a:ext cx="3206008" cy="275760"/>
              </a:xfrm>
              <a:prstGeom prst="rect">
                <a:avLst/>
              </a:prstGeom>
              <a:blipFill>
                <a:blip r:embed="rId5"/>
                <a:stretch>
                  <a:fillRect b="-4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6" name="TextBox 11"/>
              <p:cNvSpPr txBox="1"/>
              <p:nvPr/>
            </p:nvSpPr>
            <p:spPr>
              <a:xfrm>
                <a:off x="2351997" y="4269600"/>
                <a:ext cx="1995605" cy="564480"/>
              </a:xfrm>
              <a:prstGeom prst="rect">
                <a:avLst/>
              </a:prstGeom>
            </p:spPr>
            <p:txBody>
              <a:bodyPr/>
              <a:lstStyle/>
              <a:p>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𝑈</m:t>
                          </m:r>
                        </m:e>
                        <m:sub>
                          <m:r>
                            <a:rPr>
                              <a:latin typeface="Cambria Math" panose="02040503050406030204" pitchFamily="18" charset="0"/>
                            </a:rPr>
                            <m:t>𝑂</m:t>
                          </m:r>
                          <m:r>
                            <a:rPr>
                              <a:latin typeface="Cambria Math" panose="02040503050406030204" pitchFamily="18" charset="0"/>
                            </a:rPr>
                            <m:t>2</m:t>
                          </m:r>
                        </m:sub>
                      </m:sSub>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𝑛𝐼</m:t>
                          </m:r>
                          <m:sSub>
                            <m:sSubPr>
                              <m:ctrlPr>
                                <a:rPr>
                                  <a:latin typeface="Cambria Math" panose="02040503050406030204" pitchFamily="18" charset="0"/>
                                </a:rPr>
                              </m:ctrlPr>
                            </m:sSubPr>
                            <m:e>
                              <m:r>
                                <a:rPr>
                                  <a:latin typeface="Cambria Math" panose="02040503050406030204" pitchFamily="18" charset="0"/>
                                </a:rPr>
                                <m:t>𝑀</m:t>
                              </m:r>
                            </m:e>
                            <m:sub>
                              <m:r>
                                <a:rPr>
                                  <a:latin typeface="Cambria Math" panose="02040503050406030204" pitchFamily="18" charset="0"/>
                                </a:rPr>
                                <m:t>𝑂</m:t>
                              </m:r>
                              <m:r>
                                <a:rPr>
                                  <a:latin typeface="Cambria Math" panose="02040503050406030204" pitchFamily="18" charset="0"/>
                                </a:rPr>
                                <m:t>2</m:t>
                              </m:r>
                            </m:sub>
                          </m:sSub>
                        </m:num>
                        <m:den>
                          <m:r>
                            <a:rPr>
                              <a:latin typeface="Cambria Math" panose="02040503050406030204" pitchFamily="18" charset="0"/>
                            </a:rPr>
                            <m:t>4</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𝑂</m:t>
                              </m:r>
                              <m:r>
                                <a:rPr>
                                  <a:latin typeface="Cambria Math" panose="02040503050406030204" pitchFamily="18" charset="0"/>
                                </a:rPr>
                                <m:t>2</m:t>
                              </m:r>
                            </m:sub>
                          </m:sSub>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𝑚</m:t>
                                  </m:r>
                                </m:e>
                              </m:acc>
                            </m:e>
                            <m:sub>
                              <m:r>
                                <a:rPr>
                                  <a:latin typeface="Cambria Math" panose="02040503050406030204" pitchFamily="18" charset="0"/>
                                </a:rPr>
                                <m:t>𝑎𝑖𝑟</m:t>
                              </m:r>
                            </m:sub>
                          </m:sSub>
                          <m:r>
                            <a:rPr>
                              <a:latin typeface="Cambria Math" panose="02040503050406030204" pitchFamily="18" charset="0"/>
                            </a:rPr>
                            <m:t>𝐹</m:t>
                          </m:r>
                        </m:den>
                      </m:f>
                    </m:oMath>
                  </m:oMathPara>
                </a14:m>
                <a:endParaRPr dirty="0"/>
              </a:p>
            </p:txBody>
          </p:sp>
        </mc:Choice>
        <mc:Fallback xmlns="">
          <p:sp>
            <p:nvSpPr>
              <p:cNvPr id="326" name="TextBox 11"/>
              <p:cNvSpPr txBox="1">
                <a:spLocks noRot="1" noChangeAspect="1" noMove="1" noResize="1" noEditPoints="1" noAdjustHandles="1" noChangeArrowheads="1" noChangeShapeType="1" noTextEdit="1"/>
              </p:cNvSpPr>
              <p:nvPr/>
            </p:nvSpPr>
            <p:spPr>
              <a:xfrm>
                <a:off x="2351997" y="4269600"/>
                <a:ext cx="1995605" cy="564480"/>
              </a:xfrm>
              <a:prstGeom prst="rect">
                <a:avLst/>
              </a:prstGeom>
              <a:blipFill>
                <a:blip r:embed="rId6"/>
                <a:stretch>
                  <a:fillRect b="-86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7" name="TextBox 13"/>
              <p:cNvSpPr txBox="1"/>
              <p:nvPr/>
            </p:nvSpPr>
            <p:spPr>
              <a:xfrm>
                <a:off x="2569140" y="4928040"/>
                <a:ext cx="1561320" cy="562680"/>
              </a:xfrm>
              <a:prstGeom prst="rect">
                <a:avLst/>
              </a:prstGeom>
            </p:spPr>
            <p:txBody>
              <a:bodyPr/>
              <a:lstStyle/>
              <a:p>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𝑈</m:t>
                          </m:r>
                        </m:e>
                        <m:sub>
                          <m:r>
                            <a:rPr>
                              <a:latin typeface="Cambria Math" panose="02040503050406030204" pitchFamily="18" charset="0"/>
                            </a:rPr>
                            <m:t>𝐻</m:t>
                          </m:r>
                          <m:r>
                            <a:rPr>
                              <a:latin typeface="Cambria Math" panose="02040503050406030204" pitchFamily="18" charset="0"/>
                            </a:rPr>
                            <m:t>2</m:t>
                          </m:r>
                        </m:sub>
                      </m:sSub>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𝑛𝐼</m:t>
                          </m:r>
                          <m:sSub>
                            <m:sSubPr>
                              <m:ctrlPr>
                                <a:rPr>
                                  <a:latin typeface="Cambria Math" panose="02040503050406030204" pitchFamily="18" charset="0"/>
                                </a:rPr>
                              </m:ctrlPr>
                            </m:sSubPr>
                            <m:e>
                              <m:r>
                                <a:rPr>
                                  <a:latin typeface="Cambria Math" panose="02040503050406030204" pitchFamily="18" charset="0"/>
                                </a:rPr>
                                <m:t>𝑀</m:t>
                              </m:r>
                            </m:e>
                            <m:sub>
                              <m:r>
                                <a:rPr>
                                  <a:latin typeface="Cambria Math" panose="02040503050406030204" pitchFamily="18" charset="0"/>
                                </a:rPr>
                                <m:t>𝐻</m:t>
                              </m:r>
                              <m:r>
                                <a:rPr>
                                  <a:latin typeface="Cambria Math" panose="02040503050406030204" pitchFamily="18" charset="0"/>
                                </a:rPr>
                                <m:t>2</m:t>
                              </m:r>
                            </m:sub>
                          </m:sSub>
                        </m:num>
                        <m:den>
                          <m:r>
                            <a:rPr>
                              <a:latin typeface="Cambria Math" panose="02040503050406030204" pitchFamily="18" charset="0"/>
                            </a:rPr>
                            <m:t>2</m:t>
                          </m:r>
                          <m:sSub>
                            <m:sSubPr>
                              <m:ctrlPr>
                                <a:rPr i="1">
                                  <a:latin typeface="Cambria Math" panose="02040503050406030204" pitchFamily="18" charset="0"/>
                                </a:rPr>
                              </m:ctrlPr>
                            </m:sSubPr>
                            <m:e>
                              <m:acc>
                                <m:accPr>
                                  <m:chr m:val="˙"/>
                                  <m:ctrlPr>
                                    <a:rPr>
                                      <a:latin typeface="Cambria Math" panose="02040503050406030204" pitchFamily="18" charset="0"/>
                                    </a:rPr>
                                  </m:ctrlPr>
                                </m:accPr>
                                <m:e>
                                  <m:r>
                                    <a:rPr>
                                      <a:latin typeface="Cambria Math" panose="02040503050406030204" pitchFamily="18" charset="0"/>
                                    </a:rPr>
                                    <m:t>𝑚</m:t>
                                  </m:r>
                                </m:e>
                              </m:acc>
                            </m:e>
                            <m:sub>
                              <m:r>
                                <a:rPr>
                                  <a:latin typeface="Cambria Math" panose="02040503050406030204" pitchFamily="18" charset="0"/>
                                </a:rPr>
                                <m:t>𝐻</m:t>
                              </m:r>
                              <m:r>
                                <a:rPr>
                                  <a:latin typeface="Cambria Math" panose="02040503050406030204" pitchFamily="18" charset="0"/>
                                </a:rPr>
                                <m:t>2</m:t>
                              </m:r>
                            </m:sub>
                          </m:sSub>
                          <m:r>
                            <a:rPr>
                              <a:latin typeface="Cambria Math" panose="02040503050406030204" pitchFamily="18" charset="0"/>
                            </a:rPr>
                            <m:t>𝐹</m:t>
                          </m:r>
                        </m:den>
                      </m:f>
                    </m:oMath>
                  </m:oMathPara>
                </a14:m>
                <a:endParaRPr dirty="0"/>
              </a:p>
            </p:txBody>
          </p:sp>
        </mc:Choice>
        <mc:Fallback xmlns="">
          <p:sp>
            <p:nvSpPr>
              <p:cNvPr id="327" name="TextBox 13"/>
              <p:cNvSpPr txBox="1">
                <a:spLocks noRot="1" noChangeAspect="1" noMove="1" noResize="1" noEditPoints="1" noAdjustHandles="1" noChangeArrowheads="1" noChangeShapeType="1" noTextEdit="1"/>
              </p:cNvSpPr>
              <p:nvPr/>
            </p:nvSpPr>
            <p:spPr>
              <a:xfrm>
                <a:off x="2569140" y="4928040"/>
                <a:ext cx="1561320" cy="562680"/>
              </a:xfrm>
              <a:prstGeom prst="rect">
                <a:avLst/>
              </a:prstGeom>
              <a:blipFill>
                <a:blip r:embed="rId7"/>
                <a:stretch>
                  <a:fillRect b="-7527"/>
                </a:stretch>
              </a:blipFill>
            </p:spPr>
            <p:txBody>
              <a:bodyPr/>
              <a:lstStyle/>
              <a:p>
                <a:r>
                  <a:rPr lang="en-US">
                    <a:noFill/>
                  </a:rPr>
                  <a:t> </a:t>
                </a:r>
              </a:p>
            </p:txBody>
          </p:sp>
        </mc:Fallback>
      </mc:AlternateContent>
      <p:sp>
        <p:nvSpPr>
          <p:cNvPr id="328" name="TextBox 16"/>
          <p:cNvSpPr/>
          <p:nvPr/>
        </p:nvSpPr>
        <p:spPr>
          <a:xfrm>
            <a:off x="7148402" y="1825560"/>
            <a:ext cx="4748760" cy="4388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a:lnSpc>
                <a:spcPct val="100000"/>
              </a:lnSpc>
              <a:buClr>
                <a:srgbClr val="000000"/>
              </a:buClr>
              <a:buFont typeface="Arial"/>
              <a:buChar char="•"/>
            </a:pPr>
            <a:r>
              <a:rPr lang="en-US" sz="2300" b="0" strike="noStrike" spc="-1" dirty="0">
                <a:solidFill>
                  <a:srgbClr val="000000"/>
                </a:solidFill>
                <a:latin typeface="Arial"/>
                <a:ea typeface="DejaVu Sans"/>
              </a:rPr>
              <a:t>Standard practice is to store liquid H</a:t>
            </a:r>
            <a:r>
              <a:rPr lang="en-US" sz="2300" b="0" strike="noStrike" spc="-1" baseline="-25000" dirty="0">
                <a:solidFill>
                  <a:srgbClr val="000000"/>
                </a:solidFill>
                <a:latin typeface="Arial"/>
                <a:ea typeface="DejaVu Sans"/>
              </a:rPr>
              <a:t>2</a:t>
            </a:r>
            <a:r>
              <a:rPr lang="en-US" sz="2300" b="0" strike="noStrike" spc="-1" dirty="0">
                <a:solidFill>
                  <a:srgbClr val="000000"/>
                </a:solidFill>
                <a:latin typeface="Arial"/>
                <a:ea typeface="DejaVu Sans"/>
              </a:rPr>
              <a:t> in cryogenic tanks at atmospheric pressure and 20 K (just below boiling point)</a:t>
            </a:r>
            <a:endParaRPr lang="en-US" sz="2300" b="0" strike="noStrike" spc="-1" dirty="0">
              <a:latin typeface="Arial"/>
            </a:endParaRPr>
          </a:p>
          <a:p>
            <a:pPr marL="285840" indent="-285840">
              <a:lnSpc>
                <a:spcPct val="100000"/>
              </a:lnSpc>
              <a:buClr>
                <a:srgbClr val="000000"/>
              </a:buClr>
              <a:buFont typeface="Arial"/>
              <a:buChar char="•"/>
            </a:pPr>
            <a:r>
              <a:rPr lang="en-US" sz="2300" b="0" strike="noStrike" spc="-1" dirty="0">
                <a:solidFill>
                  <a:srgbClr val="000000"/>
                </a:solidFill>
                <a:latin typeface="Arial"/>
                <a:ea typeface="DejaVu Sans"/>
              </a:rPr>
              <a:t>H</a:t>
            </a:r>
            <a:r>
              <a:rPr lang="en-US" sz="2300" b="0" strike="noStrike" spc="-1" baseline="-25000" dirty="0">
                <a:solidFill>
                  <a:srgbClr val="000000"/>
                </a:solidFill>
                <a:latin typeface="Arial"/>
                <a:ea typeface="DejaVu Sans"/>
              </a:rPr>
              <a:t>2</a:t>
            </a:r>
            <a:r>
              <a:rPr lang="en-US" sz="2300" b="0" strike="noStrike" spc="-1" dirty="0">
                <a:solidFill>
                  <a:srgbClr val="000000"/>
                </a:solidFill>
                <a:latin typeface="Arial"/>
                <a:ea typeface="DejaVu Sans"/>
              </a:rPr>
              <a:t> undergoes a preheat to 26.85°C using coolant discharged from the fuel cell; air goes through a similar process in the main heat exchanger</a:t>
            </a:r>
            <a:endParaRPr lang="en-US" sz="2300" b="0" strike="noStrike" spc="-1" dirty="0">
              <a:latin typeface="Arial"/>
            </a:endParaRPr>
          </a:p>
          <a:p>
            <a:pPr marL="285840" indent="-285840">
              <a:lnSpc>
                <a:spcPct val="100000"/>
              </a:lnSpc>
              <a:buClr>
                <a:srgbClr val="000000"/>
              </a:buClr>
              <a:buFont typeface="Arial"/>
              <a:buChar char="•"/>
            </a:pPr>
            <a:r>
              <a:rPr lang="en-US" sz="2300" b="0" strike="noStrike" spc="-1" dirty="0">
                <a:solidFill>
                  <a:srgbClr val="000000"/>
                </a:solidFill>
                <a:latin typeface="Arial"/>
                <a:ea typeface="DejaVu Sans"/>
              </a:rPr>
              <a:t>Finally, a compressor boosts both inflows to working pressure</a:t>
            </a:r>
            <a:endParaRPr lang="en-US" sz="2300" b="0" strike="noStrike" spc="-1" dirty="0">
              <a:latin typeface="Arial"/>
            </a:endParaRPr>
          </a:p>
          <a:p>
            <a:pPr>
              <a:lnSpc>
                <a:spcPct val="100000"/>
              </a:lnSpc>
              <a:buNone/>
            </a:pPr>
            <a:endParaRPr lang="en-US" sz="2300" b="0" strike="noStrike" spc="-1" dirty="0">
              <a:latin typeface="Arial"/>
            </a:endParaRPr>
          </a:p>
        </p:txBody>
      </p:sp>
      <p:sp>
        <p:nvSpPr>
          <p:cNvPr id="4" name="PlaceHolder 3"/>
          <p:cNvSpPr>
            <a:spLocks noGrp="1"/>
          </p:cNvSpPr>
          <p:nvPr>
            <p:ph type="sldNum" idx="3"/>
          </p:nvPr>
        </p:nvSpPr>
        <p:spPr/>
        <p:txBody>
          <a:bodyPr/>
          <a:lstStyle/>
          <a:p>
            <a:fld id="{14C53FD2-E3F6-45AA-A885-AB9F37B30258}" type="slidenum">
              <a:rPr/>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 name="PlaceHolder 1"/>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a:solidFill>
                  <a:srgbClr val="000000"/>
                </a:solidFill>
                <a:latin typeface="Arial Black"/>
              </a:rPr>
              <a:t>Power Train Modeling: Thermal Loop</a:t>
            </a:r>
            <a:endParaRPr lang="en-US" sz="3600" b="0" strike="noStrike" spc="-1">
              <a:latin typeface="Arial"/>
            </a:endParaRPr>
          </a:p>
        </p:txBody>
      </p:sp>
      <p:sp>
        <p:nvSpPr>
          <p:cNvPr id="330" name="PlaceHolder 2"/>
          <p:cNvSpPr>
            <a:spLocks noGrp="1"/>
          </p:cNvSpPr>
          <p:nvPr>
            <p:ph/>
          </p:nvPr>
        </p:nvSpPr>
        <p:spPr>
          <a:xfrm>
            <a:off x="838080" y="1825560"/>
            <a:ext cx="3520440" cy="4253040"/>
          </a:xfrm>
          <a:prstGeom prst="rect">
            <a:avLst/>
          </a:prstGeom>
          <a:noFill/>
          <a:ln w="0">
            <a:noFill/>
          </a:ln>
        </p:spPr>
        <p:txBody>
          <a:bodyPr lIns="90000" tIns="45000" rIns="90000" bIns="45000" anchor="t">
            <a:normAutofit fontScale="65000" lnSpcReduction="20000"/>
          </a:bodyPr>
          <a:lstStyle/>
          <a:p>
            <a:pPr marL="228600" indent="-228600">
              <a:lnSpc>
                <a:spcPct val="100000"/>
              </a:lnSpc>
              <a:spcBef>
                <a:spcPts val="1001"/>
              </a:spcBef>
              <a:buClr>
                <a:srgbClr val="000000"/>
              </a:buClr>
              <a:buFont typeface="Arial"/>
              <a:buChar char="•"/>
            </a:pPr>
            <a:r>
              <a:rPr lang="en-US" sz="2800" b="0" strike="noStrike" spc="-1">
                <a:solidFill>
                  <a:srgbClr val="000000"/>
                </a:solidFill>
                <a:latin typeface="Arial"/>
              </a:rPr>
              <a:t>Circulates water to provide cooling</a:t>
            </a:r>
            <a:endParaRPr lang="en-US" sz="2800" b="0" strike="noStrike" spc="-1">
              <a:latin typeface="Arial"/>
            </a:endParaRPr>
          </a:p>
          <a:p>
            <a:pPr marL="228600" indent="-228600">
              <a:lnSpc>
                <a:spcPct val="100000"/>
              </a:lnSpc>
              <a:spcBef>
                <a:spcPts val="1001"/>
              </a:spcBef>
              <a:buClr>
                <a:srgbClr val="000000"/>
              </a:buClr>
              <a:buFont typeface="Arial"/>
              <a:buChar char="•"/>
            </a:pPr>
            <a:r>
              <a:rPr lang="en-US" sz="2800" b="0" strike="noStrike" spc="-1">
                <a:solidFill>
                  <a:srgbClr val="000000"/>
                </a:solidFill>
                <a:latin typeface="Arial"/>
              </a:rPr>
              <a:t>Main components include main heat exchanger, throttle valve with PI control, and coolant pump.</a:t>
            </a:r>
            <a:endParaRPr lang="en-US" sz="2800" b="0" strike="noStrike" spc="-1">
              <a:latin typeface="Arial"/>
            </a:endParaRPr>
          </a:p>
          <a:p>
            <a:pPr marL="228600" indent="-228600">
              <a:lnSpc>
                <a:spcPct val="100000"/>
              </a:lnSpc>
              <a:spcBef>
                <a:spcPts val="1001"/>
              </a:spcBef>
              <a:buClr>
                <a:srgbClr val="000000"/>
              </a:buClr>
              <a:buFont typeface="Arial"/>
              <a:buChar char="•"/>
            </a:pPr>
            <a:r>
              <a:rPr lang="en-US" sz="2800" b="0" strike="noStrike" spc="-1">
                <a:solidFill>
                  <a:srgbClr val="000000"/>
                </a:solidFill>
                <a:latin typeface="Arial"/>
              </a:rPr>
              <a:t>H</a:t>
            </a:r>
            <a:r>
              <a:rPr lang="en-US" sz="2800" b="0" strike="noStrike" spc="-1" baseline="-25000">
                <a:solidFill>
                  <a:srgbClr val="000000"/>
                </a:solidFill>
                <a:latin typeface="Arial"/>
              </a:rPr>
              <a:t>2</a:t>
            </a:r>
            <a:r>
              <a:rPr lang="en-US" sz="2800" b="0" strike="noStrike" spc="-1">
                <a:solidFill>
                  <a:srgbClr val="000000"/>
                </a:solidFill>
                <a:latin typeface="Arial"/>
              </a:rPr>
              <a:t> preheat provides secondary source of cooling</a:t>
            </a:r>
            <a:endParaRPr lang="en-US" sz="2800" b="0" strike="noStrike" spc="-1">
              <a:latin typeface="Arial"/>
            </a:endParaRPr>
          </a:p>
          <a:p>
            <a:pPr marL="228600" indent="-228600">
              <a:lnSpc>
                <a:spcPct val="100000"/>
              </a:lnSpc>
              <a:spcBef>
                <a:spcPts val="1001"/>
              </a:spcBef>
              <a:buClr>
                <a:srgbClr val="000000"/>
              </a:buClr>
              <a:buFont typeface="Arial"/>
              <a:buChar char="•"/>
            </a:pPr>
            <a:r>
              <a:rPr lang="en-US" sz="2800" b="0" strike="noStrike" spc="-1">
                <a:solidFill>
                  <a:srgbClr val="000000"/>
                </a:solidFill>
                <a:latin typeface="Arial"/>
              </a:rPr>
              <a:t>Fuel cell interfaces with the system via cooling plates</a:t>
            </a:r>
            <a:endParaRPr lang="en-US" sz="2800" b="0" strike="noStrike" spc="-1">
              <a:latin typeface="Arial"/>
            </a:endParaRPr>
          </a:p>
          <a:p>
            <a:pPr marL="228600" indent="-228600">
              <a:lnSpc>
                <a:spcPct val="100000"/>
              </a:lnSpc>
              <a:spcBef>
                <a:spcPts val="1001"/>
              </a:spcBef>
              <a:buClr>
                <a:srgbClr val="000000"/>
              </a:buClr>
              <a:buFont typeface="Arial"/>
              <a:buChar char="•"/>
            </a:pPr>
            <a:r>
              <a:rPr lang="en-US" sz="2800" b="0" strike="noStrike" spc="-1">
                <a:solidFill>
                  <a:srgbClr val="000000"/>
                </a:solidFill>
                <a:latin typeface="Arial"/>
              </a:rPr>
              <a:t>Number of thermal units (NTU) commonly used in heat exchanger analysis, defined as</a:t>
            </a:r>
            <a:endParaRPr lang="en-US" sz="2800" b="0" strike="noStrike" spc="-1">
              <a:latin typeface="Arial"/>
            </a:endParaRPr>
          </a:p>
        </p:txBody>
      </p:sp>
      <p:pic>
        <p:nvPicPr>
          <p:cNvPr id="331" name="Picture 6"/>
          <p:cNvPicPr/>
          <p:nvPr/>
        </p:nvPicPr>
        <p:blipFill>
          <a:blip r:embed="rId3"/>
          <a:stretch/>
        </p:blipFill>
        <p:spPr>
          <a:xfrm>
            <a:off x="4400280" y="1690560"/>
            <a:ext cx="6952320" cy="4388040"/>
          </a:xfrm>
          <a:prstGeom prst="rect">
            <a:avLst/>
          </a:prstGeom>
          <a:ln w="0">
            <a:noFill/>
          </a:ln>
        </p:spPr>
      </p:pic>
      <mc:AlternateContent xmlns:mc="http://schemas.openxmlformats.org/markup-compatibility/2006" xmlns:a14="http://schemas.microsoft.com/office/drawing/2010/main">
        <mc:Choice Requires="a14">
          <p:sp>
            <p:nvSpPr>
              <p:cNvPr id="332" name="TextBox 4"/>
              <p:cNvSpPr txBox="1"/>
              <p:nvPr/>
            </p:nvSpPr>
            <p:spPr>
              <a:xfrm>
                <a:off x="1474920" y="5592240"/>
                <a:ext cx="2039040" cy="601920"/>
              </a:xfrm>
              <a:prstGeom prst="rect">
                <a:avLst/>
              </a:prstGeom>
            </p:spPr>
            <p:txBody>
              <a:bodyPr/>
              <a:lstStyle/>
              <a:p>
                <a:pPr/>
                <a14:m>
                  <m:oMathPara xmlns:m="http://schemas.openxmlformats.org/officeDocument/2006/math">
                    <m:oMath>
                      <m:r>
                        <a:rPr>
                          <a:latin typeface="Cambria Math" panose="02040503050406030204" pitchFamily="18" charset="0"/>
                        </a:rPr>
                        <m:t>𝑁𝑇𝑈</m:t>
                      </m:r>
                      <m:r>
                        <a:rPr>
                          <a:latin typeface="Cambria Math" panose="02040503050406030204" pitchFamily="18" charset="0"/>
                        </a:rPr>
                        <m:t>=</m:t>
                      </m:r>
                      <m:f>
                        <m:fPr>
                          <m:ctrlPr>
                            <a:rPr i="1">
                              <a:latin typeface="Cambria Math" panose="02040503050406030204" pitchFamily="18" charset="0"/>
                            </a:rPr>
                          </m:ctrlPr>
                        </m:fPr>
                        <m:num>
                          <m:sSub>
                            <m:sSubPr>
                              <m:ctrlPr>
                                <a:rPr>
                                  <a:latin typeface="Cambria Math" panose="02040503050406030204" pitchFamily="18" charset="0"/>
                                </a:rPr>
                              </m:ctrlPr>
                            </m:sSubPr>
                            <m:e>
                              <m:r>
                                <a:rPr>
                                  <a:latin typeface="Cambria Math" panose="02040503050406030204" pitchFamily="18" charset="0"/>
                                </a:rPr>
                                <m:t>ℎ</m:t>
                              </m:r>
                            </m:e>
                            <m:sub>
                              <m:r>
                                <a:rPr>
                                  <a:latin typeface="Cambria Math" panose="02040503050406030204" pitchFamily="18" charset="0"/>
                                </a:rPr>
                                <m:t>𝑐𝑜𝑛𝑣</m:t>
                              </m:r>
                            </m:sub>
                          </m:sSub>
                          <m:sSub>
                            <m:sSubPr>
                              <m:ctrlPr>
                                <a:rPr>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𝐻𝑇</m:t>
                              </m:r>
                            </m:sub>
                          </m:sSub>
                        </m:num>
                        <m:den>
                          <m:acc>
                            <m:accPr>
                              <m:chr m:val="˙"/>
                              <m:ctrlPr>
                                <a:rPr>
                                  <a:latin typeface="Cambria Math" panose="02040503050406030204" pitchFamily="18" charset="0"/>
                                </a:rPr>
                              </m:ctrlPr>
                            </m:accPr>
                            <m:e>
                              <m:r>
                                <a:rPr>
                                  <a:latin typeface="Cambria Math" panose="02040503050406030204" pitchFamily="18" charset="0"/>
                                </a:rPr>
                                <m:t>𝑚</m:t>
                              </m:r>
                            </m:e>
                          </m:acc>
                          <m:sSub>
                            <m:sSubPr>
                              <m:ctrlPr>
                                <a:rPr>
                                  <a:latin typeface="Cambria Math" panose="02040503050406030204" pitchFamily="18" charset="0"/>
                                </a:rPr>
                              </m:ctrlPr>
                            </m:sSubPr>
                            <m:e>
                              <m:r>
                                <a:rPr>
                                  <a:latin typeface="Cambria Math" panose="02040503050406030204" pitchFamily="18" charset="0"/>
                                </a:rPr>
                                <m:t>𝑐</m:t>
                              </m:r>
                            </m:e>
                            <m:sub>
                              <m:r>
                                <a:rPr>
                                  <a:latin typeface="Cambria Math" panose="02040503050406030204" pitchFamily="18" charset="0"/>
                                </a:rPr>
                                <m:t>𝑝</m:t>
                              </m:r>
                            </m:sub>
                          </m:sSub>
                        </m:den>
                      </m:f>
                    </m:oMath>
                  </m:oMathPara>
                </a14:m>
                <a:endParaRPr dirty="0"/>
              </a:p>
            </p:txBody>
          </p:sp>
        </mc:Choice>
        <mc:Fallback xmlns="">
          <p:sp>
            <p:nvSpPr>
              <p:cNvPr id="332" name="TextBox 4"/>
              <p:cNvSpPr txBox="1">
                <a:spLocks noRot="1" noChangeAspect="1" noMove="1" noResize="1" noEditPoints="1" noAdjustHandles="1" noChangeArrowheads="1" noChangeShapeType="1" noTextEdit="1"/>
              </p:cNvSpPr>
              <p:nvPr/>
            </p:nvSpPr>
            <p:spPr>
              <a:xfrm>
                <a:off x="1474920" y="5592240"/>
                <a:ext cx="2039040" cy="601920"/>
              </a:xfrm>
              <a:prstGeom prst="rect">
                <a:avLst/>
              </a:prstGeom>
              <a:blipFill>
                <a:blip r:embed="rId4"/>
                <a:stretch>
                  <a:fillRect b="-7071"/>
                </a:stretch>
              </a:blipFill>
            </p:spPr>
            <p:txBody>
              <a:bodyPr/>
              <a:lstStyle/>
              <a:p>
                <a:r>
                  <a:rPr lang="en-US">
                    <a:noFill/>
                  </a:rPr>
                  <a:t> </a:t>
                </a:r>
              </a:p>
            </p:txBody>
          </p:sp>
        </mc:Fallback>
      </mc:AlternateContent>
      <p:sp>
        <p:nvSpPr>
          <p:cNvPr id="4" name="PlaceHolder 3"/>
          <p:cNvSpPr>
            <a:spLocks noGrp="1"/>
          </p:cNvSpPr>
          <p:nvPr>
            <p:ph type="sldNum" idx="3"/>
          </p:nvPr>
        </p:nvSpPr>
        <p:spPr/>
        <p:txBody>
          <a:bodyPr/>
          <a:lstStyle/>
          <a:p>
            <a:fld id="{973D1016-F442-430F-9316-8E360AAEB826}" type="slidenum">
              <a:rPr/>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 name="PlaceHolder 1"/>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a:solidFill>
                  <a:srgbClr val="000000"/>
                </a:solidFill>
                <a:latin typeface="Arial Black"/>
              </a:rPr>
              <a:t>Power Train Modeling: Fuel Cell Cooling Plates</a:t>
            </a:r>
            <a:endParaRPr lang="en-US" sz="3600" b="0" strike="noStrike" spc="-1">
              <a:latin typeface="Arial"/>
            </a:endParaRPr>
          </a:p>
        </p:txBody>
      </p:sp>
      <p:sp>
        <p:nvSpPr>
          <p:cNvPr id="334" name="PlaceHolder 2"/>
          <p:cNvSpPr>
            <a:spLocks noGrp="1"/>
          </p:cNvSpPr>
          <p:nvPr>
            <p:ph/>
          </p:nvPr>
        </p:nvSpPr>
        <p:spPr>
          <a:xfrm>
            <a:off x="838080" y="1825560"/>
            <a:ext cx="5508949" cy="3990960"/>
          </a:xfrm>
          <a:prstGeom prst="rect">
            <a:avLst/>
          </a:prstGeom>
          <a:noFill/>
          <a:ln w="0">
            <a:noFill/>
          </a:ln>
        </p:spPr>
        <p:txBody>
          <a:bodyPr lIns="90000" tIns="45000" rIns="90000" bIns="45000" anchor="t">
            <a:noAutofit/>
          </a:bodyPr>
          <a:lstStyle/>
          <a:p>
            <a:pPr marL="228600" indent="-228600">
              <a:lnSpc>
                <a:spcPct val="100000"/>
              </a:lnSpc>
              <a:spcBef>
                <a:spcPts val="1001"/>
              </a:spcBef>
              <a:buClr>
                <a:srgbClr val="000000"/>
              </a:buClr>
              <a:buFont typeface="Arial"/>
              <a:buChar char="•"/>
            </a:pPr>
            <a:r>
              <a:rPr lang="en-US" sz="2200" b="0" strike="noStrike" spc="-1" dirty="0">
                <a:solidFill>
                  <a:srgbClr val="000000"/>
                </a:solidFill>
                <a:latin typeface="Arial"/>
              </a:rPr>
              <a:t>Typical method for temperature control for fuel cells is a cooling plate</a:t>
            </a:r>
          </a:p>
          <a:p>
            <a:pPr marL="228600" indent="-228600">
              <a:lnSpc>
                <a:spcPct val="100000"/>
              </a:lnSpc>
              <a:spcBef>
                <a:spcPts val="1001"/>
              </a:spcBef>
              <a:buClr>
                <a:srgbClr val="000000"/>
              </a:buClr>
              <a:buFont typeface="Arial"/>
              <a:buChar char="•"/>
            </a:pPr>
            <a:r>
              <a:rPr lang="en-US" sz="2200" b="0" strike="noStrike" spc="-1" dirty="0">
                <a:solidFill>
                  <a:srgbClr val="000000"/>
                </a:solidFill>
                <a:latin typeface="Arial"/>
              </a:rPr>
              <a:t>Assume parallel channels and a constant, averaged heat flux</a:t>
            </a:r>
            <a:endParaRPr lang="en-US" sz="2200" b="0" strike="noStrike" spc="-1" dirty="0">
              <a:latin typeface="Arial"/>
            </a:endParaRPr>
          </a:p>
          <a:p>
            <a:pPr marL="228600" indent="-228600">
              <a:lnSpc>
                <a:spcPct val="100000"/>
              </a:lnSpc>
              <a:spcBef>
                <a:spcPts val="1001"/>
              </a:spcBef>
              <a:buClr>
                <a:srgbClr val="000000"/>
              </a:buClr>
              <a:buFont typeface="Arial"/>
              <a:buChar char="•"/>
            </a:pPr>
            <a:r>
              <a:rPr lang="en-US" sz="2200" b="0" strike="noStrike" spc="-1" dirty="0">
                <a:solidFill>
                  <a:srgbClr val="000000"/>
                </a:solidFill>
                <a:latin typeface="Arial"/>
              </a:rPr>
              <a:t>Friction factor and convection coefficient based on empirical correlations</a:t>
            </a:r>
            <a:endParaRPr lang="en-US" sz="2200" b="0" strike="noStrike" spc="-1" dirty="0">
              <a:latin typeface="Arial"/>
            </a:endParaRPr>
          </a:p>
          <a:p>
            <a:pPr>
              <a:lnSpc>
                <a:spcPct val="100000"/>
              </a:lnSpc>
              <a:spcBef>
                <a:spcPts val="1001"/>
              </a:spcBef>
              <a:buNone/>
            </a:pPr>
            <a:endParaRPr lang="en-US" sz="2200" b="0" strike="noStrike" spc="-1" dirty="0">
              <a:latin typeface="Arial"/>
            </a:endParaRPr>
          </a:p>
        </p:txBody>
      </p:sp>
      <mc:AlternateContent xmlns:mc="http://schemas.openxmlformats.org/markup-compatibility/2006" xmlns:a14="http://schemas.microsoft.com/office/drawing/2010/main">
        <mc:Choice Requires="a14">
          <p:sp>
            <p:nvSpPr>
              <p:cNvPr id="335" name="TextBox 4"/>
              <p:cNvSpPr txBox="1"/>
              <p:nvPr/>
            </p:nvSpPr>
            <p:spPr>
              <a:xfrm>
                <a:off x="616782" y="5019840"/>
                <a:ext cx="4642338" cy="796680"/>
              </a:xfrm>
              <a:prstGeom prst="rect">
                <a:avLst/>
              </a:prstGeom>
            </p:spPr>
            <p:txBody>
              <a:bodyPr/>
              <a:lstStyle/>
              <a:p>
                <a14:m>
                  <m:oMath xmlns:m="http://schemas.openxmlformats.org/officeDocument/2006/math">
                    <m:r>
                      <a:rPr lang="ar-AE" sz="1600" smtClean="0">
                        <a:latin typeface="Cambria Math" panose="02040503050406030204" pitchFamily="18" charset="0"/>
                        <a:ea typeface="Cambria Math" panose="02040503050406030204" pitchFamily="18" charset="0"/>
                      </a:rPr>
                      <m:t>𝑓</m:t>
                    </m:r>
                    <m:r>
                      <a:rPr lang="ar-AE" sz="1600" smtClean="0">
                        <a:latin typeface="Cambria Math" panose="02040503050406030204" pitchFamily="18" charset="0"/>
                        <a:ea typeface="Cambria Math" panose="02040503050406030204" pitchFamily="18" charset="0"/>
                      </a:rPr>
                      <m:t>=</m:t>
                    </m:r>
                    <m:d>
                      <m:dPr>
                        <m:begChr m:val="{"/>
                        <m:endChr m:val=""/>
                        <m:ctrlPr>
                          <a:rPr lang="ar-AE" sz="1600" i="1" smtClean="0">
                            <a:latin typeface="Cambria Math" panose="02040503050406030204" pitchFamily="18" charset="0"/>
                            <a:ea typeface="Cambria Math" panose="02040503050406030204" pitchFamily="18" charset="0"/>
                          </a:rPr>
                        </m:ctrlPr>
                      </m:dPr>
                      <m:e>
                        <m:eqArr>
                          <m:eqArrPr>
                            <m:ctrlPr>
                              <a:rPr lang="ar-AE" sz="1600" i="1" smtClean="0">
                                <a:latin typeface="Cambria Math" panose="02040503050406030204" pitchFamily="18" charset="0"/>
                                <a:ea typeface="Cambria Math" panose="02040503050406030204" pitchFamily="18" charset="0"/>
                              </a:rPr>
                            </m:ctrlPr>
                          </m:eqArrPr>
                          <m:e>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64</m:t>
                                </m:r>
                              </m:num>
                              <m:den>
                                <m:r>
                                  <a:rPr lang="en-US" sz="1600" b="0" i="1" smtClean="0">
                                    <a:latin typeface="Cambria Math" panose="02040503050406030204" pitchFamily="18" charset="0"/>
                                    <a:ea typeface="Cambria Math" panose="02040503050406030204" pitchFamily="18" charset="0"/>
                                  </a:rPr>
                                  <m:t>𝑅𝑒</m:t>
                                </m:r>
                              </m:den>
                            </m:f>
                            <m:r>
                              <a:rPr lang="en-US" sz="1600" b="0" i="1" smtClean="0">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𝑅𝑒</m:t>
                            </m:r>
                            <m:r>
                              <a:rPr lang="en-US" sz="1600" b="0" i="1" smtClean="0">
                                <a:latin typeface="Cambria Math" panose="02040503050406030204" pitchFamily="18" charset="0"/>
                                <a:ea typeface="Cambria Math" panose="02040503050406030204" pitchFamily="18" charset="0"/>
                              </a:rPr>
                              <m:t>≤2000</m:t>
                            </m:r>
                          </m:e>
                          <m:e>
                            <m:sSup>
                              <m:sSupPr>
                                <m:ctrlPr>
                                  <a:rPr lang="en-US" sz="1600" b="0" i="1" smtClean="0">
                                    <a:latin typeface="Cambria Math" panose="02040503050406030204" pitchFamily="18" charset="0"/>
                                    <a:ea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       </m:t>
                                </m:r>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0.790</m:t>
                                    </m:r>
                                    <m:func>
                                      <m:funcPr>
                                        <m:ctrlPr>
                                          <a:rPr lang="ar-AE" sz="1600" b="0" i="0" smtClean="0">
                                            <a:latin typeface="Cambria Math" panose="02040503050406030204" pitchFamily="18" charset="0"/>
                                            <a:ea typeface="Cambria Math" panose="02040503050406030204" pitchFamily="18" charset="0"/>
                                          </a:rPr>
                                        </m:ctrlPr>
                                      </m:funcPr>
                                      <m:fName>
                                        <m:r>
                                          <m:rPr>
                                            <m:sty m:val="p"/>
                                          </m:rPr>
                                          <a:rPr lang="ar-AE" sz="1600" b="0" i="0" smtClean="0">
                                            <a:latin typeface="Cambria Math" panose="02040503050406030204" pitchFamily="18" charset="0"/>
                                            <a:ea typeface="Cambria Math" panose="02040503050406030204" pitchFamily="18" charset="0"/>
                                          </a:rPr>
                                          <m:t>ln</m:t>
                                        </m:r>
                                      </m:fName>
                                      <m:e>
                                        <m:r>
                                          <a:rPr lang="en-US" sz="1600" b="0" i="1" smtClean="0">
                                            <a:latin typeface="Cambria Math" panose="02040503050406030204" pitchFamily="18" charset="0"/>
                                            <a:ea typeface="Cambria Math" panose="02040503050406030204" pitchFamily="18" charset="0"/>
                                          </a:rPr>
                                          <m:t>𝑅𝑒</m:t>
                                        </m:r>
                                      </m:e>
                                    </m:func>
                                  </m:e>
                                </m:d>
                              </m:e>
                              <m:sup>
                                <m:f>
                                  <m:fPr>
                                    <m:type m:val="lin"/>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−1</m:t>
                                    </m:r>
                                  </m:num>
                                  <m:den>
                                    <m:r>
                                      <a:rPr lang="en-US" sz="1600" b="0" i="1" smtClean="0">
                                        <a:latin typeface="Cambria Math" panose="02040503050406030204" pitchFamily="18" charset="0"/>
                                        <a:ea typeface="Cambria Math" panose="02040503050406030204" pitchFamily="18" charset="0"/>
                                      </a:rPr>
                                      <m:t>2</m:t>
                                    </m:r>
                                  </m:den>
                                </m:f>
                              </m:sup>
                            </m:sSup>
                            <m:r>
                              <a:rPr lang="en-US" sz="1600" b="0" i="1" smtClean="0">
                                <a:latin typeface="Cambria Math" panose="02040503050406030204" pitchFamily="18" charset="0"/>
                                <a:ea typeface="Cambria Math" panose="02040503050406030204" pitchFamily="18" charset="0"/>
                              </a:rPr>
                              <m:t>     2000&lt;</m:t>
                            </m:r>
                            <m:r>
                              <a:rPr lang="en-US" sz="1600" b="0" i="1" smtClean="0">
                                <a:latin typeface="Cambria Math" panose="02040503050406030204" pitchFamily="18" charset="0"/>
                                <a:ea typeface="Cambria Math" panose="02040503050406030204" pitchFamily="18" charset="0"/>
                              </a:rPr>
                              <m:t>𝑅𝑒</m:t>
                            </m:r>
                            <m:r>
                              <a:rPr lang="en-US" sz="1600" b="0" i="1" smtClean="0">
                                <a:latin typeface="Cambria Math" panose="02040503050406030204" pitchFamily="18" charset="0"/>
                                <a:ea typeface="Cambria Math" panose="02040503050406030204" pitchFamily="18" charset="0"/>
                              </a:rPr>
                              <m:t> ≤5</m:t>
                            </m:r>
                            <m:r>
                              <a:rPr lang="en-US" sz="1600" b="0" i="1" smtClean="0">
                                <a:latin typeface="Cambria Math" panose="02040503050406030204" pitchFamily="18" charset="0"/>
                                <a:ea typeface="Cambria Math" panose="02040503050406030204" pitchFamily="18" charset="0"/>
                              </a:rPr>
                              <m:t>𝑥</m:t>
                            </m:r>
                            <m:sSup>
                              <m:sSupPr>
                                <m:ctrlPr>
                                  <a:rPr lang="en-US" sz="1600" b="0" i="1" smtClean="0">
                                    <a:latin typeface="Cambria Math" panose="02040503050406030204" pitchFamily="18" charset="0"/>
                                    <a:ea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10</m:t>
                                </m:r>
                              </m:e>
                              <m:sup>
                                <m:r>
                                  <a:rPr lang="en-US" sz="1600" b="0" i="1" smtClean="0">
                                    <a:latin typeface="Cambria Math" panose="02040503050406030204" pitchFamily="18" charset="0"/>
                                    <a:ea typeface="Cambria Math" panose="02040503050406030204" pitchFamily="18" charset="0"/>
                                  </a:rPr>
                                  <m:t>6</m:t>
                                </m:r>
                              </m:sup>
                            </m:sSup>
                          </m:e>
                        </m:eqArr>
                      </m:e>
                    </m:d>
                  </m:oMath>
                </a14:m>
                <a:r>
                  <a:rPr lang="ar-AE" sz="1600" dirty="0">
                    <a:latin typeface="Cambria Math" panose="02040503050406030204" pitchFamily="18" charset="0"/>
                    <a:ea typeface="Cambria Math" panose="02040503050406030204" pitchFamily="18" charset="0"/>
                  </a:rPr>
                  <a:t> </a:t>
                </a:r>
                <a:endParaRPr sz="1600" dirty="0">
                  <a:latin typeface="Cambria Math" panose="02040503050406030204" pitchFamily="18" charset="0"/>
                  <a:ea typeface="Cambria Math" panose="02040503050406030204" pitchFamily="18" charset="0"/>
                </a:endParaRPr>
              </a:p>
            </p:txBody>
          </p:sp>
        </mc:Choice>
        <mc:Fallback xmlns="">
          <p:sp>
            <p:nvSpPr>
              <p:cNvPr id="335" name="TextBox 4"/>
              <p:cNvSpPr txBox="1">
                <a:spLocks noRot="1" noChangeAspect="1" noMove="1" noResize="1" noEditPoints="1" noAdjustHandles="1" noChangeArrowheads="1" noChangeShapeType="1" noTextEdit="1"/>
              </p:cNvSpPr>
              <p:nvPr/>
            </p:nvSpPr>
            <p:spPr>
              <a:xfrm>
                <a:off x="616782" y="5019840"/>
                <a:ext cx="4642338" cy="796680"/>
              </a:xfrm>
              <a:prstGeom prst="rect">
                <a:avLst/>
              </a:prstGeom>
              <a:blipFill>
                <a:blip r:embed="rId3"/>
                <a:stretch>
                  <a:fillRect b="-45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6" name="TextBox 5"/>
              <p:cNvSpPr txBox="1"/>
              <p:nvPr/>
            </p:nvSpPr>
            <p:spPr>
              <a:xfrm>
                <a:off x="5143500" y="4731840"/>
                <a:ext cx="6431718" cy="1100880"/>
              </a:xfrm>
              <a:prstGeom prst="rect">
                <a:avLst/>
              </a:prstGeom>
            </p:spPr>
            <p:txBody>
              <a:bodyPr/>
              <a:lstStyle/>
              <a:p>
                <a:pPr/>
                <a14:m>
                  <m:oMathPara xmlns:m="http://schemas.openxmlformats.org/officeDocument/2006/math">
                    <m:oMath>
                      <m:sSub>
                        <m:sSubPr>
                          <m:ctrlPr>
                            <a:rPr lang="ar-AE" sz="1600">
                              <a:latin typeface="Cambria Math" panose="02040503050406030204" pitchFamily="18" charset="0"/>
                            </a:rPr>
                          </m:ctrlPr>
                        </m:sSubPr>
                        <m:e>
                          <m:r>
                            <a:rPr lang="ar-AE" sz="1600">
                              <a:latin typeface="Cambria Math" panose="02040503050406030204" pitchFamily="18" charset="0"/>
                            </a:rPr>
                            <m:t>ℎ</m:t>
                          </m:r>
                        </m:e>
                        <m:sub>
                          <m:r>
                            <a:rPr lang="ar-AE" sz="1600">
                              <a:latin typeface="Cambria Math" panose="02040503050406030204" pitchFamily="18" charset="0"/>
                            </a:rPr>
                            <m:t>𝑐𝑜𝑛𝑣</m:t>
                          </m:r>
                        </m:sub>
                      </m:sSub>
                      <m:r>
                        <a:rPr lang="ar-AE" sz="1600">
                          <a:latin typeface="Cambria Math" panose="02040503050406030204" pitchFamily="18" charset="0"/>
                        </a:rPr>
                        <m:t>=</m:t>
                      </m:r>
                      <m:d>
                        <m:dPr>
                          <m:begChr m:val="{"/>
                          <m:endChr m:val=""/>
                          <m:ctrlPr>
                            <a:rPr lang="ar-AE" sz="1600" i="1">
                              <a:latin typeface="Cambria Math" panose="02040503050406030204" pitchFamily="18" charset="0"/>
                            </a:rPr>
                          </m:ctrlPr>
                        </m:dPr>
                        <m:e>
                          <m:eqArr>
                            <m:eqArrPr>
                              <m:ctrlPr>
                                <a:rPr lang="ar-AE" sz="1600" i="1">
                                  <a:latin typeface="Cambria Math" panose="02040503050406030204" pitchFamily="18" charset="0"/>
                                </a:rPr>
                              </m:ctrlPr>
                            </m:eqArrPr>
                            <m:e>
                              <m:f>
                                <m:fPr>
                                  <m:ctrlPr>
                                    <a:rPr lang="ar-AE" sz="1600">
                                      <a:latin typeface="Cambria Math" panose="02040503050406030204" pitchFamily="18" charset="0"/>
                                    </a:rPr>
                                  </m:ctrlPr>
                                </m:fPr>
                                <m:num>
                                  <m:r>
                                    <a:rPr lang="ar-AE" sz="1600">
                                      <a:latin typeface="Cambria Math" panose="02040503050406030204" pitchFamily="18" charset="0"/>
                                    </a:rPr>
                                    <m:t>4.36</m:t>
                                  </m:r>
                                  <m:r>
                                    <a:rPr lang="ar-AE" sz="1600">
                                      <a:latin typeface="Cambria Math" panose="02040503050406030204" pitchFamily="18" charset="0"/>
                                    </a:rPr>
                                    <m:t>𝑘</m:t>
                                  </m:r>
                                </m:num>
                                <m:den>
                                  <m:sSub>
                                    <m:sSubPr>
                                      <m:ctrlPr>
                                        <a:rPr lang="ar-AE" sz="1600">
                                          <a:latin typeface="Cambria Math" panose="02040503050406030204" pitchFamily="18" charset="0"/>
                                        </a:rPr>
                                      </m:ctrlPr>
                                    </m:sSubPr>
                                    <m:e>
                                      <m:r>
                                        <a:rPr lang="ar-AE" sz="1600">
                                          <a:latin typeface="Cambria Math" panose="02040503050406030204" pitchFamily="18" charset="0"/>
                                        </a:rPr>
                                        <m:t>𝐷</m:t>
                                      </m:r>
                                    </m:e>
                                    <m:sub>
                                      <m:r>
                                        <a:rPr lang="ar-AE" sz="1600">
                                          <a:latin typeface="Cambria Math" panose="02040503050406030204" pitchFamily="18" charset="0"/>
                                        </a:rPr>
                                        <m:t>ℎ</m:t>
                                      </m:r>
                                    </m:sub>
                                  </m:sSub>
                                </m:den>
                              </m:f>
                              <m:r>
                                <a:rPr lang="ar-AE" sz="1600" b="0" i="0" smtClean="0">
                                  <a:latin typeface="Cambria Math" panose="02040503050406030204" pitchFamily="18" charset="0"/>
                                </a:rPr>
                                <m:t> </m:t>
                              </m:r>
                              <m:r>
                                <a:rPr lang="en-US" sz="1600" b="0" i="0" smtClean="0">
                                  <a:latin typeface="Cambria Math" panose="02040503050406030204" pitchFamily="18" charset="0"/>
                                </a:rPr>
                                <m:t>                                </m:t>
                              </m:r>
                              <m:r>
                                <a:rPr lang="ar-AE" sz="1600">
                                  <a:latin typeface="Cambria Math" panose="02040503050406030204" pitchFamily="18" charset="0"/>
                                </a:rPr>
                                <m:t>𝑅𝑒</m:t>
                              </m:r>
                              <m:r>
                                <a:rPr lang="ar-AE" sz="1600">
                                  <a:latin typeface="Cambria Math" panose="02040503050406030204" pitchFamily="18" charset="0"/>
                                </a:rPr>
                                <m:t>≤2000</m:t>
                              </m:r>
                            </m:e>
                            <m:e>
                              <m:f>
                                <m:fPr>
                                  <m:ctrlPr>
                                    <a:rPr lang="ar-AE" sz="1600">
                                      <a:latin typeface="Cambria Math" panose="02040503050406030204" pitchFamily="18" charset="0"/>
                                    </a:rPr>
                                  </m:ctrlPr>
                                </m:fPr>
                                <m:num>
                                  <m:r>
                                    <a:rPr lang="ar-AE" sz="1600">
                                      <a:latin typeface="Cambria Math" panose="02040503050406030204" pitchFamily="18" charset="0"/>
                                    </a:rPr>
                                    <m:t>𝑘𝑓</m:t>
                                  </m:r>
                                  <m:d>
                                    <m:dPr>
                                      <m:ctrlPr>
                                        <a:rPr lang="ar-AE" sz="1600">
                                          <a:latin typeface="Cambria Math" panose="02040503050406030204" pitchFamily="18" charset="0"/>
                                        </a:rPr>
                                      </m:ctrlPr>
                                    </m:dPr>
                                    <m:e>
                                      <m:r>
                                        <a:rPr lang="ar-AE" sz="1600">
                                          <a:latin typeface="Cambria Math" panose="02040503050406030204" pitchFamily="18" charset="0"/>
                                        </a:rPr>
                                        <m:t>𝑅𝑒</m:t>
                                      </m:r>
                                      <m:r>
                                        <a:rPr lang="ar-AE" sz="1600">
                                          <a:latin typeface="Cambria Math" panose="02040503050406030204" pitchFamily="18" charset="0"/>
                                        </a:rPr>
                                        <m:t>−1000</m:t>
                                      </m:r>
                                    </m:e>
                                  </m:d>
                                  <m:r>
                                    <a:rPr lang="ar-AE" sz="1600">
                                      <a:latin typeface="Cambria Math" panose="02040503050406030204" pitchFamily="18" charset="0"/>
                                    </a:rPr>
                                    <m:t>𝑃𝑟</m:t>
                                  </m:r>
                                </m:num>
                                <m:den>
                                  <m:r>
                                    <a:rPr lang="ar-AE" sz="1600">
                                      <a:latin typeface="Cambria Math" panose="02040503050406030204" pitchFamily="18" charset="0"/>
                                    </a:rPr>
                                    <m:t>8</m:t>
                                  </m:r>
                                  <m:sSub>
                                    <m:sSubPr>
                                      <m:ctrlPr>
                                        <a:rPr lang="ar-AE" sz="1600">
                                          <a:latin typeface="Cambria Math" panose="02040503050406030204" pitchFamily="18" charset="0"/>
                                        </a:rPr>
                                      </m:ctrlPr>
                                    </m:sSubPr>
                                    <m:e>
                                      <m:r>
                                        <a:rPr lang="ar-AE" sz="1600">
                                          <a:latin typeface="Cambria Math" panose="02040503050406030204" pitchFamily="18" charset="0"/>
                                        </a:rPr>
                                        <m:t>𝐷</m:t>
                                      </m:r>
                                    </m:e>
                                    <m:sub>
                                      <m:r>
                                        <a:rPr lang="ar-AE" sz="1600">
                                          <a:latin typeface="Cambria Math" panose="02040503050406030204" pitchFamily="18" charset="0"/>
                                        </a:rPr>
                                        <m:t>ℎ</m:t>
                                      </m:r>
                                    </m:sub>
                                  </m:sSub>
                                  <m:d>
                                    <m:dPr>
                                      <m:ctrlPr>
                                        <a:rPr lang="ar-AE" sz="1600">
                                          <a:latin typeface="Cambria Math" panose="02040503050406030204" pitchFamily="18" charset="0"/>
                                        </a:rPr>
                                      </m:ctrlPr>
                                    </m:dPr>
                                    <m:e>
                                      <m:r>
                                        <a:rPr lang="ar-AE" sz="1600">
                                          <a:latin typeface="Cambria Math" panose="02040503050406030204" pitchFamily="18" charset="0"/>
                                        </a:rPr>
                                        <m:t>1+12.7</m:t>
                                      </m:r>
                                      <m:sSup>
                                        <m:sSupPr>
                                          <m:ctrlPr>
                                            <a:rPr lang="ar-AE" sz="1600" i="1">
                                              <a:latin typeface="Cambria Math" panose="02040503050406030204" pitchFamily="18" charset="0"/>
                                            </a:rPr>
                                          </m:ctrlPr>
                                        </m:sSupPr>
                                        <m:e>
                                          <m:d>
                                            <m:dPr>
                                              <m:ctrlPr>
                                                <a:rPr lang="ar-AE" sz="1600" i="1">
                                                  <a:latin typeface="Cambria Math" panose="02040503050406030204" pitchFamily="18" charset="0"/>
                                                </a:rPr>
                                              </m:ctrlPr>
                                            </m:dPr>
                                            <m:e>
                                              <m:f>
                                                <m:fPr>
                                                  <m:type m:val="lin"/>
                                                  <m:ctrlPr>
                                                    <a:rPr lang="ar-AE" sz="1600">
                                                      <a:latin typeface="Cambria Math" panose="02040503050406030204" pitchFamily="18" charset="0"/>
                                                    </a:rPr>
                                                  </m:ctrlPr>
                                                </m:fPr>
                                                <m:num>
                                                  <m:r>
                                                    <a:rPr lang="ar-AE" sz="1600">
                                                      <a:latin typeface="Cambria Math" panose="02040503050406030204" pitchFamily="18" charset="0"/>
                                                    </a:rPr>
                                                    <m:t>𝑓</m:t>
                                                  </m:r>
                                                </m:num>
                                                <m:den>
                                                  <m:r>
                                                    <a:rPr lang="ar-AE" sz="1600">
                                                      <a:latin typeface="Cambria Math" panose="02040503050406030204" pitchFamily="18" charset="0"/>
                                                    </a:rPr>
                                                    <m:t>8</m:t>
                                                  </m:r>
                                                </m:den>
                                              </m:f>
                                            </m:e>
                                          </m:d>
                                        </m:e>
                                        <m:sup>
                                          <m:f>
                                            <m:fPr>
                                              <m:ctrlPr>
                                                <a:rPr lang="ar-AE" sz="1600">
                                                  <a:latin typeface="Cambria Math" panose="02040503050406030204" pitchFamily="18" charset="0"/>
                                                </a:rPr>
                                              </m:ctrlPr>
                                            </m:fPr>
                                            <m:num>
                                              <m:r>
                                                <a:rPr lang="ar-AE" sz="1600">
                                                  <a:latin typeface="Cambria Math" panose="02040503050406030204" pitchFamily="18" charset="0"/>
                                                </a:rPr>
                                                <m:t>1</m:t>
                                              </m:r>
                                            </m:num>
                                            <m:den>
                                              <m:r>
                                                <a:rPr lang="ar-AE" sz="1600">
                                                  <a:latin typeface="Cambria Math" panose="02040503050406030204" pitchFamily="18" charset="0"/>
                                                </a:rPr>
                                                <m:t>2</m:t>
                                              </m:r>
                                            </m:den>
                                          </m:f>
                                        </m:sup>
                                      </m:sSup>
                                      <m:d>
                                        <m:dPr>
                                          <m:ctrlPr>
                                            <a:rPr lang="ar-AE" sz="1600" i="1">
                                              <a:latin typeface="Cambria Math" panose="02040503050406030204" pitchFamily="18" charset="0"/>
                                            </a:rPr>
                                          </m:ctrlPr>
                                        </m:dPr>
                                        <m:e>
                                          <m:sSup>
                                            <m:sSupPr>
                                              <m:ctrlPr>
                                                <a:rPr lang="ar-AE" sz="1600">
                                                  <a:latin typeface="Cambria Math" panose="02040503050406030204" pitchFamily="18" charset="0"/>
                                                </a:rPr>
                                              </m:ctrlPr>
                                            </m:sSupPr>
                                            <m:e>
                                              <m:r>
                                                <a:rPr lang="ar-AE" sz="1600">
                                                  <a:latin typeface="Cambria Math" panose="02040503050406030204" pitchFamily="18" charset="0"/>
                                                </a:rPr>
                                                <m:t>𝑃𝑟</m:t>
                                              </m:r>
                                            </m:e>
                                            <m:sup>
                                              <m:f>
                                                <m:fPr>
                                                  <m:ctrlPr>
                                                    <a:rPr lang="ar-AE" sz="1600">
                                                      <a:latin typeface="Cambria Math" panose="02040503050406030204" pitchFamily="18" charset="0"/>
                                                    </a:rPr>
                                                  </m:ctrlPr>
                                                </m:fPr>
                                                <m:num>
                                                  <m:r>
                                                    <a:rPr lang="ar-AE" sz="1600">
                                                      <a:latin typeface="Cambria Math" panose="02040503050406030204" pitchFamily="18" charset="0"/>
                                                    </a:rPr>
                                                    <m:t>2</m:t>
                                                  </m:r>
                                                </m:num>
                                                <m:den>
                                                  <m:r>
                                                    <a:rPr lang="ar-AE" sz="1600">
                                                      <a:latin typeface="Cambria Math" panose="02040503050406030204" pitchFamily="18" charset="0"/>
                                                    </a:rPr>
                                                    <m:t>3</m:t>
                                                  </m:r>
                                                </m:den>
                                              </m:f>
                                            </m:sup>
                                          </m:sSup>
                                          <m:r>
                                            <a:rPr lang="ar-AE" sz="1600">
                                              <a:latin typeface="Cambria Math" panose="02040503050406030204" pitchFamily="18" charset="0"/>
                                            </a:rPr>
                                            <m:t>−1</m:t>
                                          </m:r>
                                        </m:e>
                                      </m:d>
                                    </m:e>
                                  </m:d>
                                </m:den>
                              </m:f>
                              <m:r>
                                <a:rPr lang="ar-AE" sz="1600">
                                  <a:latin typeface="Cambria Math" panose="02040503050406030204" pitchFamily="18" charset="0"/>
                                </a:rPr>
                                <m:t>2000&lt;</m:t>
                              </m:r>
                              <m:r>
                                <a:rPr lang="ar-AE" sz="1600">
                                  <a:latin typeface="Cambria Math" panose="02040503050406030204" pitchFamily="18" charset="0"/>
                                </a:rPr>
                                <m:t>𝑅𝑒</m:t>
                              </m:r>
                              <m:r>
                                <a:rPr lang="ar-AE" sz="1600">
                                  <a:latin typeface="Cambria Math" panose="02040503050406030204" pitchFamily="18" charset="0"/>
                                </a:rPr>
                                <m:t>≤5</m:t>
                              </m:r>
                              <m:r>
                                <a:rPr lang="ar-AE" sz="1600">
                                  <a:latin typeface="Cambria Math" panose="02040503050406030204" pitchFamily="18" charset="0"/>
                                </a:rPr>
                                <m:t>𝑥</m:t>
                              </m:r>
                              <m:sSup>
                                <m:sSupPr>
                                  <m:ctrlPr>
                                    <a:rPr lang="ar-AE" sz="1600">
                                      <a:latin typeface="Cambria Math" panose="02040503050406030204" pitchFamily="18" charset="0"/>
                                    </a:rPr>
                                  </m:ctrlPr>
                                </m:sSupPr>
                                <m:e>
                                  <m:r>
                                    <a:rPr lang="ar-AE" sz="1600">
                                      <a:latin typeface="Cambria Math" panose="02040503050406030204" pitchFamily="18" charset="0"/>
                                    </a:rPr>
                                    <m:t>10</m:t>
                                  </m:r>
                                </m:e>
                                <m:sup>
                                  <m:r>
                                    <a:rPr lang="ar-AE" sz="1600">
                                      <a:latin typeface="Cambria Math" panose="02040503050406030204" pitchFamily="18" charset="0"/>
                                    </a:rPr>
                                    <m:t>6</m:t>
                                  </m:r>
                                </m:sup>
                              </m:sSup>
                            </m:e>
                          </m:eqArr>
                        </m:e>
                      </m:d>
                    </m:oMath>
                  </m:oMathPara>
                </a14:m>
                <a:endParaRPr sz="1600" dirty="0"/>
              </a:p>
            </p:txBody>
          </p:sp>
        </mc:Choice>
        <mc:Fallback xmlns="">
          <p:sp>
            <p:nvSpPr>
              <p:cNvPr id="336" name="TextBox 5"/>
              <p:cNvSpPr txBox="1">
                <a:spLocks noRot="1" noChangeAspect="1" noMove="1" noResize="1" noEditPoints="1" noAdjustHandles="1" noChangeArrowheads="1" noChangeShapeType="1" noTextEdit="1"/>
              </p:cNvSpPr>
              <p:nvPr/>
            </p:nvSpPr>
            <p:spPr>
              <a:xfrm>
                <a:off x="5143500" y="4731840"/>
                <a:ext cx="6431718" cy="1100880"/>
              </a:xfrm>
              <a:prstGeom prst="rect">
                <a:avLst/>
              </a:prstGeom>
              <a:blipFill>
                <a:blip r:embed="rId4"/>
                <a:stretch>
                  <a:fillRect b="-22652"/>
                </a:stretch>
              </a:blipFill>
            </p:spPr>
            <p:txBody>
              <a:bodyPr/>
              <a:lstStyle/>
              <a:p>
                <a:r>
                  <a:rPr lang="en-US">
                    <a:noFill/>
                  </a:rPr>
                  <a:t> </a:t>
                </a:r>
              </a:p>
            </p:txBody>
          </p:sp>
        </mc:Fallback>
      </mc:AlternateContent>
      <p:sp>
        <p:nvSpPr>
          <p:cNvPr id="4" name="PlaceHolder 3"/>
          <p:cNvSpPr>
            <a:spLocks noGrp="1"/>
          </p:cNvSpPr>
          <p:nvPr>
            <p:ph type="sldNum" idx="3"/>
          </p:nvPr>
        </p:nvSpPr>
        <p:spPr/>
        <p:txBody>
          <a:bodyPr/>
          <a:lstStyle/>
          <a:p>
            <a:fld id="{6FF064DE-EEBF-4E07-81E3-A811684A48D6}" type="slidenum">
              <a:rPr/>
              <a:t>22</a:t>
            </a:fld>
            <a:endParaRPr/>
          </a:p>
        </p:txBody>
      </p:sp>
      <p:pic>
        <p:nvPicPr>
          <p:cNvPr id="3" name="Picture 2">
            <a:extLst>
              <a:ext uri="{FF2B5EF4-FFF2-40B4-BE49-F238E27FC236}">
                <a16:creationId xmlns:a16="http://schemas.microsoft.com/office/drawing/2014/main" id="{71D5D0BB-560D-35C6-524D-8299DF4CB454}"/>
              </a:ext>
            </a:extLst>
          </p:cNvPr>
          <p:cNvPicPr>
            <a:picLocks noChangeAspect="1"/>
          </p:cNvPicPr>
          <p:nvPr/>
        </p:nvPicPr>
        <p:blipFill>
          <a:blip r:embed="rId5"/>
          <a:stretch>
            <a:fillRect/>
          </a:stretch>
        </p:blipFill>
        <p:spPr>
          <a:xfrm>
            <a:off x="6347029" y="1412111"/>
            <a:ext cx="5228189" cy="3133249"/>
          </a:xfrm>
          <a:prstGeom prst="rect">
            <a:avLst/>
          </a:prstGeom>
        </p:spPr>
      </p:pic>
      <p:sp>
        <p:nvSpPr>
          <p:cNvPr id="5" name="TextBox 4">
            <a:extLst>
              <a:ext uri="{FF2B5EF4-FFF2-40B4-BE49-F238E27FC236}">
                <a16:creationId xmlns:a16="http://schemas.microsoft.com/office/drawing/2014/main" id="{0FFF1841-395D-15F1-2DBC-8B9B1C4F48F7}"/>
              </a:ext>
            </a:extLst>
          </p:cNvPr>
          <p:cNvSpPr txBox="1"/>
          <p:nvPr/>
        </p:nvSpPr>
        <p:spPr>
          <a:xfrm>
            <a:off x="6347029" y="4545360"/>
            <a:ext cx="2805763" cy="215444"/>
          </a:xfrm>
          <a:prstGeom prst="rect">
            <a:avLst/>
          </a:prstGeom>
          <a:noFill/>
        </p:spPr>
        <p:txBody>
          <a:bodyPr wrap="square" rtlCol="0">
            <a:spAutoFit/>
          </a:bodyPr>
          <a:lstStyle/>
          <a:p>
            <a:r>
              <a:rPr lang="en-US" sz="800" dirty="0" err="1"/>
              <a:t>Shamsizadeh</a:t>
            </a:r>
            <a:r>
              <a:rPr lang="en-US" sz="800" dirty="0"/>
              <a:t> et. al., 2025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PlaceHolder 1"/>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a:solidFill>
                  <a:srgbClr val="000000"/>
                </a:solidFill>
                <a:latin typeface="Arial Black"/>
              </a:rPr>
              <a:t>Power Train Modeling: Effectiveness-NTU Relations</a:t>
            </a:r>
            <a:endParaRPr lang="en-US" sz="3600" b="0" strike="noStrike" spc="-1">
              <a:latin typeface="Arial"/>
            </a:endParaRPr>
          </a:p>
        </p:txBody>
      </p:sp>
      <p:sp>
        <p:nvSpPr>
          <p:cNvPr id="338" name="PlaceHolder 2"/>
          <p:cNvSpPr>
            <a:spLocks noGrp="1"/>
          </p:cNvSpPr>
          <p:nvPr>
            <p:ph/>
          </p:nvPr>
        </p:nvSpPr>
        <p:spPr>
          <a:xfrm>
            <a:off x="838080" y="1825560"/>
            <a:ext cx="10514520" cy="834120"/>
          </a:xfrm>
          <a:prstGeom prst="rect">
            <a:avLst/>
          </a:prstGeom>
          <a:noFill/>
          <a:ln w="0">
            <a:noFill/>
          </a:ln>
        </p:spPr>
        <p:txBody>
          <a:bodyPr lIns="90000" tIns="45000" rIns="90000" bIns="45000" anchor="t">
            <a:noAutofit/>
          </a:bodyPr>
          <a:lstStyle/>
          <a:p>
            <a:pPr marL="228600" indent="-228600">
              <a:lnSpc>
                <a:spcPct val="100000"/>
              </a:lnSpc>
              <a:spcBef>
                <a:spcPts val="1001"/>
              </a:spcBef>
              <a:buClr>
                <a:srgbClr val="000000"/>
              </a:buClr>
              <a:buFont typeface="Arial"/>
              <a:buChar char="•"/>
            </a:pPr>
            <a:r>
              <a:rPr lang="en-US" sz="2400" b="0" strike="noStrike" spc="-1">
                <a:solidFill>
                  <a:srgbClr val="000000"/>
                </a:solidFill>
                <a:latin typeface="Arial"/>
              </a:rPr>
              <a:t>Relations for heat exchanger effectiveness and NTU are commonly found in many textbooks for a variety of heat exchanger (HEX) types</a:t>
            </a:r>
            <a:endParaRPr lang="en-US" sz="2400" b="0" strike="noStrike" spc="-1">
              <a:latin typeface="Arial"/>
            </a:endParaRPr>
          </a:p>
          <a:p>
            <a:pPr>
              <a:lnSpc>
                <a:spcPct val="100000"/>
              </a:lnSpc>
              <a:spcBef>
                <a:spcPts val="1001"/>
              </a:spcBef>
              <a:buNone/>
            </a:pPr>
            <a:endParaRPr lang="en-US" sz="2800" b="0" strike="noStrike" spc="-1">
              <a:latin typeface="Arial"/>
            </a:endParaRPr>
          </a:p>
          <a:p>
            <a:pPr>
              <a:lnSpc>
                <a:spcPct val="100000"/>
              </a:lnSpc>
              <a:spcBef>
                <a:spcPts val="1001"/>
              </a:spcBef>
              <a:buNone/>
            </a:pPr>
            <a:endParaRPr lang="en-US" sz="2800" b="0" strike="noStrike" spc="-1">
              <a:latin typeface="Arial"/>
            </a:endParaRPr>
          </a:p>
        </p:txBody>
      </p:sp>
      <mc:AlternateContent xmlns:mc="http://schemas.openxmlformats.org/markup-compatibility/2006" xmlns:a14="http://schemas.microsoft.com/office/drawing/2010/main">
        <mc:Choice Requires="a14">
          <p:sp>
            <p:nvSpPr>
              <p:cNvPr id="339" name="TextBox 4"/>
              <p:cNvSpPr txBox="1"/>
              <p:nvPr/>
            </p:nvSpPr>
            <p:spPr>
              <a:xfrm>
                <a:off x="-55080" y="4309920"/>
                <a:ext cx="4420440" cy="464400"/>
              </a:xfrm>
              <a:prstGeom prst="rect">
                <a:avLst/>
              </a:prstGeom>
            </p:spPr>
            <p:txBody>
              <a:bodyPr/>
              <a:lstStyle/>
              <a:p>
                <a:pPr/>
                <a14:m>
                  <m:oMathPara xmlns:m="http://schemas.openxmlformats.org/officeDocument/2006/math">
                    <m:oMath>
                      <m:sSub>
                        <m:sSubPr>
                          <m:ctrlPr>
                            <a:rPr sz="1600">
                              <a:latin typeface="Cambria Math" panose="02040503050406030204" pitchFamily="18" charset="0"/>
                            </a:rPr>
                          </m:ctrlPr>
                        </m:sSubPr>
                        <m:e>
                          <m:r>
                            <a:rPr sz="1600">
                              <a:latin typeface="Cambria Math" panose="02040503050406030204" pitchFamily="18" charset="0"/>
                            </a:rPr>
                            <m:t>𝜀</m:t>
                          </m:r>
                        </m:e>
                        <m:sub>
                          <m:r>
                            <a:rPr sz="1600">
                              <a:latin typeface="Cambria Math" panose="02040503050406030204" pitchFamily="18" charset="0"/>
                            </a:rPr>
                            <m:t>𝑓𝑐</m:t>
                          </m:r>
                        </m:sub>
                      </m:sSub>
                      <m:r>
                        <a:rPr sz="1600">
                          <a:latin typeface="Cambria Math" panose="02040503050406030204" pitchFamily="18" charset="0"/>
                        </a:rPr>
                        <m:t>=1−</m:t>
                      </m:r>
                      <m:r>
                        <a:rPr sz="1600">
                          <a:latin typeface="Cambria Math" panose="02040503050406030204" pitchFamily="18" charset="0"/>
                        </a:rPr>
                        <m:t>𝑒𝑥𝑝</m:t>
                      </m:r>
                      <m:d>
                        <m:dPr>
                          <m:ctrlPr>
                            <a:rPr sz="1600">
                              <a:latin typeface="Cambria Math" panose="02040503050406030204" pitchFamily="18" charset="0"/>
                            </a:rPr>
                          </m:ctrlPr>
                        </m:dPr>
                        <m:e>
                          <m:r>
                            <a:rPr sz="1600">
                              <a:latin typeface="Cambria Math" panose="02040503050406030204" pitchFamily="18" charset="0"/>
                            </a:rPr>
                            <m:t>−</m:t>
                          </m:r>
                          <m:r>
                            <a:rPr sz="1600">
                              <a:latin typeface="Cambria Math" panose="02040503050406030204" pitchFamily="18" charset="0"/>
                            </a:rPr>
                            <m:t>𝑁𝑇𝑈</m:t>
                          </m:r>
                        </m:e>
                      </m:d>
                      <m:r>
                        <a:rPr sz="1600">
                          <a:latin typeface="Cambria Math" panose="02040503050406030204" pitchFamily="18" charset="0"/>
                        </a:rPr>
                        <m:t>=</m:t>
                      </m:r>
                      <m:f>
                        <m:fPr>
                          <m:ctrlPr>
                            <a:rPr sz="1600" i="1">
                              <a:latin typeface="Cambria Math" panose="02040503050406030204" pitchFamily="18" charset="0"/>
                            </a:rPr>
                          </m:ctrlPr>
                        </m:fPr>
                        <m:num>
                          <m:sSub>
                            <m:sSubPr>
                              <m:ctrlPr>
                                <a:rPr sz="1600">
                                  <a:latin typeface="Cambria Math" panose="02040503050406030204" pitchFamily="18" charset="0"/>
                                </a:rPr>
                              </m:ctrlPr>
                            </m:sSubPr>
                            <m:e>
                              <m:r>
                                <a:rPr sz="1600">
                                  <a:latin typeface="Cambria Math" panose="02040503050406030204" pitchFamily="18" charset="0"/>
                                </a:rPr>
                                <m:t>∆</m:t>
                              </m:r>
                              <m:r>
                                <a:rPr sz="1600">
                                  <a:latin typeface="Cambria Math" panose="02040503050406030204" pitchFamily="18" charset="0"/>
                                </a:rPr>
                                <m:t>𝑇</m:t>
                              </m:r>
                            </m:e>
                            <m:sub>
                              <m:r>
                                <a:rPr sz="1600">
                                  <a:latin typeface="Cambria Math" panose="02040503050406030204" pitchFamily="18" charset="0"/>
                                </a:rPr>
                                <m:t>𝑐𝑜𝑜𝑙</m:t>
                              </m:r>
                            </m:sub>
                          </m:sSub>
                        </m:num>
                        <m:den>
                          <m:sSub>
                            <m:sSubPr>
                              <m:ctrlPr>
                                <a:rPr sz="1600">
                                  <a:latin typeface="Cambria Math" panose="02040503050406030204" pitchFamily="18" charset="0"/>
                                </a:rPr>
                              </m:ctrlPr>
                            </m:sSubPr>
                            <m:e>
                              <m:r>
                                <a:rPr sz="1600">
                                  <a:latin typeface="Cambria Math" panose="02040503050406030204" pitchFamily="18" charset="0"/>
                                </a:rPr>
                                <m:t>𝑇</m:t>
                              </m:r>
                            </m:e>
                            <m:sub>
                              <m:r>
                                <a:rPr sz="1600">
                                  <a:latin typeface="Cambria Math" panose="02040503050406030204" pitchFamily="18" charset="0"/>
                                </a:rPr>
                                <m:t>𝑓𝑐</m:t>
                              </m:r>
                            </m:sub>
                          </m:sSub>
                          <m:r>
                            <a:rPr sz="1600">
                              <a:latin typeface="Cambria Math" panose="02040503050406030204" pitchFamily="18" charset="0"/>
                            </a:rPr>
                            <m:t>−</m:t>
                          </m:r>
                          <m:sSub>
                            <m:sSubPr>
                              <m:ctrlPr>
                                <a:rPr sz="1600">
                                  <a:latin typeface="Cambria Math" panose="02040503050406030204" pitchFamily="18" charset="0"/>
                                </a:rPr>
                              </m:ctrlPr>
                            </m:sSubPr>
                            <m:e>
                              <m:r>
                                <a:rPr sz="1600">
                                  <a:latin typeface="Cambria Math" panose="02040503050406030204" pitchFamily="18" charset="0"/>
                                </a:rPr>
                                <m:t>𝑇</m:t>
                              </m:r>
                            </m:e>
                            <m:sub>
                              <m:r>
                                <a:rPr sz="1600">
                                  <a:latin typeface="Cambria Math" panose="02040503050406030204" pitchFamily="18" charset="0"/>
                                </a:rPr>
                                <m:t>𝑖𝑛</m:t>
                              </m:r>
                              <m:r>
                                <a:rPr sz="1600">
                                  <a:latin typeface="Cambria Math" panose="02040503050406030204" pitchFamily="18" charset="0"/>
                                </a:rPr>
                                <m:t>,</m:t>
                              </m:r>
                              <m:r>
                                <a:rPr sz="1600">
                                  <a:latin typeface="Cambria Math" panose="02040503050406030204" pitchFamily="18" charset="0"/>
                                </a:rPr>
                                <m:t>𝑐𝑜𝑜𝑙</m:t>
                              </m:r>
                            </m:sub>
                          </m:sSub>
                        </m:den>
                      </m:f>
                    </m:oMath>
                  </m:oMathPara>
                </a14:m>
                <a:endParaRPr sz="1600" dirty="0"/>
              </a:p>
            </p:txBody>
          </p:sp>
        </mc:Choice>
        <mc:Fallback xmlns="">
          <p:sp>
            <p:nvSpPr>
              <p:cNvPr id="339" name="TextBox 4"/>
              <p:cNvSpPr txBox="1">
                <a:spLocks noRot="1" noChangeAspect="1" noMove="1" noResize="1" noEditPoints="1" noAdjustHandles="1" noChangeArrowheads="1" noChangeShapeType="1" noTextEdit="1"/>
              </p:cNvSpPr>
              <p:nvPr/>
            </p:nvSpPr>
            <p:spPr>
              <a:xfrm>
                <a:off x="-55080" y="4309920"/>
                <a:ext cx="4420440" cy="464400"/>
              </a:xfrm>
              <a:prstGeom prst="rect">
                <a:avLst/>
              </a:prstGeom>
              <a:blipFill>
                <a:blip r:embed="rId3"/>
                <a:stretch>
                  <a:fillRect b="-25000"/>
                </a:stretch>
              </a:blipFill>
            </p:spPr>
            <p:txBody>
              <a:bodyPr/>
              <a:lstStyle/>
              <a:p>
                <a:r>
                  <a:rPr lang="en-US">
                    <a:noFill/>
                  </a:rPr>
                  <a:t> </a:t>
                </a:r>
              </a:p>
            </p:txBody>
          </p:sp>
        </mc:Fallback>
      </mc:AlternateContent>
      <p:sp>
        <p:nvSpPr>
          <p:cNvPr id="340" name="TextBox 5"/>
          <p:cNvSpPr/>
          <p:nvPr/>
        </p:nvSpPr>
        <p:spPr>
          <a:xfrm>
            <a:off x="838080" y="2660760"/>
            <a:ext cx="3160440" cy="1461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a:lnSpc>
                <a:spcPct val="100000"/>
              </a:lnSpc>
              <a:buClr>
                <a:srgbClr val="000000"/>
              </a:buClr>
              <a:buFont typeface="Arial"/>
              <a:buChar char="•"/>
            </a:pPr>
            <a:r>
              <a:rPr lang="en-US" sz="2400" b="0" strike="noStrike" spc="-1">
                <a:solidFill>
                  <a:srgbClr val="000000"/>
                </a:solidFill>
                <a:latin typeface="Arial"/>
                <a:ea typeface="DejaVu Sans"/>
              </a:rPr>
              <a:t>For a single-sided HEX (i.e., cooling plates):</a:t>
            </a:r>
            <a:endParaRPr lang="en-US" sz="2400" b="0" strike="noStrike" spc="-1">
              <a:latin typeface="Arial"/>
            </a:endParaRPr>
          </a:p>
          <a:p>
            <a:pPr>
              <a:lnSpc>
                <a:spcPct val="100000"/>
              </a:lnSpc>
              <a:buNone/>
            </a:pPr>
            <a:endParaRPr lang="en-US" sz="1800" b="0" strike="noStrike" spc="-1">
              <a:latin typeface="Arial"/>
            </a:endParaRPr>
          </a:p>
        </p:txBody>
      </p:sp>
      <p:pic>
        <p:nvPicPr>
          <p:cNvPr id="341" name="Picture 7"/>
          <p:cNvPicPr/>
          <p:nvPr/>
        </p:nvPicPr>
        <p:blipFill>
          <a:blip r:embed="rId4"/>
          <a:stretch/>
        </p:blipFill>
        <p:spPr>
          <a:xfrm>
            <a:off x="3999600" y="2660760"/>
            <a:ext cx="2818440" cy="2922120"/>
          </a:xfrm>
          <a:prstGeom prst="rect">
            <a:avLst/>
          </a:prstGeom>
          <a:ln w="0">
            <a:noFill/>
          </a:ln>
        </p:spPr>
      </p:pic>
      <p:sp>
        <p:nvSpPr>
          <p:cNvPr id="342" name="TextBox 8"/>
          <p:cNvSpPr/>
          <p:nvPr/>
        </p:nvSpPr>
        <p:spPr>
          <a:xfrm>
            <a:off x="6819120" y="2689920"/>
            <a:ext cx="4150800" cy="2523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a:lnSpc>
                <a:spcPct val="100000"/>
              </a:lnSpc>
              <a:buClr>
                <a:srgbClr val="000000"/>
              </a:buClr>
              <a:buFont typeface="Arial"/>
              <a:buChar char="•"/>
            </a:pPr>
            <a:r>
              <a:rPr lang="en-US" sz="1600" b="0" strike="noStrike" spc="-1">
                <a:solidFill>
                  <a:srgbClr val="000000"/>
                </a:solidFill>
                <a:latin typeface="Arial"/>
                <a:ea typeface="DejaVu Sans"/>
              </a:rPr>
              <a:t>The main heat exchanger uses the same method and water/air as working fluids</a:t>
            </a:r>
            <a:endParaRPr lang="en-US" sz="1600" b="0" strike="noStrike" spc="-1">
              <a:latin typeface="Arial"/>
            </a:endParaRPr>
          </a:p>
          <a:p>
            <a:pPr marL="285840" indent="-285840">
              <a:lnSpc>
                <a:spcPct val="100000"/>
              </a:lnSpc>
              <a:buClr>
                <a:srgbClr val="000000"/>
              </a:buClr>
              <a:buFont typeface="Arial"/>
              <a:buChar char="•"/>
            </a:pPr>
            <a:r>
              <a:rPr lang="en-US" sz="1600" b="0" strike="noStrike" spc="-1">
                <a:solidFill>
                  <a:srgbClr val="000000"/>
                </a:solidFill>
                <a:latin typeface="Arial"/>
                <a:ea typeface="DejaVu Sans"/>
              </a:rPr>
              <a:t>Two models currently available: a simple crossflow HEX with a user-specified effectiveness, and a more detailed strip-fin crossflow HEX</a:t>
            </a:r>
            <a:endParaRPr lang="en-US" sz="1600" b="0" strike="noStrike" spc="-1">
              <a:latin typeface="Arial"/>
            </a:endParaRPr>
          </a:p>
          <a:p>
            <a:pPr marL="285840" indent="-285840">
              <a:lnSpc>
                <a:spcPct val="100000"/>
              </a:lnSpc>
              <a:buClr>
                <a:srgbClr val="000000"/>
              </a:buClr>
              <a:buFont typeface="Arial"/>
              <a:buChar char="•"/>
            </a:pPr>
            <a:r>
              <a:rPr lang="en-US" sz="1600" b="0" strike="noStrike" spc="-1">
                <a:solidFill>
                  <a:srgbClr val="000000"/>
                </a:solidFill>
                <a:latin typeface="Arial"/>
                <a:ea typeface="DejaVu Sans"/>
              </a:rPr>
              <a:t>Empirical relation for the Colburn factor </a:t>
            </a:r>
            <a:r>
              <a:rPr lang="en-US" sz="1600" b="0" i="1" strike="noStrike" spc="-1">
                <a:solidFill>
                  <a:srgbClr val="000000"/>
                </a:solidFill>
                <a:latin typeface="Arial"/>
                <a:ea typeface="DejaVu Sans"/>
              </a:rPr>
              <a:t>j</a:t>
            </a:r>
            <a:r>
              <a:rPr lang="en-US" sz="1600" b="0" strike="noStrike" spc="-1">
                <a:solidFill>
                  <a:srgbClr val="000000"/>
                </a:solidFill>
                <a:latin typeface="Arial"/>
                <a:ea typeface="DejaVu Sans"/>
              </a:rPr>
              <a:t> used to compute Nusselt number and convection coefficient</a:t>
            </a:r>
            <a:endParaRPr lang="en-US" sz="1600" b="0" strike="noStrike" spc="-1">
              <a:latin typeface="Arial"/>
            </a:endParaRPr>
          </a:p>
          <a:p>
            <a:pPr marL="285840" indent="-285840">
              <a:lnSpc>
                <a:spcPct val="100000"/>
              </a:lnSpc>
              <a:buClr>
                <a:srgbClr val="000000"/>
              </a:buClr>
              <a:buFont typeface="Arial"/>
              <a:buChar char="•"/>
            </a:pPr>
            <a:r>
              <a:rPr lang="en-US" sz="1600" b="0" strike="noStrike" spc="-1">
                <a:solidFill>
                  <a:srgbClr val="000000"/>
                </a:solidFill>
                <a:latin typeface="Arial"/>
                <a:ea typeface="DejaVu Sans"/>
              </a:rPr>
              <a:t>Effectiveness-NTU relation given by:</a:t>
            </a:r>
            <a:endParaRPr lang="en-US" sz="1600" b="0" strike="noStrike" spc="-1">
              <a:latin typeface="Arial"/>
            </a:endParaRPr>
          </a:p>
        </p:txBody>
      </p:sp>
      <mc:AlternateContent xmlns:mc="http://schemas.openxmlformats.org/markup-compatibility/2006" xmlns:a14="http://schemas.microsoft.com/office/drawing/2010/main">
        <mc:Choice Requires="a14">
          <p:sp>
            <p:nvSpPr>
              <p:cNvPr id="343" name="TextBox 9"/>
              <p:cNvSpPr txBox="1"/>
              <p:nvPr/>
            </p:nvSpPr>
            <p:spPr>
              <a:xfrm>
                <a:off x="5110293" y="5774220"/>
                <a:ext cx="7568453" cy="460440"/>
              </a:xfrm>
              <a:prstGeom prst="rect">
                <a:avLst/>
              </a:prstGeom>
            </p:spPr>
            <p:txBody>
              <a:bodyPr/>
              <a:lstStyle/>
              <a:p>
                <a:pPr/>
                <a14:m>
                  <m:oMathPara xmlns:m="http://schemas.openxmlformats.org/officeDocument/2006/math">
                    <m:oMath>
                      <m:r>
                        <a:rPr sz="1200">
                          <a:latin typeface="Cambria Math" panose="02040503050406030204" pitchFamily="18" charset="0"/>
                        </a:rPr>
                        <m:t>𝜀</m:t>
                      </m:r>
                      <m:r>
                        <a:rPr sz="1200">
                          <a:latin typeface="Cambria Math" panose="02040503050406030204" pitchFamily="18" charset="0"/>
                        </a:rPr>
                        <m:t>=</m:t>
                      </m:r>
                      <m:f>
                        <m:fPr>
                          <m:ctrlPr>
                            <a:rPr sz="1200" i="1">
                              <a:latin typeface="Cambria Math" panose="02040503050406030204" pitchFamily="18" charset="0"/>
                            </a:rPr>
                          </m:ctrlPr>
                        </m:fPr>
                        <m:num>
                          <m:sSub>
                            <m:sSubPr>
                              <m:ctrlPr>
                                <a:rPr sz="1200" i="1">
                                  <a:latin typeface="Cambria Math" panose="02040503050406030204" pitchFamily="18" charset="0"/>
                                </a:rPr>
                              </m:ctrlPr>
                            </m:sSubPr>
                            <m:e>
                              <m:d>
                                <m:dPr>
                                  <m:ctrlPr>
                                    <a:rPr sz="1200" i="1">
                                      <a:latin typeface="Cambria Math" panose="02040503050406030204" pitchFamily="18" charset="0"/>
                                    </a:rPr>
                                  </m:ctrlPr>
                                </m:dPr>
                                <m:e>
                                  <m:acc>
                                    <m:accPr>
                                      <m:chr m:val="˙"/>
                                      <m:ctrlPr>
                                        <a:rPr sz="1200">
                                          <a:latin typeface="Cambria Math" panose="02040503050406030204" pitchFamily="18" charset="0"/>
                                        </a:rPr>
                                      </m:ctrlPr>
                                    </m:accPr>
                                    <m:e>
                                      <m:r>
                                        <a:rPr sz="1200">
                                          <a:latin typeface="Cambria Math" panose="02040503050406030204" pitchFamily="18" charset="0"/>
                                        </a:rPr>
                                        <m:t>𝑚</m:t>
                                      </m:r>
                                    </m:e>
                                  </m:acc>
                                  <m:sSub>
                                    <m:sSubPr>
                                      <m:ctrlPr>
                                        <a:rPr sz="1200">
                                          <a:latin typeface="Cambria Math" panose="02040503050406030204" pitchFamily="18" charset="0"/>
                                        </a:rPr>
                                      </m:ctrlPr>
                                    </m:sSubPr>
                                    <m:e>
                                      <m:r>
                                        <a:rPr sz="1200">
                                          <a:latin typeface="Cambria Math" panose="02040503050406030204" pitchFamily="18" charset="0"/>
                                        </a:rPr>
                                        <m:t>𝑐</m:t>
                                      </m:r>
                                    </m:e>
                                    <m:sub>
                                      <m:r>
                                        <a:rPr sz="1200">
                                          <a:latin typeface="Cambria Math" panose="02040503050406030204" pitchFamily="18" charset="0"/>
                                        </a:rPr>
                                        <m:t>𝑝</m:t>
                                      </m:r>
                                    </m:sub>
                                  </m:sSub>
                                </m:e>
                              </m:d>
                            </m:e>
                            <m:sub>
                              <m:r>
                                <a:rPr sz="1200">
                                  <a:latin typeface="Cambria Math" panose="02040503050406030204" pitchFamily="18" charset="0"/>
                                </a:rPr>
                                <m:t>𝑚𝑖𝑛</m:t>
                              </m:r>
                            </m:sub>
                          </m:sSub>
                          <m:d>
                            <m:dPr>
                              <m:ctrlPr>
                                <a:rPr sz="1200" i="1">
                                  <a:latin typeface="Cambria Math" panose="02040503050406030204" pitchFamily="18" charset="0"/>
                                </a:rPr>
                              </m:ctrlPr>
                            </m:dPr>
                            <m:e>
                              <m:sSub>
                                <m:sSubPr>
                                  <m:ctrlPr>
                                    <a:rPr sz="1200">
                                      <a:latin typeface="Cambria Math" panose="02040503050406030204" pitchFamily="18" charset="0"/>
                                    </a:rPr>
                                  </m:ctrlPr>
                                </m:sSubPr>
                                <m:e>
                                  <m:r>
                                    <a:rPr sz="1200">
                                      <a:latin typeface="Cambria Math" panose="02040503050406030204" pitchFamily="18" charset="0"/>
                                    </a:rPr>
                                    <m:t>𝑇</m:t>
                                  </m:r>
                                </m:e>
                                <m:sub>
                                  <m:r>
                                    <a:rPr sz="1200">
                                      <a:latin typeface="Cambria Math" panose="02040503050406030204" pitchFamily="18" charset="0"/>
                                    </a:rPr>
                                    <m:t>ℎ𝑜𝑡</m:t>
                                  </m:r>
                                  <m:r>
                                    <a:rPr sz="1200">
                                      <a:latin typeface="Cambria Math" panose="02040503050406030204" pitchFamily="18" charset="0"/>
                                    </a:rPr>
                                    <m:t>,</m:t>
                                  </m:r>
                                  <m:r>
                                    <a:rPr sz="1200">
                                      <a:latin typeface="Cambria Math" panose="02040503050406030204" pitchFamily="18" charset="0"/>
                                    </a:rPr>
                                    <m:t>𝑖𝑛</m:t>
                                  </m:r>
                                </m:sub>
                              </m:sSub>
                              <m:r>
                                <a:rPr sz="1200">
                                  <a:latin typeface="Cambria Math" panose="02040503050406030204" pitchFamily="18" charset="0"/>
                                </a:rPr>
                                <m:t>−</m:t>
                              </m:r>
                              <m:sSub>
                                <m:sSubPr>
                                  <m:ctrlPr>
                                    <a:rPr sz="1200">
                                      <a:latin typeface="Cambria Math" panose="02040503050406030204" pitchFamily="18" charset="0"/>
                                    </a:rPr>
                                  </m:ctrlPr>
                                </m:sSubPr>
                                <m:e>
                                  <m:r>
                                    <a:rPr sz="1200">
                                      <a:latin typeface="Cambria Math" panose="02040503050406030204" pitchFamily="18" charset="0"/>
                                    </a:rPr>
                                    <m:t>𝑇</m:t>
                                  </m:r>
                                </m:e>
                                <m:sub>
                                  <m:r>
                                    <a:rPr sz="1200">
                                      <a:latin typeface="Cambria Math" panose="02040503050406030204" pitchFamily="18" charset="0"/>
                                    </a:rPr>
                                    <m:t>𝑐𝑜𝑙𝑑</m:t>
                                  </m:r>
                                  <m:r>
                                    <a:rPr sz="1200">
                                      <a:latin typeface="Cambria Math" panose="02040503050406030204" pitchFamily="18" charset="0"/>
                                    </a:rPr>
                                    <m:t>,</m:t>
                                  </m:r>
                                  <m:r>
                                    <a:rPr sz="1200">
                                      <a:latin typeface="Cambria Math" panose="02040503050406030204" pitchFamily="18" charset="0"/>
                                    </a:rPr>
                                    <m:t>𝑖𝑛</m:t>
                                  </m:r>
                                </m:sub>
                              </m:sSub>
                            </m:e>
                          </m:d>
                        </m:num>
                        <m:den>
                          <m:sSub>
                            <m:sSubPr>
                              <m:ctrlPr>
                                <a:rPr sz="1200" i="1">
                                  <a:latin typeface="Cambria Math" panose="02040503050406030204" pitchFamily="18" charset="0"/>
                                </a:rPr>
                              </m:ctrlPr>
                            </m:sSubPr>
                            <m:e>
                              <m:d>
                                <m:dPr>
                                  <m:ctrlPr>
                                    <a:rPr sz="1200" i="1">
                                      <a:latin typeface="Cambria Math" panose="02040503050406030204" pitchFamily="18" charset="0"/>
                                    </a:rPr>
                                  </m:ctrlPr>
                                </m:dPr>
                                <m:e>
                                  <m:acc>
                                    <m:accPr>
                                      <m:chr m:val="˙"/>
                                      <m:ctrlPr>
                                        <a:rPr sz="1200">
                                          <a:latin typeface="Cambria Math" panose="02040503050406030204" pitchFamily="18" charset="0"/>
                                        </a:rPr>
                                      </m:ctrlPr>
                                    </m:accPr>
                                    <m:e>
                                      <m:r>
                                        <a:rPr sz="1200">
                                          <a:latin typeface="Cambria Math" panose="02040503050406030204" pitchFamily="18" charset="0"/>
                                        </a:rPr>
                                        <m:t>𝑚</m:t>
                                      </m:r>
                                    </m:e>
                                  </m:acc>
                                  <m:sSub>
                                    <m:sSubPr>
                                      <m:ctrlPr>
                                        <a:rPr sz="1200">
                                          <a:latin typeface="Cambria Math" panose="02040503050406030204" pitchFamily="18" charset="0"/>
                                        </a:rPr>
                                      </m:ctrlPr>
                                    </m:sSubPr>
                                    <m:e>
                                      <m:r>
                                        <a:rPr sz="1200">
                                          <a:latin typeface="Cambria Math" panose="02040503050406030204" pitchFamily="18" charset="0"/>
                                        </a:rPr>
                                        <m:t>𝑐</m:t>
                                      </m:r>
                                    </m:e>
                                    <m:sub>
                                      <m:r>
                                        <a:rPr sz="1200">
                                          <a:latin typeface="Cambria Math" panose="02040503050406030204" pitchFamily="18" charset="0"/>
                                        </a:rPr>
                                        <m:t>𝑝</m:t>
                                      </m:r>
                                    </m:sub>
                                  </m:sSub>
                                </m:e>
                              </m:d>
                            </m:e>
                            <m:sub>
                              <m:r>
                                <a:rPr sz="1200">
                                  <a:latin typeface="Cambria Math" panose="02040503050406030204" pitchFamily="18" charset="0"/>
                                </a:rPr>
                                <m:t>𝑐𝑜𝑙𝑑</m:t>
                              </m:r>
                            </m:sub>
                          </m:sSub>
                          <m:sSub>
                            <m:sSubPr>
                              <m:ctrlPr>
                                <a:rPr sz="1200">
                                  <a:latin typeface="Cambria Math" panose="02040503050406030204" pitchFamily="18" charset="0"/>
                                </a:rPr>
                              </m:ctrlPr>
                            </m:sSubPr>
                            <m:e>
                              <m:r>
                                <a:rPr sz="1200">
                                  <a:latin typeface="Cambria Math" panose="02040503050406030204" pitchFamily="18" charset="0"/>
                                </a:rPr>
                                <m:t>∆</m:t>
                              </m:r>
                              <m:r>
                                <a:rPr sz="1200">
                                  <a:latin typeface="Cambria Math" panose="02040503050406030204" pitchFamily="18" charset="0"/>
                                </a:rPr>
                                <m:t>𝑇</m:t>
                              </m:r>
                            </m:e>
                            <m:sub>
                              <m:r>
                                <a:rPr sz="1200">
                                  <a:latin typeface="Cambria Math" panose="02040503050406030204" pitchFamily="18" charset="0"/>
                                </a:rPr>
                                <m:t>𝑐𝑜𝑙𝑑</m:t>
                              </m:r>
                            </m:sub>
                          </m:sSub>
                        </m:den>
                      </m:f>
                      <m:r>
                        <a:rPr sz="1200">
                          <a:latin typeface="Cambria Math" panose="02040503050406030204" pitchFamily="18" charset="0"/>
                        </a:rPr>
                        <m:t>=1−</m:t>
                      </m:r>
                      <m:r>
                        <a:rPr sz="1200">
                          <a:latin typeface="Cambria Math" panose="02040503050406030204" pitchFamily="18" charset="0"/>
                        </a:rPr>
                        <m:t>𝑒𝑥𝑝</m:t>
                      </m:r>
                      <m:d>
                        <m:dPr>
                          <m:begChr m:val="["/>
                          <m:endChr m:val="]"/>
                          <m:ctrlPr>
                            <a:rPr sz="1200" i="1">
                              <a:latin typeface="Cambria Math" panose="02040503050406030204" pitchFamily="18" charset="0"/>
                            </a:rPr>
                          </m:ctrlPr>
                        </m:dPr>
                        <m:e>
                          <m:f>
                            <m:fPr>
                              <m:ctrlPr>
                                <a:rPr sz="1200">
                                  <a:latin typeface="Cambria Math" panose="02040503050406030204" pitchFamily="18" charset="0"/>
                                </a:rPr>
                              </m:ctrlPr>
                            </m:fPr>
                            <m:num>
                              <m:r>
                                <a:rPr sz="1200">
                                  <a:latin typeface="Cambria Math" panose="02040503050406030204" pitchFamily="18" charset="0"/>
                                </a:rPr>
                                <m:t>1</m:t>
                              </m:r>
                            </m:num>
                            <m:den>
                              <m:sSub>
                                <m:sSubPr>
                                  <m:ctrlPr>
                                    <a:rPr sz="1200" i="1">
                                      <a:latin typeface="Cambria Math" panose="02040503050406030204" pitchFamily="18" charset="0"/>
                                    </a:rPr>
                                  </m:ctrlPr>
                                </m:sSubPr>
                                <m:e>
                                  <m:d>
                                    <m:dPr>
                                      <m:ctrlPr>
                                        <a:rPr sz="1200" i="1">
                                          <a:latin typeface="Cambria Math" panose="02040503050406030204" pitchFamily="18" charset="0"/>
                                        </a:rPr>
                                      </m:ctrlPr>
                                    </m:dPr>
                                    <m:e>
                                      <m:acc>
                                        <m:accPr>
                                          <m:chr m:val="˙"/>
                                          <m:ctrlPr>
                                            <a:rPr sz="1200">
                                              <a:latin typeface="Cambria Math" panose="02040503050406030204" pitchFamily="18" charset="0"/>
                                            </a:rPr>
                                          </m:ctrlPr>
                                        </m:accPr>
                                        <m:e>
                                          <m:r>
                                            <a:rPr sz="1200">
                                              <a:latin typeface="Cambria Math" panose="02040503050406030204" pitchFamily="18" charset="0"/>
                                            </a:rPr>
                                            <m:t>𝑚</m:t>
                                          </m:r>
                                        </m:e>
                                      </m:acc>
                                      <m:sSub>
                                        <m:sSubPr>
                                          <m:ctrlPr>
                                            <a:rPr sz="1200">
                                              <a:latin typeface="Cambria Math" panose="02040503050406030204" pitchFamily="18" charset="0"/>
                                            </a:rPr>
                                          </m:ctrlPr>
                                        </m:sSubPr>
                                        <m:e>
                                          <m:r>
                                            <a:rPr sz="1200">
                                              <a:latin typeface="Cambria Math" panose="02040503050406030204" pitchFamily="18" charset="0"/>
                                            </a:rPr>
                                            <m:t>𝑐</m:t>
                                          </m:r>
                                        </m:e>
                                        <m:sub>
                                          <m:r>
                                            <a:rPr sz="1200">
                                              <a:latin typeface="Cambria Math" panose="02040503050406030204" pitchFamily="18" charset="0"/>
                                            </a:rPr>
                                            <m:t>𝑝</m:t>
                                          </m:r>
                                        </m:sub>
                                      </m:sSub>
                                    </m:e>
                                  </m:d>
                                </m:e>
                                <m:sub>
                                  <m:r>
                                    <a:rPr sz="1200">
                                      <a:latin typeface="Cambria Math" panose="02040503050406030204" pitchFamily="18" charset="0"/>
                                    </a:rPr>
                                    <m:t>𝑟</m:t>
                                  </m:r>
                                </m:sub>
                              </m:sSub>
                            </m:den>
                          </m:f>
                          <m:sSup>
                            <m:sSupPr>
                              <m:ctrlPr>
                                <a:rPr sz="1200" i="1">
                                  <a:latin typeface="Cambria Math" panose="02040503050406030204" pitchFamily="18" charset="0"/>
                                </a:rPr>
                              </m:ctrlPr>
                            </m:sSupPr>
                            <m:e>
                              <m:d>
                                <m:dPr>
                                  <m:ctrlPr>
                                    <a:rPr sz="1200">
                                      <a:latin typeface="Cambria Math" panose="02040503050406030204" pitchFamily="18" charset="0"/>
                                    </a:rPr>
                                  </m:ctrlPr>
                                </m:dPr>
                                <m:e>
                                  <m:r>
                                    <a:rPr sz="1200">
                                      <a:latin typeface="Cambria Math" panose="02040503050406030204" pitchFamily="18" charset="0"/>
                                    </a:rPr>
                                    <m:t>𝑁𝑇𝑈</m:t>
                                  </m:r>
                                </m:e>
                              </m:d>
                            </m:e>
                            <m:sup>
                              <m:r>
                                <a:rPr sz="1200">
                                  <a:latin typeface="Cambria Math" panose="02040503050406030204" pitchFamily="18" charset="0"/>
                                </a:rPr>
                                <m:t>0.22</m:t>
                              </m:r>
                            </m:sup>
                          </m:sSup>
                          <m:d>
                            <m:dPr>
                              <m:begChr m:val="{"/>
                              <m:endChr m:val="}"/>
                              <m:ctrlPr>
                                <a:rPr sz="1200">
                                  <a:latin typeface="Cambria Math" panose="02040503050406030204" pitchFamily="18" charset="0"/>
                                </a:rPr>
                              </m:ctrlPr>
                            </m:dPr>
                            <m:e>
                              <m:r>
                                <a:rPr sz="1200">
                                  <a:latin typeface="Cambria Math" panose="02040503050406030204" pitchFamily="18" charset="0"/>
                                </a:rPr>
                                <m:t>𝑒𝑥𝑝</m:t>
                              </m:r>
                              <m:d>
                                <m:dPr>
                                  <m:begChr m:val="["/>
                                  <m:endChr m:val="]"/>
                                  <m:ctrlPr>
                                    <a:rPr sz="1200">
                                      <a:latin typeface="Cambria Math" panose="02040503050406030204" pitchFamily="18" charset="0"/>
                                    </a:rPr>
                                  </m:ctrlPr>
                                </m:dPr>
                                <m:e>
                                  <m:r>
                                    <a:rPr sz="1200">
                                      <a:latin typeface="Cambria Math" panose="02040503050406030204" pitchFamily="18" charset="0"/>
                                    </a:rPr>
                                    <m:t>−</m:t>
                                  </m:r>
                                  <m:sSub>
                                    <m:sSubPr>
                                      <m:ctrlPr>
                                        <a:rPr sz="1200" i="1">
                                          <a:latin typeface="Cambria Math" panose="02040503050406030204" pitchFamily="18" charset="0"/>
                                        </a:rPr>
                                      </m:ctrlPr>
                                    </m:sSubPr>
                                    <m:e>
                                      <m:d>
                                        <m:dPr>
                                          <m:ctrlPr>
                                            <a:rPr sz="1200" i="1">
                                              <a:latin typeface="Cambria Math" panose="02040503050406030204" pitchFamily="18" charset="0"/>
                                            </a:rPr>
                                          </m:ctrlPr>
                                        </m:dPr>
                                        <m:e>
                                          <m:acc>
                                            <m:accPr>
                                              <m:chr m:val="˙"/>
                                              <m:ctrlPr>
                                                <a:rPr sz="1200">
                                                  <a:latin typeface="Cambria Math" panose="02040503050406030204" pitchFamily="18" charset="0"/>
                                                </a:rPr>
                                              </m:ctrlPr>
                                            </m:accPr>
                                            <m:e>
                                              <m:r>
                                                <a:rPr sz="1200">
                                                  <a:latin typeface="Cambria Math" panose="02040503050406030204" pitchFamily="18" charset="0"/>
                                                </a:rPr>
                                                <m:t>𝑚</m:t>
                                              </m:r>
                                            </m:e>
                                          </m:acc>
                                          <m:sSub>
                                            <m:sSubPr>
                                              <m:ctrlPr>
                                                <a:rPr sz="1200">
                                                  <a:latin typeface="Cambria Math" panose="02040503050406030204" pitchFamily="18" charset="0"/>
                                                </a:rPr>
                                              </m:ctrlPr>
                                            </m:sSubPr>
                                            <m:e>
                                              <m:r>
                                                <a:rPr sz="1200">
                                                  <a:latin typeface="Cambria Math" panose="02040503050406030204" pitchFamily="18" charset="0"/>
                                                </a:rPr>
                                                <m:t>𝑐</m:t>
                                              </m:r>
                                            </m:e>
                                            <m:sub>
                                              <m:r>
                                                <a:rPr sz="1200">
                                                  <a:latin typeface="Cambria Math" panose="02040503050406030204" pitchFamily="18" charset="0"/>
                                                </a:rPr>
                                                <m:t>𝑝</m:t>
                                              </m:r>
                                            </m:sub>
                                          </m:sSub>
                                        </m:e>
                                      </m:d>
                                    </m:e>
                                    <m:sub>
                                      <m:r>
                                        <a:rPr sz="1200">
                                          <a:latin typeface="Cambria Math" panose="02040503050406030204" pitchFamily="18" charset="0"/>
                                        </a:rPr>
                                        <m:t>𝑟</m:t>
                                      </m:r>
                                    </m:sub>
                                  </m:sSub>
                                  <m:sSup>
                                    <m:sSupPr>
                                      <m:ctrlPr>
                                        <a:rPr sz="1200" i="1">
                                          <a:latin typeface="Cambria Math" panose="02040503050406030204" pitchFamily="18" charset="0"/>
                                        </a:rPr>
                                      </m:ctrlPr>
                                    </m:sSupPr>
                                    <m:e>
                                      <m:d>
                                        <m:dPr>
                                          <m:ctrlPr>
                                            <a:rPr sz="1200">
                                              <a:latin typeface="Cambria Math" panose="02040503050406030204" pitchFamily="18" charset="0"/>
                                            </a:rPr>
                                          </m:ctrlPr>
                                        </m:dPr>
                                        <m:e>
                                          <m:r>
                                            <a:rPr sz="1200">
                                              <a:latin typeface="Cambria Math" panose="02040503050406030204" pitchFamily="18" charset="0"/>
                                            </a:rPr>
                                            <m:t>𝑁𝑇𝑈</m:t>
                                          </m:r>
                                        </m:e>
                                      </m:d>
                                    </m:e>
                                    <m:sup>
                                      <m:r>
                                        <a:rPr sz="1200">
                                          <a:latin typeface="Cambria Math" panose="02040503050406030204" pitchFamily="18" charset="0"/>
                                        </a:rPr>
                                        <m:t>0.78</m:t>
                                      </m:r>
                                    </m:sup>
                                  </m:sSup>
                                </m:e>
                              </m:d>
                              <m:r>
                                <a:rPr sz="1200">
                                  <a:latin typeface="Cambria Math" panose="02040503050406030204" pitchFamily="18" charset="0"/>
                                </a:rPr>
                                <m:t>−1</m:t>
                              </m:r>
                            </m:e>
                          </m:d>
                        </m:e>
                      </m:d>
                    </m:oMath>
                  </m:oMathPara>
                </a14:m>
                <a:endParaRPr sz="1200" dirty="0"/>
              </a:p>
            </p:txBody>
          </p:sp>
        </mc:Choice>
        <mc:Fallback xmlns="">
          <p:sp>
            <p:nvSpPr>
              <p:cNvPr id="343" name="TextBox 9"/>
              <p:cNvSpPr txBox="1">
                <a:spLocks noRot="1" noChangeAspect="1" noMove="1" noResize="1" noEditPoints="1" noAdjustHandles="1" noChangeArrowheads="1" noChangeShapeType="1" noTextEdit="1"/>
              </p:cNvSpPr>
              <p:nvPr/>
            </p:nvSpPr>
            <p:spPr>
              <a:xfrm>
                <a:off x="5110293" y="5774220"/>
                <a:ext cx="7568453" cy="460440"/>
              </a:xfrm>
              <a:prstGeom prst="rect">
                <a:avLst/>
              </a:prstGeom>
              <a:blipFill>
                <a:blip r:embed="rId5"/>
                <a:stretch>
                  <a:fillRect b="-25000"/>
                </a:stretch>
              </a:blipFill>
            </p:spPr>
            <p:txBody>
              <a:bodyPr/>
              <a:lstStyle/>
              <a:p>
                <a:r>
                  <a:rPr lang="en-US">
                    <a:noFill/>
                  </a:rPr>
                  <a:t> </a:t>
                </a:r>
              </a:p>
            </p:txBody>
          </p:sp>
        </mc:Fallback>
      </mc:AlternateContent>
      <p:sp>
        <p:nvSpPr>
          <p:cNvPr id="4" name="PlaceHolder 3"/>
          <p:cNvSpPr>
            <a:spLocks noGrp="1"/>
          </p:cNvSpPr>
          <p:nvPr>
            <p:ph type="sldNum" idx="3"/>
          </p:nvPr>
        </p:nvSpPr>
        <p:spPr/>
        <p:txBody>
          <a:bodyPr/>
          <a:lstStyle/>
          <a:p>
            <a:fld id="{04564E9D-C136-4DAA-9532-BD13FD06A39D}" type="slidenum">
              <a:rPr/>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 name="PlaceHolder 1"/>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a:solidFill>
                  <a:srgbClr val="000000"/>
                </a:solidFill>
                <a:latin typeface="Arial Black"/>
              </a:rPr>
              <a:t>Power Train Modeling: Operational Mode Control</a:t>
            </a:r>
            <a:endParaRPr lang="en-US" sz="3600" b="0" strike="noStrike" spc="-1">
              <a:latin typeface="Arial"/>
            </a:endParaRPr>
          </a:p>
        </p:txBody>
      </p:sp>
      <p:sp>
        <p:nvSpPr>
          <p:cNvPr id="345" name="PlaceHolder 2"/>
          <p:cNvSpPr>
            <a:spLocks noGrp="1"/>
          </p:cNvSpPr>
          <p:nvPr>
            <p:ph/>
          </p:nvPr>
        </p:nvSpPr>
        <p:spPr>
          <a:xfrm>
            <a:off x="838080" y="1825560"/>
            <a:ext cx="3520440" cy="4253040"/>
          </a:xfrm>
          <a:prstGeom prst="rect">
            <a:avLst/>
          </a:prstGeom>
          <a:noFill/>
          <a:ln w="0">
            <a:noFill/>
          </a:ln>
        </p:spPr>
        <p:txBody>
          <a:bodyPr lIns="90000" tIns="45000" rIns="90000" bIns="45000" anchor="t">
            <a:normAutofit/>
          </a:bodyPr>
          <a:lstStyle/>
          <a:p>
            <a:pPr marL="228600" indent="-228600">
              <a:lnSpc>
                <a:spcPct val="100000"/>
              </a:lnSpc>
              <a:spcBef>
                <a:spcPts val="1001"/>
              </a:spcBef>
              <a:buClr>
                <a:srgbClr val="000000"/>
              </a:buClr>
              <a:buFont typeface="Arial"/>
              <a:buChar char="•"/>
            </a:pPr>
            <a:r>
              <a:rPr lang="en-US" sz="1600" b="0" strike="noStrike" spc="-1">
                <a:solidFill>
                  <a:srgbClr val="000000"/>
                </a:solidFill>
                <a:latin typeface="Arial"/>
              </a:rPr>
              <a:t>Basic flight profile and controller are lumped together in the “cycle” block</a:t>
            </a:r>
            <a:endParaRPr lang="en-US" sz="1600" b="0" strike="noStrike" spc="-1">
              <a:latin typeface="Arial"/>
            </a:endParaRPr>
          </a:p>
          <a:p>
            <a:pPr marL="228600" indent="-228600">
              <a:lnSpc>
                <a:spcPct val="100000"/>
              </a:lnSpc>
              <a:spcBef>
                <a:spcPts val="1001"/>
              </a:spcBef>
              <a:buClr>
                <a:srgbClr val="000000"/>
              </a:buClr>
              <a:buFont typeface="Arial"/>
              <a:buChar char="•"/>
            </a:pPr>
            <a:r>
              <a:rPr lang="en-US" sz="1600" b="0" strike="noStrike" spc="-1">
                <a:solidFill>
                  <a:srgbClr val="000000"/>
                </a:solidFill>
                <a:latin typeface="Arial"/>
              </a:rPr>
              <a:t>Controller is effectively a very simple OMC, with four states: taxi, takeoff, cruise, and descent</a:t>
            </a:r>
            <a:endParaRPr lang="en-US" sz="1600" b="0" strike="noStrike" spc="-1">
              <a:latin typeface="Arial"/>
            </a:endParaRPr>
          </a:p>
        </p:txBody>
      </p:sp>
      <p:pic>
        <p:nvPicPr>
          <p:cNvPr id="346" name="Picture 5"/>
          <p:cNvPicPr/>
          <p:nvPr/>
        </p:nvPicPr>
        <p:blipFill>
          <a:blip r:embed="rId3"/>
          <a:stretch/>
        </p:blipFill>
        <p:spPr>
          <a:xfrm>
            <a:off x="4400280" y="1758240"/>
            <a:ext cx="6952320" cy="4388040"/>
          </a:xfrm>
          <a:prstGeom prst="rect">
            <a:avLst/>
          </a:prstGeom>
          <a:ln w="0">
            <a:noFill/>
          </a:ln>
        </p:spPr>
      </p:pic>
      <p:pic>
        <p:nvPicPr>
          <p:cNvPr id="347" name="Picture 8"/>
          <p:cNvPicPr/>
          <p:nvPr/>
        </p:nvPicPr>
        <p:blipFill>
          <a:blip r:embed="rId4"/>
          <a:stretch/>
        </p:blipFill>
        <p:spPr>
          <a:xfrm>
            <a:off x="1102680" y="3498840"/>
            <a:ext cx="2923200" cy="2993040"/>
          </a:xfrm>
          <a:prstGeom prst="rect">
            <a:avLst/>
          </a:prstGeom>
          <a:ln w="0">
            <a:noFill/>
          </a:ln>
        </p:spPr>
      </p:pic>
      <p:sp>
        <p:nvSpPr>
          <p:cNvPr id="4" name="PlaceHolder 3"/>
          <p:cNvSpPr>
            <a:spLocks noGrp="1"/>
          </p:cNvSpPr>
          <p:nvPr>
            <p:ph type="sldNum" idx="3"/>
          </p:nvPr>
        </p:nvSpPr>
        <p:spPr/>
        <p:txBody>
          <a:bodyPr/>
          <a:lstStyle/>
          <a:p>
            <a:fld id="{11857CB3-AF85-4851-8B57-FCDA1D88F8AE}" type="slidenum">
              <a:rPr/>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 name="PlaceHolder 1"/>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a:solidFill>
                  <a:srgbClr val="000000"/>
                </a:solidFill>
                <a:latin typeface="Arial Black"/>
              </a:rPr>
              <a:t>Generic Flight Profile</a:t>
            </a:r>
            <a:endParaRPr lang="en-US" sz="3600" b="0" strike="noStrike" spc="-1">
              <a:latin typeface="Arial"/>
            </a:endParaRPr>
          </a:p>
        </p:txBody>
      </p:sp>
      <p:sp>
        <p:nvSpPr>
          <p:cNvPr id="349" name="PlaceHolder 2"/>
          <p:cNvSpPr>
            <a:spLocks noGrp="1"/>
          </p:cNvSpPr>
          <p:nvPr>
            <p:ph/>
          </p:nvPr>
        </p:nvSpPr>
        <p:spPr>
          <a:xfrm>
            <a:off x="838080" y="1483200"/>
            <a:ext cx="6623640" cy="3990960"/>
          </a:xfrm>
          <a:prstGeom prst="rect">
            <a:avLst/>
          </a:prstGeom>
          <a:noFill/>
          <a:ln w="0">
            <a:noFill/>
          </a:ln>
        </p:spPr>
        <p:txBody>
          <a:bodyPr lIns="90000" tIns="45000" rIns="90000" bIns="45000" anchor="t">
            <a:noAutofit/>
          </a:bodyPr>
          <a:lstStyle/>
          <a:p>
            <a:pPr marL="228600" indent="-228600">
              <a:lnSpc>
                <a:spcPct val="100000"/>
              </a:lnSpc>
              <a:spcBef>
                <a:spcPts val="1001"/>
              </a:spcBef>
              <a:buClr>
                <a:srgbClr val="000000"/>
              </a:buClr>
              <a:buFont typeface="Arial"/>
              <a:buChar char="•"/>
            </a:pPr>
            <a:r>
              <a:rPr lang="en-US" sz="2000" b="0" strike="noStrike" spc="-1">
                <a:solidFill>
                  <a:srgbClr val="000000"/>
                </a:solidFill>
                <a:latin typeface="Arial"/>
              </a:rPr>
              <a:t>Generic flight profile built based publicly available data for several regional Southeastern flights</a:t>
            </a:r>
            <a:endParaRPr lang="en-US" sz="2000" b="0" strike="noStrike" spc="-1">
              <a:latin typeface="Arial"/>
            </a:endParaRPr>
          </a:p>
          <a:p>
            <a:pPr marL="685800" lvl="1" indent="-228600">
              <a:lnSpc>
                <a:spcPct val="100000"/>
              </a:lnSpc>
              <a:spcBef>
                <a:spcPts val="499"/>
              </a:spcBef>
              <a:buClr>
                <a:srgbClr val="000000"/>
              </a:buClr>
              <a:buFont typeface="Arial"/>
              <a:buChar char="•"/>
            </a:pPr>
            <a:r>
              <a:rPr lang="en-US" sz="1600" b="0" strike="noStrike" spc="-1">
                <a:solidFill>
                  <a:srgbClr val="000000"/>
                </a:solidFill>
                <a:latin typeface="Arial"/>
              </a:rPr>
              <a:t>Note: Only Cessna 206 data was available; data was rescaled for the larger engine of a 208</a:t>
            </a:r>
            <a:endParaRPr lang="en-US" sz="1600" b="0" strike="noStrike" spc="-1">
              <a:latin typeface="Arial"/>
            </a:endParaRPr>
          </a:p>
          <a:p>
            <a:pPr marL="228600" indent="-228600">
              <a:lnSpc>
                <a:spcPct val="100000"/>
              </a:lnSpc>
              <a:spcBef>
                <a:spcPts val="1001"/>
              </a:spcBef>
              <a:buClr>
                <a:srgbClr val="000000"/>
              </a:buClr>
              <a:buFont typeface="Arial"/>
              <a:buChar char="•"/>
            </a:pPr>
            <a:r>
              <a:rPr lang="en-US" sz="2000" b="0" strike="noStrike" spc="-1">
                <a:solidFill>
                  <a:srgbClr val="000000"/>
                </a:solidFill>
                <a:latin typeface="Arial"/>
              </a:rPr>
              <a:t>Substantial noise amounting to </a:t>
            </a:r>
            <a:r>
              <a:rPr lang="el-GR" sz="2000" b="0" strike="noStrike" spc="-1">
                <a:solidFill>
                  <a:srgbClr val="000000"/>
                </a:solidFill>
                <a:latin typeface="Arial"/>
              </a:rPr>
              <a:t>σ</a:t>
            </a:r>
            <a:r>
              <a:rPr lang="en-US" sz="2000" b="0" strike="noStrike" spc="-1">
                <a:solidFill>
                  <a:srgbClr val="000000"/>
                </a:solidFill>
                <a:latin typeface="Arial"/>
              </a:rPr>
              <a:t>=1.37% cruise power observed in the data set; noise generator added to the cruise phase to mimic this</a:t>
            </a:r>
            <a:endParaRPr lang="en-US" sz="2000" b="0" strike="noStrike" spc="-1">
              <a:latin typeface="Arial"/>
            </a:endParaRPr>
          </a:p>
          <a:p>
            <a:pPr marL="685800" lvl="1" indent="-228600">
              <a:lnSpc>
                <a:spcPct val="100000"/>
              </a:lnSpc>
              <a:spcBef>
                <a:spcPts val="499"/>
              </a:spcBef>
              <a:buClr>
                <a:srgbClr val="000000"/>
              </a:buClr>
              <a:buFont typeface="Arial"/>
              <a:buChar char="•"/>
            </a:pPr>
            <a:r>
              <a:rPr lang="en-US" sz="1600" b="0" strike="noStrike" spc="-1">
                <a:solidFill>
                  <a:srgbClr val="000000"/>
                </a:solidFill>
                <a:latin typeface="Arial"/>
              </a:rPr>
              <a:t>Manipulating this “noise” parameter to increase the number and intensity of the load fluctuations has a surprisingly substantial impact on the battery stack’s useful life</a:t>
            </a:r>
            <a:endParaRPr lang="en-US" sz="1600" b="0" strike="noStrike" spc="-1">
              <a:latin typeface="Arial"/>
            </a:endParaRPr>
          </a:p>
          <a:p>
            <a:pPr>
              <a:lnSpc>
                <a:spcPct val="100000"/>
              </a:lnSpc>
              <a:spcBef>
                <a:spcPts val="1001"/>
              </a:spcBef>
              <a:buNone/>
            </a:pPr>
            <a:endParaRPr lang="en-US" sz="2800" b="0" strike="noStrike" spc="-1">
              <a:latin typeface="Arial"/>
            </a:endParaRPr>
          </a:p>
        </p:txBody>
      </p:sp>
      <p:pic>
        <p:nvPicPr>
          <p:cNvPr id="350" name="Picture 7"/>
          <p:cNvPicPr/>
          <p:nvPr/>
        </p:nvPicPr>
        <p:blipFill>
          <a:blip r:embed="rId3"/>
          <a:stretch/>
        </p:blipFill>
        <p:spPr>
          <a:xfrm>
            <a:off x="7524720" y="1027800"/>
            <a:ext cx="3953520" cy="2898360"/>
          </a:xfrm>
          <a:prstGeom prst="rect">
            <a:avLst/>
          </a:prstGeom>
          <a:ln w="0">
            <a:noFill/>
          </a:ln>
        </p:spPr>
      </p:pic>
      <p:pic>
        <p:nvPicPr>
          <p:cNvPr id="351" name="Picture 9"/>
          <p:cNvPicPr/>
          <p:nvPr/>
        </p:nvPicPr>
        <p:blipFill>
          <a:blip r:embed="rId4"/>
          <a:stretch/>
        </p:blipFill>
        <p:spPr>
          <a:xfrm>
            <a:off x="2156040" y="4525920"/>
            <a:ext cx="8659440" cy="1842480"/>
          </a:xfrm>
          <a:prstGeom prst="rect">
            <a:avLst/>
          </a:prstGeom>
          <a:ln w="0">
            <a:noFill/>
          </a:ln>
        </p:spPr>
      </p:pic>
      <p:sp>
        <p:nvSpPr>
          <p:cNvPr id="4" name="PlaceHolder 3"/>
          <p:cNvSpPr>
            <a:spLocks noGrp="1"/>
          </p:cNvSpPr>
          <p:nvPr>
            <p:ph type="sldNum" idx="3"/>
          </p:nvPr>
        </p:nvSpPr>
        <p:spPr/>
        <p:txBody>
          <a:bodyPr/>
          <a:lstStyle/>
          <a:p>
            <a:fld id="{4416D1A7-72C5-40E4-9E13-0590A41CB9B0}" type="slidenum">
              <a:rPr/>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 name="PlaceHolder 1"/>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a:solidFill>
                  <a:srgbClr val="000000"/>
                </a:solidFill>
                <a:latin typeface="Arial Black"/>
              </a:rPr>
              <a:t>Fluctuations Study: Stack Sizing and  Study Parameters</a:t>
            </a:r>
            <a:endParaRPr lang="en-US" sz="3600" b="0" strike="noStrike" spc="-1">
              <a:latin typeface="Arial"/>
            </a:endParaRPr>
          </a:p>
        </p:txBody>
      </p:sp>
      <p:sp>
        <p:nvSpPr>
          <p:cNvPr id="353" name="PlaceHolder 2"/>
          <p:cNvSpPr>
            <a:spLocks noGrp="1"/>
          </p:cNvSpPr>
          <p:nvPr>
            <p:ph/>
          </p:nvPr>
        </p:nvSpPr>
        <p:spPr>
          <a:xfrm>
            <a:off x="838080" y="1678320"/>
            <a:ext cx="5256720" cy="2836800"/>
          </a:xfrm>
          <a:prstGeom prst="rect">
            <a:avLst/>
          </a:prstGeom>
          <a:noFill/>
          <a:ln w="0">
            <a:noFill/>
          </a:ln>
        </p:spPr>
        <p:txBody>
          <a:bodyPr lIns="90000" tIns="45000" rIns="90000" bIns="45000" anchor="t">
            <a:noAutofit/>
          </a:bodyPr>
          <a:lstStyle/>
          <a:p>
            <a:pPr marL="228600" indent="-228600">
              <a:lnSpc>
                <a:spcPct val="100000"/>
              </a:lnSpc>
              <a:spcBef>
                <a:spcPts val="1001"/>
              </a:spcBef>
              <a:buClr>
                <a:srgbClr val="000000"/>
              </a:buClr>
              <a:buFont typeface="Arial"/>
              <a:buChar char="•"/>
            </a:pPr>
            <a:r>
              <a:rPr lang="en-US" sz="2000" b="0" strike="noStrike" spc="-1">
                <a:solidFill>
                  <a:srgbClr val="000000"/>
                </a:solidFill>
                <a:latin typeface="Arial"/>
              </a:rPr>
              <a:t>Fuel cell required to supply 335 kW power during cruise</a:t>
            </a:r>
            <a:endParaRPr lang="en-US" sz="2000" b="0" strike="noStrike" spc="-1">
              <a:latin typeface="Arial"/>
            </a:endParaRPr>
          </a:p>
          <a:p>
            <a:pPr marL="685800" lvl="1" indent="-228600">
              <a:lnSpc>
                <a:spcPct val="100000"/>
              </a:lnSpc>
              <a:spcBef>
                <a:spcPts val="499"/>
              </a:spcBef>
              <a:buClr>
                <a:srgbClr val="000000"/>
              </a:buClr>
              <a:buFont typeface="Arial"/>
              <a:buChar char="•"/>
            </a:pPr>
            <a:r>
              <a:rPr lang="en-US" sz="1600" b="0" strike="noStrike" spc="-1">
                <a:solidFill>
                  <a:srgbClr val="000000"/>
                </a:solidFill>
                <a:latin typeface="Arial"/>
              </a:rPr>
              <a:t>Short calculation indicates 10 fuel cell modules of 350 cells each sufficient</a:t>
            </a:r>
            <a:endParaRPr lang="en-US" sz="1600" b="0" strike="noStrike" spc="-1">
              <a:latin typeface="Arial"/>
            </a:endParaRPr>
          </a:p>
          <a:p>
            <a:pPr marL="685800" lvl="1" indent="-228600">
              <a:lnSpc>
                <a:spcPct val="100000"/>
              </a:lnSpc>
              <a:spcBef>
                <a:spcPts val="499"/>
              </a:spcBef>
              <a:buClr>
                <a:srgbClr val="000000"/>
              </a:buClr>
              <a:buFont typeface="Arial"/>
              <a:buChar char="•"/>
            </a:pPr>
            <a:r>
              <a:rPr lang="en-US" sz="1600" b="0" strike="noStrike" spc="-1">
                <a:solidFill>
                  <a:srgbClr val="000000"/>
                </a:solidFill>
                <a:latin typeface="Arial"/>
              </a:rPr>
              <a:t>Estimated mass: 677 kg</a:t>
            </a:r>
            <a:endParaRPr lang="en-US" sz="1600" b="0" strike="noStrike" spc="-1">
              <a:latin typeface="Arial"/>
            </a:endParaRPr>
          </a:p>
          <a:p>
            <a:pPr marL="228600" indent="-228600">
              <a:lnSpc>
                <a:spcPct val="100000"/>
              </a:lnSpc>
              <a:spcBef>
                <a:spcPts val="1001"/>
              </a:spcBef>
              <a:buClr>
                <a:srgbClr val="000000"/>
              </a:buClr>
              <a:buFont typeface="Arial"/>
              <a:buChar char="•"/>
            </a:pPr>
            <a:r>
              <a:rPr lang="en-US" sz="2000" b="0" strike="noStrike" spc="-1">
                <a:solidFill>
                  <a:srgbClr val="000000"/>
                </a:solidFill>
                <a:latin typeface="Arial"/>
              </a:rPr>
              <a:t>Battery stack intended to act as emergency power supply capable of maintaining cruise for 30 minutes</a:t>
            </a:r>
            <a:endParaRPr lang="en-US" sz="2000" b="0" strike="noStrike" spc="-1">
              <a:latin typeface="Arial"/>
            </a:endParaRPr>
          </a:p>
          <a:p>
            <a:pPr marL="685800" lvl="1" indent="-228600">
              <a:lnSpc>
                <a:spcPct val="100000"/>
              </a:lnSpc>
              <a:spcBef>
                <a:spcPts val="499"/>
              </a:spcBef>
              <a:buClr>
                <a:srgbClr val="000000"/>
              </a:buClr>
              <a:buFont typeface="Arial"/>
              <a:buChar char="•"/>
            </a:pPr>
            <a:r>
              <a:rPr lang="en-US" sz="1600" b="0" strike="noStrike" spc="-1">
                <a:solidFill>
                  <a:srgbClr val="000000"/>
                </a:solidFill>
                <a:latin typeface="Arial"/>
              </a:rPr>
              <a:t>4 modules with configuration 270S60P meet requirement while minimizing weight</a:t>
            </a:r>
            <a:endParaRPr lang="en-US" sz="1600" b="0" strike="noStrike" spc="-1">
              <a:latin typeface="Arial"/>
            </a:endParaRPr>
          </a:p>
          <a:p>
            <a:pPr marL="685800" lvl="1" indent="-228600">
              <a:lnSpc>
                <a:spcPct val="100000"/>
              </a:lnSpc>
              <a:spcBef>
                <a:spcPts val="499"/>
              </a:spcBef>
              <a:buClr>
                <a:srgbClr val="000000"/>
              </a:buClr>
              <a:buFont typeface="Arial"/>
              <a:buChar char="•"/>
            </a:pPr>
            <a:r>
              <a:rPr lang="en-US" sz="1600" b="0" strike="noStrike" spc="-1">
                <a:solidFill>
                  <a:srgbClr val="000000"/>
                </a:solidFill>
                <a:latin typeface="Arial"/>
              </a:rPr>
              <a:t>Estimated Mass: 778 kg</a:t>
            </a:r>
            <a:endParaRPr lang="en-US" sz="1600" b="0" strike="noStrike" spc="-1">
              <a:latin typeface="Arial"/>
            </a:endParaRPr>
          </a:p>
          <a:p>
            <a:pPr marL="228600" indent="-228600">
              <a:lnSpc>
                <a:spcPct val="100000"/>
              </a:lnSpc>
              <a:spcBef>
                <a:spcPts val="1001"/>
              </a:spcBef>
              <a:buClr>
                <a:srgbClr val="000000"/>
              </a:buClr>
              <a:buFont typeface="Arial"/>
              <a:buChar char="•"/>
            </a:pPr>
            <a:r>
              <a:rPr lang="en-US" sz="2000" b="0" strike="noStrike" spc="-1">
                <a:solidFill>
                  <a:srgbClr val="000000"/>
                </a:solidFill>
                <a:latin typeface="Arial"/>
              </a:rPr>
              <a:t>Total Mass: 1455 kg (Cessna 208 power plant and fuel: 1200 kg)</a:t>
            </a:r>
            <a:endParaRPr lang="en-US" sz="2000" b="0" strike="noStrike" spc="-1">
              <a:latin typeface="Arial"/>
            </a:endParaRPr>
          </a:p>
          <a:p>
            <a:pPr marL="685800" lvl="1" indent="-228600">
              <a:lnSpc>
                <a:spcPct val="100000"/>
              </a:lnSpc>
              <a:spcBef>
                <a:spcPts val="499"/>
              </a:spcBef>
              <a:buClr>
                <a:srgbClr val="000000"/>
              </a:buClr>
              <a:buFont typeface="Arial"/>
              <a:buChar char="•"/>
            </a:pPr>
            <a:r>
              <a:rPr lang="en-US" sz="1600" b="0" strike="noStrike" spc="-1">
                <a:solidFill>
                  <a:srgbClr val="000000"/>
                </a:solidFill>
                <a:latin typeface="Arial"/>
              </a:rPr>
              <a:t>Does NOT include weight of H</a:t>
            </a:r>
            <a:r>
              <a:rPr lang="en-US" sz="1600" b="0" strike="noStrike" spc="-1" baseline="-25000">
                <a:solidFill>
                  <a:srgbClr val="000000"/>
                </a:solidFill>
                <a:latin typeface="Arial"/>
              </a:rPr>
              <a:t>2</a:t>
            </a:r>
            <a:r>
              <a:rPr lang="en-US" sz="1600" b="0" strike="noStrike" spc="-1">
                <a:solidFill>
                  <a:srgbClr val="000000"/>
                </a:solidFill>
                <a:latin typeface="Arial"/>
              </a:rPr>
              <a:t> tank or coolant</a:t>
            </a:r>
            <a:endParaRPr lang="en-US" sz="1600" b="0" strike="noStrike" spc="-1">
              <a:latin typeface="Arial"/>
            </a:endParaRPr>
          </a:p>
          <a:p>
            <a:pPr>
              <a:lnSpc>
                <a:spcPct val="100000"/>
              </a:lnSpc>
              <a:spcBef>
                <a:spcPts val="1001"/>
              </a:spcBef>
              <a:buNone/>
            </a:pPr>
            <a:endParaRPr lang="en-US" sz="2000" b="0" strike="noStrike" spc="-1">
              <a:latin typeface="Arial"/>
            </a:endParaRPr>
          </a:p>
        </p:txBody>
      </p:sp>
      <p:graphicFrame>
        <p:nvGraphicFramePr>
          <p:cNvPr id="354" name="Table 4"/>
          <p:cNvGraphicFramePr/>
          <p:nvPr/>
        </p:nvGraphicFramePr>
        <p:xfrm>
          <a:off x="6095880" y="5627880"/>
          <a:ext cx="5797080" cy="741600"/>
        </p:xfrm>
        <a:graphic>
          <a:graphicData uri="http://schemas.openxmlformats.org/drawingml/2006/table">
            <a:tbl>
              <a:tblPr/>
              <a:tblGrid>
                <a:gridCol w="1449000">
                  <a:extLst>
                    <a:ext uri="{9D8B030D-6E8A-4147-A177-3AD203B41FA5}">
                      <a16:colId xmlns:a16="http://schemas.microsoft.com/office/drawing/2014/main" val="20000"/>
                    </a:ext>
                  </a:extLst>
                </a:gridCol>
                <a:gridCol w="1449000">
                  <a:extLst>
                    <a:ext uri="{9D8B030D-6E8A-4147-A177-3AD203B41FA5}">
                      <a16:colId xmlns:a16="http://schemas.microsoft.com/office/drawing/2014/main" val="20001"/>
                    </a:ext>
                  </a:extLst>
                </a:gridCol>
                <a:gridCol w="1449000">
                  <a:extLst>
                    <a:ext uri="{9D8B030D-6E8A-4147-A177-3AD203B41FA5}">
                      <a16:colId xmlns:a16="http://schemas.microsoft.com/office/drawing/2014/main" val="20002"/>
                    </a:ext>
                  </a:extLst>
                </a:gridCol>
                <a:gridCol w="1450080">
                  <a:extLst>
                    <a:ext uri="{9D8B030D-6E8A-4147-A177-3AD203B41FA5}">
                      <a16:colId xmlns:a16="http://schemas.microsoft.com/office/drawing/2014/main" val="20003"/>
                    </a:ext>
                  </a:extLst>
                </a:gridCol>
              </a:tblGrid>
              <a:tr h="370800">
                <a:tc>
                  <a:txBody>
                    <a:bodyPr/>
                    <a:lstStyle/>
                    <a:p>
                      <a:pPr algn="ctr">
                        <a:lnSpc>
                          <a:spcPct val="100000"/>
                        </a:lnSpc>
                        <a:buNone/>
                      </a:pPr>
                      <a:r>
                        <a:rPr lang="en-US" sz="1400" b="0" strike="noStrike" spc="-1">
                          <a:solidFill>
                            <a:srgbClr val="000000"/>
                          </a:solidFill>
                          <a:latin typeface="Arial"/>
                        </a:rPr>
                        <a:t>Cruise Length</a:t>
                      </a:r>
                      <a:endParaRPr lang="en-US" sz="14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buNone/>
                      </a:pPr>
                      <a:r>
                        <a:rPr lang="en-US" sz="1400" b="0" strike="noStrike" spc="-1">
                          <a:solidFill>
                            <a:srgbClr val="000000"/>
                          </a:solidFill>
                          <a:latin typeface="Arial"/>
                        </a:rPr>
                        <a:t>“Short”</a:t>
                      </a:r>
                      <a:endParaRPr lang="en-US" sz="14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buNone/>
                      </a:pPr>
                      <a:r>
                        <a:rPr lang="en-US" sz="1400" b="0" strike="noStrike" spc="-1">
                          <a:solidFill>
                            <a:srgbClr val="000000"/>
                          </a:solidFill>
                          <a:latin typeface="Arial"/>
                        </a:rPr>
                        <a:t>“Medium”</a:t>
                      </a:r>
                      <a:endParaRPr lang="en-US" sz="14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buNone/>
                      </a:pPr>
                      <a:r>
                        <a:rPr lang="en-US" sz="1400" b="0" strike="noStrike" spc="-1">
                          <a:solidFill>
                            <a:srgbClr val="000000"/>
                          </a:solidFill>
                          <a:latin typeface="Arial"/>
                        </a:rPr>
                        <a:t>“Long”</a:t>
                      </a:r>
                      <a:endParaRPr lang="en-US" sz="14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extLst>
                  <a:ext uri="{0D108BD9-81ED-4DB2-BD59-A6C34878D82A}">
                    <a16:rowId xmlns:a16="http://schemas.microsoft.com/office/drawing/2014/main" val="10000"/>
                  </a:ext>
                </a:extLst>
              </a:tr>
              <a:tr h="370800">
                <a:tc>
                  <a:txBody>
                    <a:bodyPr/>
                    <a:lstStyle/>
                    <a:p>
                      <a:pPr algn="ctr">
                        <a:lnSpc>
                          <a:spcPct val="100000"/>
                        </a:lnSpc>
                        <a:buNone/>
                      </a:pPr>
                      <a:r>
                        <a:rPr lang="en-US" sz="1400" b="0" strike="noStrike" spc="-1">
                          <a:solidFill>
                            <a:srgbClr val="000000"/>
                          </a:solidFill>
                          <a:latin typeface="Arial"/>
                        </a:rPr>
                        <a:t>Time</a:t>
                      </a:r>
                      <a:endParaRPr lang="en-US" sz="14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buNone/>
                      </a:pPr>
                      <a:r>
                        <a:rPr lang="en-US" sz="1400" b="0" strike="noStrike" spc="-1">
                          <a:solidFill>
                            <a:srgbClr val="000000"/>
                          </a:solidFill>
                          <a:latin typeface="Arial"/>
                        </a:rPr>
                        <a:t>60 min</a:t>
                      </a:r>
                      <a:endParaRPr lang="en-US" sz="14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buNone/>
                      </a:pPr>
                      <a:r>
                        <a:rPr lang="en-US" sz="1400" b="0" strike="noStrike" spc="-1">
                          <a:solidFill>
                            <a:srgbClr val="000000"/>
                          </a:solidFill>
                          <a:latin typeface="Arial"/>
                        </a:rPr>
                        <a:t>90 min</a:t>
                      </a:r>
                      <a:endParaRPr lang="en-US" sz="14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buNone/>
                      </a:pPr>
                      <a:r>
                        <a:rPr lang="en-US" sz="1400" b="0" strike="noStrike" spc="-1">
                          <a:solidFill>
                            <a:srgbClr val="000000"/>
                          </a:solidFill>
                          <a:latin typeface="Arial"/>
                        </a:rPr>
                        <a:t>120 min</a:t>
                      </a:r>
                      <a:endParaRPr lang="en-US" sz="14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extLst>
                  <a:ext uri="{0D108BD9-81ED-4DB2-BD59-A6C34878D82A}">
                    <a16:rowId xmlns:a16="http://schemas.microsoft.com/office/drawing/2014/main" val="10001"/>
                  </a:ext>
                </a:extLst>
              </a:tr>
            </a:tbl>
          </a:graphicData>
        </a:graphic>
      </p:graphicFrame>
      <p:graphicFrame>
        <p:nvGraphicFramePr>
          <p:cNvPr id="355" name="Table 6"/>
          <p:cNvGraphicFramePr/>
          <p:nvPr/>
        </p:nvGraphicFramePr>
        <p:xfrm>
          <a:off x="6095880" y="4378320"/>
          <a:ext cx="5797080" cy="1193760"/>
        </p:xfrm>
        <a:graphic>
          <a:graphicData uri="http://schemas.openxmlformats.org/drawingml/2006/table">
            <a:tbl>
              <a:tblPr/>
              <a:tblGrid>
                <a:gridCol w="1159200">
                  <a:extLst>
                    <a:ext uri="{9D8B030D-6E8A-4147-A177-3AD203B41FA5}">
                      <a16:colId xmlns:a16="http://schemas.microsoft.com/office/drawing/2014/main" val="20000"/>
                    </a:ext>
                  </a:extLst>
                </a:gridCol>
                <a:gridCol w="1159200">
                  <a:extLst>
                    <a:ext uri="{9D8B030D-6E8A-4147-A177-3AD203B41FA5}">
                      <a16:colId xmlns:a16="http://schemas.microsoft.com/office/drawing/2014/main" val="20001"/>
                    </a:ext>
                  </a:extLst>
                </a:gridCol>
                <a:gridCol w="1159200">
                  <a:extLst>
                    <a:ext uri="{9D8B030D-6E8A-4147-A177-3AD203B41FA5}">
                      <a16:colId xmlns:a16="http://schemas.microsoft.com/office/drawing/2014/main" val="20002"/>
                    </a:ext>
                  </a:extLst>
                </a:gridCol>
                <a:gridCol w="1159200">
                  <a:extLst>
                    <a:ext uri="{9D8B030D-6E8A-4147-A177-3AD203B41FA5}">
                      <a16:colId xmlns:a16="http://schemas.microsoft.com/office/drawing/2014/main" val="20003"/>
                    </a:ext>
                  </a:extLst>
                </a:gridCol>
                <a:gridCol w="1160280">
                  <a:extLst>
                    <a:ext uri="{9D8B030D-6E8A-4147-A177-3AD203B41FA5}">
                      <a16:colId xmlns:a16="http://schemas.microsoft.com/office/drawing/2014/main" val="20004"/>
                    </a:ext>
                  </a:extLst>
                </a:gridCol>
              </a:tblGrid>
              <a:tr h="370800">
                <a:tc>
                  <a:txBody>
                    <a:bodyPr/>
                    <a:lstStyle/>
                    <a:p>
                      <a:pPr algn="ctr">
                        <a:lnSpc>
                          <a:spcPct val="100000"/>
                        </a:lnSpc>
                        <a:buNone/>
                      </a:pPr>
                      <a:r>
                        <a:rPr lang="en-US" sz="1200" b="0" strike="noStrike" spc="-1">
                          <a:solidFill>
                            <a:srgbClr val="000000"/>
                          </a:solidFill>
                          <a:latin typeface="Arial"/>
                        </a:rPr>
                        <a:t>Noise Generator Standard Deviation</a:t>
                      </a:r>
                      <a:endParaRPr lang="en-US" sz="12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buNone/>
                      </a:pPr>
                      <a:r>
                        <a:rPr lang="en-US" sz="1200" b="0" strike="noStrike" spc="-1">
                          <a:solidFill>
                            <a:srgbClr val="000000"/>
                          </a:solidFill>
                          <a:latin typeface="Arial"/>
                        </a:rPr>
                        <a:t>0.000% P</a:t>
                      </a:r>
                      <a:r>
                        <a:rPr lang="en-US" sz="1200" b="0" strike="noStrike" spc="-1" baseline="-25000">
                          <a:solidFill>
                            <a:srgbClr val="000000"/>
                          </a:solidFill>
                          <a:latin typeface="Arial"/>
                        </a:rPr>
                        <a:t>cruise</a:t>
                      </a:r>
                      <a:endParaRPr lang="en-US" sz="12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buNone/>
                        <a:tabLst>
                          <a:tab pos="0" algn="l"/>
                        </a:tabLst>
                      </a:pPr>
                      <a:r>
                        <a:rPr lang="en-US" sz="1200" b="0" strike="noStrike" spc="-1">
                          <a:solidFill>
                            <a:srgbClr val="000000"/>
                          </a:solidFill>
                          <a:latin typeface="Arial"/>
                        </a:rPr>
                        <a:t>0.685% P</a:t>
                      </a:r>
                      <a:r>
                        <a:rPr lang="en-US" sz="1200" b="0" strike="noStrike" spc="-1" baseline="-25000">
                          <a:solidFill>
                            <a:srgbClr val="000000"/>
                          </a:solidFill>
                          <a:latin typeface="Arial"/>
                        </a:rPr>
                        <a:t>cruise</a:t>
                      </a:r>
                      <a:endParaRPr lang="en-US" sz="12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buNone/>
                        <a:tabLst>
                          <a:tab pos="0" algn="l"/>
                        </a:tabLst>
                      </a:pPr>
                      <a:r>
                        <a:rPr lang="en-US" sz="1200" b="0" strike="noStrike" spc="-1">
                          <a:solidFill>
                            <a:srgbClr val="000000"/>
                          </a:solidFill>
                          <a:latin typeface="Arial"/>
                        </a:rPr>
                        <a:t>1.370% P</a:t>
                      </a:r>
                      <a:r>
                        <a:rPr lang="en-US" sz="1200" b="0" strike="noStrike" spc="-1" baseline="-25000">
                          <a:solidFill>
                            <a:srgbClr val="000000"/>
                          </a:solidFill>
                          <a:latin typeface="Arial"/>
                        </a:rPr>
                        <a:t>cruise</a:t>
                      </a:r>
                      <a:endParaRPr lang="en-US" sz="12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buNone/>
                        <a:tabLst>
                          <a:tab pos="0" algn="l"/>
                        </a:tabLst>
                      </a:pPr>
                      <a:r>
                        <a:rPr lang="en-US" sz="1200" b="0" strike="noStrike" spc="-1">
                          <a:solidFill>
                            <a:srgbClr val="000000"/>
                          </a:solidFill>
                          <a:latin typeface="Arial"/>
                        </a:rPr>
                        <a:t>2.74% P</a:t>
                      </a:r>
                      <a:r>
                        <a:rPr lang="en-US" sz="1200" b="0" strike="noStrike" spc="-1" baseline="-25000">
                          <a:solidFill>
                            <a:srgbClr val="000000"/>
                          </a:solidFill>
                          <a:latin typeface="Arial"/>
                        </a:rPr>
                        <a:t>cruise</a:t>
                      </a:r>
                      <a:endParaRPr lang="en-US" sz="12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extLst>
                  <a:ext uri="{0D108BD9-81ED-4DB2-BD59-A6C34878D82A}">
                    <a16:rowId xmlns:a16="http://schemas.microsoft.com/office/drawing/2014/main" val="10000"/>
                  </a:ext>
                </a:extLst>
              </a:tr>
              <a:tr h="370800">
                <a:tc>
                  <a:txBody>
                    <a:bodyPr/>
                    <a:lstStyle/>
                    <a:p>
                      <a:pPr algn="ctr">
                        <a:lnSpc>
                          <a:spcPct val="100000"/>
                        </a:lnSpc>
                        <a:buNone/>
                      </a:pPr>
                      <a:r>
                        <a:rPr lang="en-US" sz="1200" b="0" strike="noStrike" spc="-1">
                          <a:solidFill>
                            <a:srgbClr val="000000"/>
                          </a:solidFill>
                          <a:latin typeface="Arial"/>
                        </a:rPr>
                        <a:t>Power</a:t>
                      </a:r>
                      <a:endParaRPr lang="en-US" sz="12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buNone/>
                      </a:pPr>
                      <a:r>
                        <a:rPr lang="en-US" sz="1200" b="0" strike="noStrike" spc="-1">
                          <a:solidFill>
                            <a:srgbClr val="000000"/>
                          </a:solidFill>
                          <a:latin typeface="Arial"/>
                        </a:rPr>
                        <a:t>0 kW</a:t>
                      </a:r>
                      <a:endParaRPr lang="en-US" sz="12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buNone/>
                      </a:pPr>
                      <a:r>
                        <a:rPr lang="en-US" sz="1200" b="0" strike="noStrike" spc="-1">
                          <a:solidFill>
                            <a:srgbClr val="000000"/>
                          </a:solidFill>
                          <a:latin typeface="Arial"/>
                        </a:rPr>
                        <a:t>2.296 kW</a:t>
                      </a:r>
                      <a:endParaRPr lang="en-US" sz="12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buNone/>
                      </a:pPr>
                      <a:r>
                        <a:rPr lang="en-US" sz="1200" b="0" strike="noStrike" spc="-1">
                          <a:solidFill>
                            <a:srgbClr val="000000"/>
                          </a:solidFill>
                          <a:latin typeface="Arial"/>
                        </a:rPr>
                        <a:t>4.591 kW</a:t>
                      </a:r>
                      <a:endParaRPr lang="en-US" sz="12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tc>
                  <a:txBody>
                    <a:bodyPr/>
                    <a:lstStyle/>
                    <a:p>
                      <a:pPr algn="ctr">
                        <a:lnSpc>
                          <a:spcPct val="100000"/>
                        </a:lnSpc>
                        <a:buNone/>
                      </a:pPr>
                      <a:r>
                        <a:rPr lang="en-US" sz="1200" b="0" strike="noStrike" spc="-1">
                          <a:solidFill>
                            <a:srgbClr val="000000"/>
                          </a:solidFill>
                          <a:latin typeface="Arial"/>
                        </a:rPr>
                        <a:t>9.183 kW</a:t>
                      </a:r>
                      <a:endParaRPr lang="en-US" sz="1200" b="0" strike="noStrike" spc="-1">
                        <a:latin typeface="Arial"/>
                      </a:endParaRPr>
                    </a:p>
                  </a:txBody>
                  <a:tcPr anchor="ctr">
                    <a:lnL w="12240">
                      <a:solidFill>
                        <a:srgbClr val="000000"/>
                      </a:solidFill>
                    </a:lnL>
                    <a:lnR w="12240">
                      <a:solidFill>
                        <a:srgbClr val="000000"/>
                      </a:solidFill>
                    </a:lnR>
                    <a:lnT w="12240">
                      <a:solidFill>
                        <a:srgbClr val="000000"/>
                      </a:solidFill>
                    </a:lnT>
                    <a:lnB w="12240">
                      <a:solidFill>
                        <a:srgbClr val="000000"/>
                      </a:solidFill>
                    </a:lnB>
                    <a:solidFill>
                      <a:srgbClr val="FFFFFF"/>
                    </a:solidFill>
                  </a:tcPr>
                </a:tc>
                <a:extLst>
                  <a:ext uri="{0D108BD9-81ED-4DB2-BD59-A6C34878D82A}">
                    <a16:rowId xmlns:a16="http://schemas.microsoft.com/office/drawing/2014/main" val="10001"/>
                  </a:ext>
                </a:extLst>
              </a:tr>
            </a:tbl>
          </a:graphicData>
        </a:graphic>
      </p:graphicFrame>
      <p:sp>
        <p:nvSpPr>
          <p:cNvPr id="356" name="TextBox 7"/>
          <p:cNvSpPr/>
          <p:nvPr/>
        </p:nvSpPr>
        <p:spPr>
          <a:xfrm>
            <a:off x="6095880" y="1678320"/>
            <a:ext cx="5796360" cy="261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a:lnSpc>
                <a:spcPct val="100000"/>
              </a:lnSpc>
              <a:buClr>
                <a:srgbClr val="000000"/>
              </a:buClr>
              <a:buFont typeface="Arial"/>
              <a:buChar char="•"/>
            </a:pPr>
            <a:r>
              <a:rPr lang="en-US" sz="1700" b="0" strike="noStrike" spc="-1">
                <a:solidFill>
                  <a:srgbClr val="000000"/>
                </a:solidFill>
                <a:latin typeface="Arial"/>
                <a:ea typeface="DejaVu Sans"/>
              </a:rPr>
              <a:t>Performed a battery of simulations for a variety of combinations of cruise time and the “noise” parameter</a:t>
            </a:r>
            <a:endParaRPr lang="en-US" sz="1700" b="0" strike="noStrike" spc="-1">
              <a:latin typeface="Arial"/>
            </a:endParaRPr>
          </a:p>
          <a:p>
            <a:pPr marL="743040" lvl="1" indent="-285840">
              <a:lnSpc>
                <a:spcPct val="100000"/>
              </a:lnSpc>
              <a:buClr>
                <a:srgbClr val="000000"/>
              </a:buClr>
              <a:buFont typeface="Arial"/>
              <a:buChar char="•"/>
            </a:pPr>
            <a:r>
              <a:rPr lang="en-US" sz="1400" b="0" strike="noStrike" spc="-1">
                <a:solidFill>
                  <a:srgbClr val="000000"/>
                </a:solidFill>
                <a:latin typeface="Arial"/>
                <a:ea typeface="DejaVu Sans"/>
              </a:rPr>
              <a:t>Three cruise lengths: “short” (60 min), “medium” (90 min), and “long” (120 min)</a:t>
            </a:r>
            <a:endParaRPr lang="en-US" sz="1400" b="0" strike="noStrike" spc="-1">
              <a:latin typeface="Arial"/>
            </a:endParaRPr>
          </a:p>
          <a:p>
            <a:pPr marL="743040" lvl="1" indent="-285840">
              <a:lnSpc>
                <a:spcPct val="100000"/>
              </a:lnSpc>
              <a:buClr>
                <a:srgbClr val="000000"/>
              </a:buClr>
              <a:buFont typeface="Arial"/>
              <a:buChar char="•"/>
            </a:pPr>
            <a:r>
              <a:rPr lang="en-US" sz="1400" b="0" strike="noStrike" spc="-1">
                <a:solidFill>
                  <a:srgbClr val="000000"/>
                </a:solidFill>
                <a:latin typeface="Arial"/>
                <a:ea typeface="DejaVu Sans"/>
              </a:rPr>
              <a:t>Four “noise” parameters (as a percentage of cruise power): 2.740%, 1.370% (as observed in data), 0.685%, and an ideal case (no noise, 0.000%) </a:t>
            </a:r>
            <a:endParaRPr lang="en-US" sz="1400" b="0" strike="noStrike" spc="-1">
              <a:latin typeface="Arial"/>
            </a:endParaRPr>
          </a:p>
          <a:p>
            <a:pPr marL="285840" indent="-285840">
              <a:lnSpc>
                <a:spcPct val="100000"/>
              </a:lnSpc>
              <a:buClr>
                <a:srgbClr val="000000"/>
              </a:buClr>
              <a:buFont typeface="Arial"/>
              <a:buChar char="•"/>
            </a:pPr>
            <a:r>
              <a:rPr lang="en-US" sz="1700" b="0" strike="noStrike" spc="-1">
                <a:solidFill>
                  <a:srgbClr val="000000"/>
                </a:solidFill>
                <a:latin typeface="Arial"/>
                <a:ea typeface="DejaVu Sans"/>
              </a:rPr>
              <a:t>Each simulation repeated the flight profile until the battery stack reached 0% remaining useful life (RUL)</a:t>
            </a:r>
            <a:endParaRPr lang="en-US" sz="1700" b="0" strike="noStrike" spc="-1">
              <a:latin typeface="Arial"/>
            </a:endParaRPr>
          </a:p>
          <a:p>
            <a:pPr marL="743040" lvl="1" indent="-285840">
              <a:lnSpc>
                <a:spcPct val="100000"/>
              </a:lnSpc>
              <a:buClr>
                <a:srgbClr val="000000"/>
              </a:buClr>
              <a:buFont typeface="Arial"/>
              <a:buChar char="•"/>
            </a:pPr>
            <a:r>
              <a:rPr lang="en-US" sz="1400" b="0" strike="noStrike" spc="-1">
                <a:solidFill>
                  <a:srgbClr val="000000"/>
                </a:solidFill>
                <a:latin typeface="Arial"/>
                <a:ea typeface="DejaVu Sans"/>
              </a:rPr>
              <a:t>Short rest period observed between flights to charge battery to at least 80% SOC and refill fuel tank</a:t>
            </a:r>
            <a:endParaRPr lang="en-US" sz="1400" b="0" strike="noStrike" spc="-1">
              <a:latin typeface="Arial"/>
            </a:endParaRPr>
          </a:p>
        </p:txBody>
      </p:sp>
      <p:sp>
        <p:nvSpPr>
          <p:cNvPr id="4" name="PlaceHolder 3"/>
          <p:cNvSpPr>
            <a:spLocks noGrp="1"/>
          </p:cNvSpPr>
          <p:nvPr>
            <p:ph type="sldNum" idx="3"/>
          </p:nvPr>
        </p:nvSpPr>
        <p:spPr/>
        <p:txBody>
          <a:bodyPr/>
          <a:lstStyle/>
          <a:p>
            <a:fld id="{D2BE5118-9973-42ED-8F9D-83DA0FEAA539}" type="slidenum">
              <a:rPr/>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PlaceHolder 1"/>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a:solidFill>
                  <a:srgbClr val="000000"/>
                </a:solidFill>
                <a:latin typeface="Arial Black"/>
              </a:rPr>
              <a:t>Fluctuations Study: Initial Results</a:t>
            </a:r>
            <a:endParaRPr lang="en-US" sz="3600" b="0" strike="noStrike" spc="-1">
              <a:latin typeface="Arial"/>
            </a:endParaRPr>
          </a:p>
        </p:txBody>
      </p:sp>
      <p:sp>
        <p:nvSpPr>
          <p:cNvPr id="358" name="PlaceHolder 2"/>
          <p:cNvSpPr>
            <a:spLocks noGrp="1"/>
          </p:cNvSpPr>
          <p:nvPr>
            <p:ph/>
          </p:nvPr>
        </p:nvSpPr>
        <p:spPr>
          <a:xfrm>
            <a:off x="7113960" y="1825560"/>
            <a:ext cx="4238640" cy="4542840"/>
          </a:xfrm>
          <a:prstGeom prst="rect">
            <a:avLst/>
          </a:prstGeom>
          <a:noFill/>
          <a:ln w="0">
            <a:noFill/>
          </a:ln>
        </p:spPr>
        <p:txBody>
          <a:bodyPr lIns="90000" tIns="45000" rIns="90000" bIns="45000" anchor="t">
            <a:normAutofit/>
          </a:bodyPr>
          <a:lstStyle/>
          <a:p>
            <a:pPr marL="228600" indent="-228600">
              <a:lnSpc>
                <a:spcPct val="100000"/>
              </a:lnSpc>
              <a:spcBef>
                <a:spcPts val="1001"/>
              </a:spcBef>
              <a:buClr>
                <a:srgbClr val="000000"/>
              </a:buClr>
              <a:buFont typeface="Arial"/>
              <a:buChar char="•"/>
            </a:pPr>
            <a:r>
              <a:rPr lang="en-US" sz="2000" b="0" strike="noStrike" spc="-1">
                <a:solidFill>
                  <a:srgbClr val="000000"/>
                </a:solidFill>
                <a:latin typeface="Arial"/>
              </a:rPr>
              <a:t>Under ideal case, aircraft achieved 600 flight hours under “short” cruise, 900 hours under “medium” cruise, and 1200 hours under “long” cruise</a:t>
            </a:r>
            <a:endParaRPr lang="en-US" sz="2000" b="0" strike="noStrike" spc="-1">
              <a:latin typeface="Arial"/>
            </a:endParaRPr>
          </a:p>
          <a:p>
            <a:pPr marL="685800" lvl="1" indent="-228600">
              <a:lnSpc>
                <a:spcPct val="100000"/>
              </a:lnSpc>
              <a:spcBef>
                <a:spcPts val="499"/>
              </a:spcBef>
              <a:buClr>
                <a:srgbClr val="000000"/>
              </a:buClr>
              <a:buFont typeface="Arial"/>
              <a:buChar char="•"/>
            </a:pPr>
            <a:r>
              <a:rPr lang="en-US" sz="1600" b="0" strike="noStrike" spc="-1">
                <a:solidFill>
                  <a:srgbClr val="000000"/>
                </a:solidFill>
                <a:latin typeface="Arial"/>
              </a:rPr>
              <a:t>Takeoff identified as a major stressor</a:t>
            </a:r>
            <a:endParaRPr lang="en-US" sz="1600" b="0" strike="noStrike" spc="-1">
              <a:latin typeface="Arial"/>
            </a:endParaRPr>
          </a:p>
          <a:p>
            <a:pPr marL="228600" indent="-228600">
              <a:lnSpc>
                <a:spcPct val="100000"/>
              </a:lnSpc>
              <a:spcBef>
                <a:spcPts val="1001"/>
              </a:spcBef>
              <a:buClr>
                <a:srgbClr val="000000"/>
              </a:buClr>
              <a:buFont typeface="Arial"/>
              <a:buChar char="•"/>
            </a:pPr>
            <a:r>
              <a:rPr lang="en-US" sz="2000" b="0" strike="noStrike" spc="-1">
                <a:solidFill>
                  <a:srgbClr val="000000"/>
                </a:solidFill>
                <a:latin typeface="Arial"/>
              </a:rPr>
              <a:t>Losses from load fluctuations increased with cruise length</a:t>
            </a:r>
            <a:endParaRPr lang="en-US" sz="2000" b="0" strike="noStrike" spc="-1">
              <a:latin typeface="Arial"/>
            </a:endParaRPr>
          </a:p>
          <a:p>
            <a:pPr marL="685800" lvl="1" indent="-228600">
              <a:lnSpc>
                <a:spcPct val="100000"/>
              </a:lnSpc>
              <a:spcBef>
                <a:spcPts val="499"/>
              </a:spcBef>
              <a:buClr>
                <a:srgbClr val="000000"/>
              </a:buClr>
              <a:buFont typeface="Arial"/>
              <a:buChar char="•"/>
            </a:pPr>
            <a:r>
              <a:rPr lang="en-US" sz="1600" b="0" strike="noStrike" spc="-1">
                <a:solidFill>
                  <a:srgbClr val="000000"/>
                </a:solidFill>
                <a:latin typeface="Arial"/>
              </a:rPr>
              <a:t>Ex., with fluctuations 2.740% P</a:t>
            </a:r>
            <a:r>
              <a:rPr lang="en-US" sz="1600" b="0" strike="noStrike" spc="-1" baseline="-25000">
                <a:solidFill>
                  <a:srgbClr val="000000"/>
                </a:solidFill>
                <a:latin typeface="Arial"/>
              </a:rPr>
              <a:t>cruise</a:t>
            </a:r>
            <a:r>
              <a:rPr lang="en-US" sz="1600" b="0" strike="noStrike" spc="-1">
                <a:solidFill>
                  <a:srgbClr val="000000"/>
                </a:solidFill>
                <a:latin typeface="Arial"/>
              </a:rPr>
              <a:t>, RUL decreased ~20% for “short” cruise, ~33% for “medium” cruise, and ~41% from ideal case for “long” cruise</a:t>
            </a:r>
            <a:endParaRPr lang="en-US" sz="1600" b="0" strike="noStrike" spc="-1">
              <a:latin typeface="Arial"/>
            </a:endParaRPr>
          </a:p>
          <a:p>
            <a:pPr>
              <a:lnSpc>
                <a:spcPct val="100000"/>
              </a:lnSpc>
              <a:spcBef>
                <a:spcPts val="1001"/>
              </a:spcBef>
              <a:buNone/>
            </a:pPr>
            <a:endParaRPr lang="en-US" sz="2800" b="0" strike="noStrike" spc="-1">
              <a:latin typeface="Arial"/>
            </a:endParaRPr>
          </a:p>
        </p:txBody>
      </p:sp>
      <p:pic>
        <p:nvPicPr>
          <p:cNvPr id="359" name="Picture 5"/>
          <p:cNvPicPr/>
          <p:nvPr/>
        </p:nvPicPr>
        <p:blipFill>
          <a:blip r:embed="rId3"/>
          <a:stretch/>
        </p:blipFill>
        <p:spPr>
          <a:xfrm>
            <a:off x="364680" y="1690560"/>
            <a:ext cx="6748200" cy="4858920"/>
          </a:xfrm>
          <a:prstGeom prst="rect">
            <a:avLst/>
          </a:prstGeom>
          <a:ln w="0">
            <a:noFill/>
          </a:ln>
        </p:spPr>
      </p:pic>
      <p:sp>
        <p:nvSpPr>
          <p:cNvPr id="4" name="PlaceHolder 3"/>
          <p:cNvSpPr>
            <a:spLocks noGrp="1"/>
          </p:cNvSpPr>
          <p:nvPr>
            <p:ph type="sldNum" idx="3"/>
          </p:nvPr>
        </p:nvSpPr>
        <p:spPr/>
        <p:txBody>
          <a:bodyPr/>
          <a:lstStyle/>
          <a:p>
            <a:fld id="{B2AA9EE3-9767-465D-9AE9-9FC62EDF0CEA}" type="slidenum">
              <a:rPr/>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 name="PlaceHolder 1"/>
          <p:cNvSpPr>
            <a:spLocks noGrp="1"/>
          </p:cNvSpPr>
          <p:nvPr>
            <p:ph type="title"/>
          </p:nvPr>
        </p:nvSpPr>
        <p:spPr>
          <a:xfrm>
            <a:off x="831960" y="2835720"/>
            <a:ext cx="10514520" cy="1185120"/>
          </a:xfrm>
          <a:prstGeom prst="rect">
            <a:avLst/>
          </a:prstGeom>
          <a:noFill/>
          <a:ln w="0">
            <a:noFill/>
          </a:ln>
        </p:spPr>
        <p:txBody>
          <a:bodyPr lIns="90000" tIns="45000" rIns="90000" bIns="45000" anchor="t">
            <a:noAutofit/>
          </a:bodyPr>
          <a:lstStyle/>
          <a:p>
            <a:pPr algn="ctr">
              <a:lnSpc>
                <a:spcPct val="90000"/>
              </a:lnSpc>
              <a:buNone/>
            </a:pPr>
            <a:r>
              <a:rPr lang="en-US" sz="3600" b="0" strike="noStrike" spc="-1">
                <a:solidFill>
                  <a:srgbClr val="FFFFFF"/>
                </a:solidFill>
                <a:latin typeface="Arial Black"/>
              </a:rPr>
              <a:t>Objectives and Research Plan</a:t>
            </a:r>
            <a:endParaRPr lang="en-US" sz="3600" b="0" strike="noStrike" spc="-1">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 name="PlaceHolder 1"/>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a:solidFill>
                  <a:srgbClr val="000000"/>
                </a:solidFill>
                <a:latin typeface="Arial Black"/>
              </a:rPr>
              <a:t>Major Objectives </a:t>
            </a:r>
            <a:endParaRPr lang="en-US" sz="3600" b="0" strike="noStrike" spc="-1">
              <a:latin typeface="Arial"/>
            </a:endParaRPr>
          </a:p>
        </p:txBody>
      </p:sp>
      <p:sp>
        <p:nvSpPr>
          <p:cNvPr id="362" name="PlaceHolder 2"/>
          <p:cNvSpPr>
            <a:spLocks noGrp="1"/>
          </p:cNvSpPr>
          <p:nvPr>
            <p:ph/>
          </p:nvPr>
        </p:nvSpPr>
        <p:spPr>
          <a:xfrm>
            <a:off x="838080" y="1825560"/>
            <a:ext cx="10514520" cy="3990960"/>
          </a:xfrm>
          <a:prstGeom prst="rect">
            <a:avLst/>
          </a:prstGeom>
          <a:noFill/>
          <a:ln w="0">
            <a:noFill/>
          </a:ln>
        </p:spPr>
        <p:txBody>
          <a:bodyPr lIns="90000" tIns="45000" rIns="90000" bIns="45000" anchor="t">
            <a:normAutofit fontScale="86500" lnSpcReduction="20000"/>
          </a:bodyPr>
          <a:lstStyle/>
          <a:p>
            <a:pPr marL="228600" indent="-228600">
              <a:lnSpc>
                <a:spcPct val="100000"/>
              </a:lnSpc>
              <a:spcBef>
                <a:spcPts val="1001"/>
              </a:spcBef>
              <a:buClr>
                <a:srgbClr val="000000"/>
              </a:buClr>
              <a:buFont typeface="Arial"/>
              <a:buChar char="•"/>
            </a:pPr>
            <a:r>
              <a:rPr lang="en-US" sz="2800" b="1" strike="noStrike" spc="-1">
                <a:solidFill>
                  <a:srgbClr val="000000"/>
                </a:solidFill>
                <a:latin typeface="Arial"/>
              </a:rPr>
              <a:t>Task 1: Complete hybrid electric aircraft toolbox.  </a:t>
            </a:r>
            <a:r>
              <a:rPr lang="en-US" sz="2800" b="0" strike="noStrike" spc="-1">
                <a:solidFill>
                  <a:srgbClr val="000000"/>
                </a:solidFill>
                <a:latin typeface="Arial"/>
              </a:rPr>
              <a:t>Expanding upon the base packages provided by OpenModelica, complete the previously described physics models.  Construct and validate models on a laboratory-scale testbed.</a:t>
            </a:r>
            <a:endParaRPr lang="en-US" sz="2800" b="0" strike="noStrike" spc="-1">
              <a:latin typeface="Arial"/>
            </a:endParaRPr>
          </a:p>
          <a:p>
            <a:pPr marL="228600" indent="-228600">
              <a:lnSpc>
                <a:spcPct val="100000"/>
              </a:lnSpc>
              <a:spcBef>
                <a:spcPts val="1001"/>
              </a:spcBef>
              <a:buClr>
                <a:srgbClr val="000000"/>
              </a:buClr>
              <a:buFont typeface="Arial"/>
              <a:buChar char="•"/>
            </a:pPr>
            <a:r>
              <a:rPr lang="en-US" sz="2800" b="1" strike="noStrike" spc="-1">
                <a:solidFill>
                  <a:srgbClr val="000000"/>
                </a:solidFill>
                <a:latin typeface="Arial"/>
              </a:rPr>
              <a:t>Task 2: Develop Energy Management Systems and Controllers.</a:t>
            </a:r>
            <a:r>
              <a:rPr lang="en-US" sz="2800" b="0" strike="noStrike" spc="-1">
                <a:solidFill>
                  <a:srgbClr val="000000"/>
                </a:solidFill>
                <a:latin typeface="Arial"/>
              </a:rPr>
              <a:t>  Develop autonomous EMSs that allocate power between the fuel cell and battery while preserving battery life, satisfying mission demand, and maintaining safe operation.  Move beyond manual controller fine-tuning by studying autonomous calibration and optimization methods.</a:t>
            </a:r>
            <a:endParaRPr lang="en-US" sz="2800" b="0" strike="noStrike" spc="-1">
              <a:latin typeface="Arial"/>
            </a:endParaRPr>
          </a:p>
          <a:p>
            <a:pPr marL="228600" indent="-228600">
              <a:lnSpc>
                <a:spcPct val="100000"/>
              </a:lnSpc>
              <a:spcBef>
                <a:spcPts val="1001"/>
              </a:spcBef>
              <a:buClr>
                <a:srgbClr val="000000"/>
              </a:buClr>
              <a:buFont typeface="Arial"/>
              <a:buChar char="•"/>
            </a:pPr>
            <a:r>
              <a:rPr lang="en-US" sz="2800" b="1" strike="noStrike" spc="-1">
                <a:solidFill>
                  <a:srgbClr val="000000"/>
                </a:solidFill>
                <a:latin typeface="Arial"/>
              </a:rPr>
              <a:t>Task 3: Explore Simulation Space. </a:t>
            </a:r>
            <a:r>
              <a:rPr lang="en-US" sz="2800" b="0" strike="noStrike" spc="-1">
                <a:solidFill>
                  <a:srgbClr val="000000"/>
                </a:solidFill>
                <a:latin typeface="Arial"/>
              </a:rPr>
              <a:t>Identify key parameters impacting battery useful life.  Quantify the effect a range of values for these parameters on power train performance and economics.</a:t>
            </a:r>
            <a:endParaRPr lang="en-US" sz="2800" b="0" strike="noStrike" spc="-1">
              <a:latin typeface="Arial"/>
            </a:endParaRPr>
          </a:p>
        </p:txBody>
      </p:sp>
      <p:sp>
        <p:nvSpPr>
          <p:cNvPr id="4" name="PlaceHolder 3"/>
          <p:cNvSpPr>
            <a:spLocks noGrp="1"/>
          </p:cNvSpPr>
          <p:nvPr>
            <p:ph type="sldNum" idx="3"/>
          </p:nvPr>
        </p:nvSpPr>
        <p:spPr/>
        <p:txBody>
          <a:bodyPr/>
          <a:lstStyle/>
          <a:p>
            <a:fld id="{6AFAF32B-43A3-46DB-934C-92FBFF28CCDD}" type="slidenum">
              <a:rPr/>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 name="PlaceHolder 1"/>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a:solidFill>
                  <a:srgbClr val="000000"/>
                </a:solidFill>
                <a:latin typeface="Arial Black"/>
              </a:rPr>
              <a:t>Task 1: Complete hybrid electric toolbox </a:t>
            </a:r>
            <a:endParaRPr lang="en-US" sz="3600" b="0" strike="noStrike" spc="-1">
              <a:latin typeface="Arial"/>
            </a:endParaRPr>
          </a:p>
        </p:txBody>
      </p:sp>
      <p:sp>
        <p:nvSpPr>
          <p:cNvPr id="364" name="PlaceHolder 2"/>
          <p:cNvSpPr>
            <a:spLocks noGrp="1"/>
          </p:cNvSpPr>
          <p:nvPr>
            <p:ph/>
          </p:nvPr>
        </p:nvSpPr>
        <p:spPr>
          <a:xfrm>
            <a:off x="838080" y="1825560"/>
            <a:ext cx="10514520" cy="3990960"/>
          </a:xfrm>
          <a:prstGeom prst="rect">
            <a:avLst/>
          </a:prstGeom>
          <a:noFill/>
          <a:ln w="0">
            <a:noFill/>
          </a:ln>
        </p:spPr>
        <p:txBody>
          <a:bodyPr lIns="90000" tIns="45000" rIns="90000" bIns="45000" anchor="t">
            <a:normAutofit fontScale="79000" lnSpcReduction="10000"/>
          </a:bodyPr>
          <a:lstStyle/>
          <a:p>
            <a:pPr marL="228600" indent="-228600">
              <a:lnSpc>
                <a:spcPct val="100000"/>
              </a:lnSpc>
              <a:spcBef>
                <a:spcPts val="1001"/>
              </a:spcBef>
              <a:buClr>
                <a:srgbClr val="000000"/>
              </a:buClr>
              <a:buFont typeface="Arial"/>
              <a:buChar char="•"/>
            </a:pPr>
            <a:r>
              <a:rPr lang="en-US" sz="2800" b="0" strike="noStrike" spc="-1">
                <a:solidFill>
                  <a:srgbClr val="000000"/>
                </a:solidFill>
                <a:latin typeface="Arial"/>
              </a:rPr>
              <a:t>Subtask 1.1: Develop modular multi-physics power train library.</a:t>
            </a:r>
            <a:endParaRPr lang="en-US" sz="2800" b="0" strike="noStrike" spc="-1">
              <a:latin typeface="Arial"/>
            </a:endParaRPr>
          </a:p>
          <a:p>
            <a:pPr marL="685800" lvl="1" indent="-228600">
              <a:lnSpc>
                <a:spcPct val="100000"/>
              </a:lnSpc>
              <a:spcBef>
                <a:spcPts val="499"/>
              </a:spcBef>
              <a:buClr>
                <a:srgbClr val="000000"/>
              </a:buClr>
              <a:buFont typeface="Arial"/>
              <a:buChar char="•"/>
            </a:pPr>
            <a:r>
              <a:rPr lang="en-US" sz="2400" b="0" strike="noStrike" spc="-1">
                <a:solidFill>
                  <a:srgbClr val="000000"/>
                </a:solidFill>
                <a:latin typeface="Arial"/>
              </a:rPr>
              <a:t>Estimated 80% complete</a:t>
            </a:r>
            <a:endParaRPr lang="en-US" sz="2400" b="0" strike="noStrike" spc="-1">
              <a:latin typeface="Arial"/>
            </a:endParaRPr>
          </a:p>
          <a:p>
            <a:pPr marL="685800" lvl="1" indent="-228600">
              <a:lnSpc>
                <a:spcPct val="100000"/>
              </a:lnSpc>
              <a:spcBef>
                <a:spcPts val="499"/>
              </a:spcBef>
              <a:buClr>
                <a:srgbClr val="000000"/>
              </a:buClr>
              <a:buFont typeface="Arial"/>
              <a:buChar char="•"/>
            </a:pPr>
            <a:r>
              <a:rPr lang="en-US" sz="2400" b="0" strike="noStrike" spc="-1">
                <a:solidFill>
                  <a:srgbClr val="000000"/>
                </a:solidFill>
                <a:latin typeface="Arial"/>
              </a:rPr>
              <a:t>Major items remaining: complete integration of battery stack into thermal loop, time-averaged DC/DC boosters, review and clarify existing code</a:t>
            </a:r>
            <a:endParaRPr lang="en-US" sz="2400" b="0" strike="noStrike" spc="-1">
              <a:latin typeface="Arial"/>
            </a:endParaRPr>
          </a:p>
          <a:p>
            <a:pPr marL="685800" lvl="1" indent="-228600">
              <a:lnSpc>
                <a:spcPct val="100000"/>
              </a:lnSpc>
              <a:spcBef>
                <a:spcPts val="499"/>
              </a:spcBef>
              <a:buClr>
                <a:srgbClr val="000000"/>
              </a:buClr>
              <a:buFont typeface="Arial"/>
              <a:buChar char="•"/>
            </a:pPr>
            <a:r>
              <a:rPr lang="en-US" sz="2400" b="0" strike="noStrike" spc="-1">
                <a:solidFill>
                  <a:srgbClr val="000000"/>
                </a:solidFill>
                <a:latin typeface="Arial"/>
              </a:rPr>
              <a:t>Aspirational items: Additional HEX models (parallel flow, counter flow), ultracapacitor banks</a:t>
            </a:r>
            <a:endParaRPr lang="en-US" sz="2400" b="0" strike="noStrike" spc="-1">
              <a:latin typeface="Arial"/>
            </a:endParaRPr>
          </a:p>
          <a:p>
            <a:pPr marL="228600" indent="-228600">
              <a:lnSpc>
                <a:spcPct val="100000"/>
              </a:lnSpc>
              <a:spcBef>
                <a:spcPts val="1001"/>
              </a:spcBef>
              <a:buClr>
                <a:srgbClr val="000000"/>
              </a:buClr>
              <a:buFont typeface="Arial"/>
              <a:buChar char="•"/>
            </a:pPr>
            <a:r>
              <a:rPr lang="en-US" sz="2800" b="0" strike="noStrike" spc="-1">
                <a:solidFill>
                  <a:srgbClr val="000000"/>
                </a:solidFill>
                <a:latin typeface="Arial"/>
              </a:rPr>
              <a:t>Subtask 1.2: Integrate battery degradation and mission-profile modeling</a:t>
            </a:r>
            <a:endParaRPr lang="en-US" sz="2800" b="0" strike="noStrike" spc="-1">
              <a:latin typeface="Arial"/>
            </a:endParaRPr>
          </a:p>
          <a:p>
            <a:pPr marL="685800" lvl="1" indent="-228600">
              <a:lnSpc>
                <a:spcPct val="100000"/>
              </a:lnSpc>
              <a:spcBef>
                <a:spcPts val="499"/>
              </a:spcBef>
              <a:buClr>
                <a:srgbClr val="000000"/>
              </a:buClr>
              <a:buFont typeface="Arial"/>
              <a:buChar char="•"/>
            </a:pPr>
            <a:r>
              <a:rPr lang="en-US" sz="2400" b="0" strike="noStrike" spc="-1">
                <a:solidFill>
                  <a:srgbClr val="000000"/>
                </a:solidFill>
                <a:latin typeface="Arial"/>
              </a:rPr>
              <a:t>Estimated 80% complete</a:t>
            </a:r>
            <a:endParaRPr lang="en-US" sz="2400" b="0" strike="noStrike" spc="-1">
              <a:latin typeface="Arial"/>
            </a:endParaRPr>
          </a:p>
          <a:p>
            <a:pPr marL="685800" lvl="1" indent="-228600">
              <a:lnSpc>
                <a:spcPct val="100000"/>
              </a:lnSpc>
              <a:spcBef>
                <a:spcPts val="499"/>
              </a:spcBef>
              <a:buClr>
                <a:srgbClr val="000000"/>
              </a:buClr>
              <a:buFont typeface="Arial"/>
              <a:buChar char="•"/>
            </a:pPr>
            <a:r>
              <a:rPr lang="en-US" sz="2400" b="0" strike="noStrike" spc="-1">
                <a:solidFill>
                  <a:srgbClr val="000000"/>
                </a:solidFill>
                <a:latin typeface="Arial"/>
              </a:rPr>
              <a:t>Mandatory items remaining: Introduce irregularities (i.e., in-flight ascents and descents) and emergency conditions (aborted take-offs/landings, loss of primary power supply)</a:t>
            </a:r>
            <a:endParaRPr lang="en-US" sz="2400" b="0" strike="noStrike" spc="-1">
              <a:latin typeface="Arial"/>
            </a:endParaRPr>
          </a:p>
          <a:p>
            <a:pPr marL="685800" lvl="1" indent="-228600">
              <a:lnSpc>
                <a:spcPct val="100000"/>
              </a:lnSpc>
              <a:spcBef>
                <a:spcPts val="499"/>
              </a:spcBef>
              <a:buClr>
                <a:srgbClr val="000000"/>
              </a:buClr>
              <a:buFont typeface="Arial"/>
              <a:buChar char="•"/>
            </a:pPr>
            <a:r>
              <a:rPr lang="en-US" sz="2400" b="0" strike="noStrike" spc="-1">
                <a:solidFill>
                  <a:srgbClr val="000000"/>
                </a:solidFill>
                <a:latin typeface="Arial"/>
              </a:rPr>
              <a:t>Aspirational items: Make available additional degradation models for alternative cell chemistries</a:t>
            </a:r>
            <a:endParaRPr lang="en-US" sz="2400" b="0" strike="noStrike" spc="-1">
              <a:latin typeface="Arial"/>
            </a:endParaRPr>
          </a:p>
          <a:p>
            <a:pPr>
              <a:lnSpc>
                <a:spcPct val="100000"/>
              </a:lnSpc>
              <a:spcBef>
                <a:spcPts val="1001"/>
              </a:spcBef>
              <a:buNone/>
            </a:pPr>
            <a:endParaRPr lang="en-US" sz="2800" b="0" strike="noStrike" spc="-1">
              <a:latin typeface="Arial"/>
            </a:endParaRPr>
          </a:p>
        </p:txBody>
      </p:sp>
      <p:sp>
        <p:nvSpPr>
          <p:cNvPr id="4" name="PlaceHolder 3"/>
          <p:cNvSpPr>
            <a:spLocks noGrp="1"/>
          </p:cNvSpPr>
          <p:nvPr>
            <p:ph type="sldNum" idx="3"/>
          </p:nvPr>
        </p:nvSpPr>
        <p:spPr/>
        <p:txBody>
          <a:bodyPr/>
          <a:lstStyle/>
          <a:p>
            <a:fld id="{B5BA17F3-F422-49E7-BE62-8C9856FE5F55}" type="slidenum">
              <a:rPr/>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 name="PlaceHolder 1"/>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a:solidFill>
                  <a:srgbClr val="000000"/>
                </a:solidFill>
                <a:latin typeface="Arial Black"/>
              </a:rPr>
              <a:t>Task 1: Complete hybrid electric toolbox </a:t>
            </a:r>
            <a:endParaRPr lang="en-US" sz="3600" b="0" strike="noStrike" spc="-1">
              <a:latin typeface="Arial"/>
            </a:endParaRPr>
          </a:p>
        </p:txBody>
      </p:sp>
      <p:sp>
        <p:nvSpPr>
          <p:cNvPr id="366" name="PlaceHolder 2"/>
          <p:cNvSpPr>
            <a:spLocks noGrp="1"/>
          </p:cNvSpPr>
          <p:nvPr>
            <p:ph/>
          </p:nvPr>
        </p:nvSpPr>
        <p:spPr>
          <a:xfrm>
            <a:off x="838080" y="1825560"/>
            <a:ext cx="5960880" cy="3990960"/>
          </a:xfrm>
          <a:prstGeom prst="rect">
            <a:avLst/>
          </a:prstGeom>
          <a:noFill/>
          <a:ln w="0">
            <a:noFill/>
          </a:ln>
        </p:spPr>
        <p:txBody>
          <a:bodyPr lIns="90000" tIns="45000" rIns="90000" bIns="45000" anchor="t">
            <a:normAutofit fontScale="86000" lnSpcReduction="10000"/>
          </a:bodyPr>
          <a:lstStyle/>
          <a:p>
            <a:pPr marL="228600" indent="-228600">
              <a:lnSpc>
                <a:spcPct val="100000"/>
              </a:lnSpc>
              <a:spcBef>
                <a:spcPts val="1001"/>
              </a:spcBef>
              <a:buClr>
                <a:srgbClr val="000000"/>
              </a:buClr>
              <a:buFont typeface="Arial"/>
              <a:buChar char="•"/>
            </a:pPr>
            <a:r>
              <a:rPr lang="en-US" sz="2800" b="0" strike="noStrike" spc="-1">
                <a:solidFill>
                  <a:srgbClr val="000000"/>
                </a:solidFill>
                <a:latin typeface="Arial"/>
              </a:rPr>
              <a:t>Subtask 1.3: Construct laboratory-scale testbed and validate models</a:t>
            </a:r>
            <a:endParaRPr lang="en-US" sz="2800" b="0" strike="noStrike" spc="-1">
              <a:latin typeface="Arial"/>
            </a:endParaRPr>
          </a:p>
          <a:p>
            <a:pPr marL="685800" lvl="1" indent="-228600">
              <a:lnSpc>
                <a:spcPct val="100000"/>
              </a:lnSpc>
              <a:spcBef>
                <a:spcPts val="499"/>
              </a:spcBef>
              <a:buClr>
                <a:srgbClr val="000000"/>
              </a:buClr>
              <a:buFont typeface="Arial"/>
              <a:buChar char="•"/>
            </a:pPr>
            <a:r>
              <a:rPr lang="en-US" sz="2400" b="0" strike="noStrike" spc="-1">
                <a:solidFill>
                  <a:srgbClr val="000000"/>
                </a:solidFill>
                <a:latin typeface="Arial"/>
              </a:rPr>
              <a:t>Estimated 5% complete</a:t>
            </a:r>
            <a:endParaRPr lang="en-US" sz="2400" b="0" strike="noStrike" spc="-1">
              <a:latin typeface="Arial"/>
            </a:endParaRPr>
          </a:p>
          <a:p>
            <a:pPr marL="685800" lvl="1" indent="-228600">
              <a:lnSpc>
                <a:spcPct val="100000"/>
              </a:lnSpc>
              <a:spcBef>
                <a:spcPts val="499"/>
              </a:spcBef>
              <a:buClr>
                <a:srgbClr val="000000"/>
              </a:buClr>
              <a:buFont typeface="Arial"/>
              <a:buChar char="•"/>
            </a:pPr>
            <a:r>
              <a:rPr lang="en-US" sz="2400" b="0" strike="noStrike" spc="-1">
                <a:solidFill>
                  <a:srgbClr val="000000"/>
                </a:solidFill>
                <a:latin typeface="Arial"/>
              </a:rPr>
              <a:t>Aim is to reactive, repurpose, and expand testbed built for a previous NASA project</a:t>
            </a:r>
            <a:endParaRPr lang="en-US" sz="2400" b="0" strike="noStrike" spc="-1">
              <a:latin typeface="Arial"/>
            </a:endParaRPr>
          </a:p>
          <a:p>
            <a:pPr marL="685800" lvl="1" indent="-228600">
              <a:lnSpc>
                <a:spcPct val="100000"/>
              </a:lnSpc>
              <a:spcBef>
                <a:spcPts val="499"/>
              </a:spcBef>
              <a:buClr>
                <a:srgbClr val="000000"/>
              </a:buClr>
              <a:buFont typeface="Arial"/>
              <a:buChar char="•"/>
            </a:pPr>
            <a:r>
              <a:rPr lang="en-US" sz="2400" b="0" strike="noStrike" spc="-1">
                <a:solidFill>
                  <a:srgbClr val="000000"/>
                </a:solidFill>
                <a:latin typeface="Arial"/>
              </a:rPr>
              <a:t>Currently consists of a small 18650-30Q battery stack, an EMRAX 268 AC motor, and a short thermal loop</a:t>
            </a:r>
            <a:endParaRPr lang="en-US" sz="2400" b="0" strike="noStrike" spc="-1">
              <a:latin typeface="Arial"/>
            </a:endParaRPr>
          </a:p>
          <a:p>
            <a:pPr marL="685800" lvl="1" indent="-228600">
              <a:lnSpc>
                <a:spcPct val="100000"/>
              </a:lnSpc>
              <a:spcBef>
                <a:spcPts val="499"/>
              </a:spcBef>
              <a:buClr>
                <a:srgbClr val="000000"/>
              </a:buClr>
              <a:buFont typeface="Arial"/>
              <a:buChar char="•"/>
            </a:pPr>
            <a:r>
              <a:rPr lang="en-US" sz="2400" b="0" strike="noStrike" spc="-1">
                <a:solidFill>
                  <a:srgbClr val="000000"/>
                </a:solidFill>
                <a:latin typeface="Arial"/>
              </a:rPr>
              <a:t>Propose adding a programmable DC power supply in lieu of fuel cell stack</a:t>
            </a:r>
            <a:endParaRPr lang="en-US" sz="2400" b="0" strike="noStrike" spc="-1">
              <a:latin typeface="Arial"/>
            </a:endParaRPr>
          </a:p>
          <a:p>
            <a:pPr marL="685800" lvl="1" indent="-228600">
              <a:lnSpc>
                <a:spcPct val="100000"/>
              </a:lnSpc>
              <a:spcBef>
                <a:spcPts val="499"/>
              </a:spcBef>
              <a:buClr>
                <a:srgbClr val="000000"/>
              </a:buClr>
              <a:buFont typeface="Arial"/>
              <a:buChar char="•"/>
            </a:pPr>
            <a:r>
              <a:rPr lang="en-US" sz="2400" b="0" strike="noStrike" spc="-1">
                <a:solidFill>
                  <a:srgbClr val="000000"/>
                </a:solidFill>
                <a:latin typeface="Arial"/>
              </a:rPr>
              <a:t>May require aid of undergraduate students</a:t>
            </a:r>
            <a:endParaRPr lang="en-US" sz="2400" b="0" strike="noStrike" spc="-1">
              <a:latin typeface="Arial"/>
            </a:endParaRPr>
          </a:p>
          <a:p>
            <a:pPr>
              <a:lnSpc>
                <a:spcPct val="100000"/>
              </a:lnSpc>
              <a:spcBef>
                <a:spcPts val="1001"/>
              </a:spcBef>
              <a:buNone/>
            </a:pPr>
            <a:endParaRPr lang="en-US" sz="2800" b="0" strike="noStrike" spc="-1">
              <a:latin typeface="Arial"/>
            </a:endParaRPr>
          </a:p>
        </p:txBody>
      </p:sp>
      <p:pic>
        <p:nvPicPr>
          <p:cNvPr id="367" name="Picture 5"/>
          <p:cNvPicPr/>
          <p:nvPr/>
        </p:nvPicPr>
        <p:blipFill>
          <a:blip r:embed="rId3"/>
          <a:stretch/>
        </p:blipFill>
        <p:spPr>
          <a:xfrm>
            <a:off x="6800040" y="1690560"/>
            <a:ext cx="4552560" cy="4379040"/>
          </a:xfrm>
          <a:prstGeom prst="rect">
            <a:avLst/>
          </a:prstGeom>
          <a:ln w="0">
            <a:noFill/>
          </a:ln>
        </p:spPr>
      </p:pic>
      <p:sp>
        <p:nvSpPr>
          <p:cNvPr id="4" name="PlaceHolder 3"/>
          <p:cNvSpPr>
            <a:spLocks noGrp="1"/>
          </p:cNvSpPr>
          <p:nvPr>
            <p:ph type="sldNum" idx="3"/>
          </p:nvPr>
        </p:nvSpPr>
        <p:spPr/>
        <p:txBody>
          <a:bodyPr/>
          <a:lstStyle/>
          <a:p>
            <a:fld id="{271CF15F-22B0-46D4-8963-2F0F1D5A33A8}" type="slidenum">
              <a:rPr/>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 name="PlaceHolder 1"/>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a:solidFill>
                  <a:srgbClr val="000000"/>
                </a:solidFill>
                <a:latin typeface="Arial Black"/>
              </a:rPr>
              <a:t>Task 2: </a:t>
            </a:r>
            <a:r>
              <a:rPr lang="en-US" sz="3600" b="1" strike="noStrike" spc="-1">
                <a:solidFill>
                  <a:srgbClr val="000000"/>
                </a:solidFill>
                <a:latin typeface="Arial Black"/>
              </a:rPr>
              <a:t>Develop Energy Management Systems and Controllers</a:t>
            </a:r>
            <a:endParaRPr lang="en-US" sz="3600" b="0" strike="noStrike" spc="-1">
              <a:latin typeface="Arial"/>
            </a:endParaRPr>
          </a:p>
        </p:txBody>
      </p:sp>
      <p:sp>
        <p:nvSpPr>
          <p:cNvPr id="369" name="PlaceHolder 2"/>
          <p:cNvSpPr>
            <a:spLocks noGrp="1"/>
          </p:cNvSpPr>
          <p:nvPr>
            <p:ph/>
          </p:nvPr>
        </p:nvSpPr>
        <p:spPr>
          <a:xfrm>
            <a:off x="838080" y="1825560"/>
            <a:ext cx="10514520" cy="3990960"/>
          </a:xfrm>
          <a:prstGeom prst="rect">
            <a:avLst/>
          </a:prstGeom>
          <a:noFill/>
          <a:ln w="0">
            <a:noFill/>
          </a:ln>
        </p:spPr>
        <p:txBody>
          <a:bodyPr lIns="90000" tIns="45000" rIns="90000" bIns="45000" anchor="t">
            <a:normAutofit fontScale="87500" lnSpcReduction="20000"/>
          </a:bodyPr>
          <a:lstStyle/>
          <a:p>
            <a:pPr marL="228600" indent="-228600">
              <a:lnSpc>
                <a:spcPct val="100000"/>
              </a:lnSpc>
              <a:spcBef>
                <a:spcPts val="1001"/>
              </a:spcBef>
              <a:buClr>
                <a:srgbClr val="000000"/>
              </a:buClr>
              <a:buFont typeface="Arial"/>
              <a:buChar char="•"/>
            </a:pPr>
            <a:r>
              <a:rPr lang="en-US" sz="2800" b="0" strike="noStrike" spc="-1" dirty="0">
                <a:solidFill>
                  <a:srgbClr val="000000"/>
                </a:solidFill>
                <a:latin typeface="Arial"/>
              </a:rPr>
              <a:t>Subtask 2.1: Develop baseline and advanced EMS controllers</a:t>
            </a:r>
            <a:endParaRPr lang="en-US" sz="2800" b="0" strike="noStrike" spc="-1" dirty="0">
              <a:latin typeface="Arial"/>
            </a:endParaRPr>
          </a:p>
          <a:p>
            <a:pPr marL="685800" lvl="1" indent="-228600">
              <a:lnSpc>
                <a:spcPct val="100000"/>
              </a:lnSpc>
              <a:spcBef>
                <a:spcPts val="499"/>
              </a:spcBef>
              <a:buClr>
                <a:srgbClr val="000000"/>
              </a:buClr>
              <a:buFont typeface="Arial"/>
              <a:buChar char="•"/>
            </a:pPr>
            <a:r>
              <a:rPr lang="en-US" sz="2400" b="0" strike="noStrike" spc="-1" dirty="0">
                <a:solidFill>
                  <a:srgbClr val="000000"/>
                </a:solidFill>
                <a:latin typeface="Arial"/>
              </a:rPr>
              <a:t>Estimated 5% complete</a:t>
            </a:r>
            <a:endParaRPr lang="en-US" sz="2400" b="0" strike="noStrike" spc="-1" dirty="0">
              <a:latin typeface="Arial"/>
            </a:endParaRPr>
          </a:p>
          <a:p>
            <a:pPr marL="685800" lvl="1" indent="-228600">
              <a:lnSpc>
                <a:spcPct val="100000"/>
              </a:lnSpc>
              <a:spcBef>
                <a:spcPts val="499"/>
              </a:spcBef>
              <a:buClr>
                <a:srgbClr val="000000"/>
              </a:buClr>
              <a:buFont typeface="Arial"/>
              <a:buChar char="•"/>
            </a:pPr>
            <a:r>
              <a:rPr lang="en-US" sz="2400" b="0" strike="noStrike" spc="-1">
                <a:solidFill>
                  <a:srgbClr val="000000"/>
                </a:solidFill>
                <a:latin typeface="Arial"/>
              </a:rPr>
              <a:t>Mandatory items: Extend current OCM to include additional states, implement FLC and ECMS</a:t>
            </a:r>
            <a:endParaRPr lang="en-US" sz="2400" b="0" strike="noStrike" spc="-1">
              <a:latin typeface="Arial"/>
            </a:endParaRPr>
          </a:p>
          <a:p>
            <a:pPr marL="685800" lvl="1" indent="-228600">
              <a:lnSpc>
                <a:spcPct val="100000"/>
              </a:lnSpc>
              <a:spcBef>
                <a:spcPts val="499"/>
              </a:spcBef>
              <a:buClr>
                <a:srgbClr val="000000"/>
              </a:buClr>
              <a:buFont typeface="Arial"/>
              <a:buChar char="•"/>
            </a:pPr>
            <a:r>
              <a:rPr lang="en-US" sz="2400" b="0" strike="noStrike" spc="-1" dirty="0">
                <a:solidFill>
                  <a:srgbClr val="000000"/>
                </a:solidFill>
                <a:latin typeface="Arial"/>
              </a:rPr>
              <a:t>Aspirational items: Experiment with unorthodox FLC membership functions</a:t>
            </a:r>
            <a:endParaRPr lang="en-US" sz="2400" b="0" strike="noStrike" spc="-1" dirty="0">
              <a:latin typeface="Arial"/>
            </a:endParaRPr>
          </a:p>
          <a:p>
            <a:pPr marL="228600" indent="-228600">
              <a:lnSpc>
                <a:spcPct val="100000"/>
              </a:lnSpc>
              <a:spcBef>
                <a:spcPts val="1001"/>
              </a:spcBef>
              <a:buClr>
                <a:srgbClr val="000000"/>
              </a:buClr>
              <a:buFont typeface="Arial"/>
              <a:buChar char="•"/>
            </a:pPr>
            <a:r>
              <a:rPr lang="en-US" sz="2800" b="0" strike="noStrike" spc="-1" dirty="0">
                <a:solidFill>
                  <a:srgbClr val="000000"/>
                </a:solidFill>
                <a:latin typeface="Arial"/>
              </a:rPr>
              <a:t>Subtask 2.2: Investigate autonomous controller calibration methods</a:t>
            </a:r>
            <a:endParaRPr lang="en-US" sz="2800" b="0" strike="noStrike" spc="-1" dirty="0">
              <a:latin typeface="Arial"/>
            </a:endParaRPr>
          </a:p>
          <a:p>
            <a:pPr marL="685800" lvl="1" indent="-228600">
              <a:lnSpc>
                <a:spcPct val="100000"/>
              </a:lnSpc>
              <a:spcBef>
                <a:spcPts val="499"/>
              </a:spcBef>
              <a:buClr>
                <a:srgbClr val="000000"/>
              </a:buClr>
              <a:buFont typeface="Arial"/>
              <a:buChar char="•"/>
            </a:pPr>
            <a:r>
              <a:rPr lang="en-US" sz="2400" b="0" strike="noStrike" spc="-1" dirty="0">
                <a:solidFill>
                  <a:srgbClr val="000000"/>
                </a:solidFill>
                <a:latin typeface="Arial"/>
              </a:rPr>
              <a:t>Goal to reduce reliance on manual calibration by developing automated techniques to optimize performance</a:t>
            </a:r>
            <a:endParaRPr lang="en-US" sz="2400" b="0" strike="noStrike" spc="-1" dirty="0">
              <a:latin typeface="Arial"/>
            </a:endParaRPr>
          </a:p>
          <a:p>
            <a:pPr marL="685800" lvl="1" indent="-228600">
              <a:lnSpc>
                <a:spcPct val="100000"/>
              </a:lnSpc>
              <a:spcBef>
                <a:spcPts val="499"/>
              </a:spcBef>
              <a:buClr>
                <a:srgbClr val="000000"/>
              </a:buClr>
              <a:buFont typeface="Arial"/>
              <a:buChar char="•"/>
            </a:pPr>
            <a:r>
              <a:rPr lang="en-US" sz="2400" b="0" strike="noStrike" spc="-1" dirty="0">
                <a:solidFill>
                  <a:srgbClr val="000000"/>
                </a:solidFill>
                <a:latin typeface="Arial"/>
              </a:rPr>
              <a:t>Candidate approaches include optimization-based calibration, Bayesian optimization, and adaptive membership function adjustment (for FLC)</a:t>
            </a:r>
            <a:endParaRPr lang="en-US" sz="2400" b="0" strike="noStrike" spc="-1" dirty="0">
              <a:latin typeface="Arial"/>
            </a:endParaRPr>
          </a:p>
          <a:p>
            <a:pPr marL="228600" indent="-228600">
              <a:lnSpc>
                <a:spcPct val="100000"/>
              </a:lnSpc>
              <a:spcBef>
                <a:spcPts val="1001"/>
              </a:spcBef>
              <a:buClr>
                <a:srgbClr val="000000"/>
              </a:buClr>
              <a:buFont typeface="Arial"/>
              <a:buChar char="•"/>
            </a:pPr>
            <a:r>
              <a:rPr lang="en-US" sz="2800" b="0" strike="noStrike" spc="-1" dirty="0">
                <a:solidFill>
                  <a:srgbClr val="000000"/>
                </a:solidFill>
                <a:latin typeface="Arial"/>
              </a:rPr>
              <a:t>Subtask 2.3: Validate EMS performance on the hardware testbed</a:t>
            </a:r>
            <a:endParaRPr lang="en-US" sz="2800" b="0" strike="noStrike" spc="-1" dirty="0">
              <a:latin typeface="Arial"/>
            </a:endParaRPr>
          </a:p>
          <a:p>
            <a:pPr>
              <a:lnSpc>
                <a:spcPct val="100000"/>
              </a:lnSpc>
              <a:spcBef>
                <a:spcPts val="1001"/>
              </a:spcBef>
              <a:buNone/>
            </a:pPr>
            <a:endParaRPr lang="en-US" sz="2800" b="0" strike="noStrike" spc="-1" dirty="0">
              <a:latin typeface="Arial"/>
            </a:endParaRPr>
          </a:p>
        </p:txBody>
      </p:sp>
      <p:sp>
        <p:nvSpPr>
          <p:cNvPr id="4" name="PlaceHolder 3"/>
          <p:cNvSpPr>
            <a:spLocks noGrp="1"/>
          </p:cNvSpPr>
          <p:nvPr>
            <p:ph type="sldNum" idx="3"/>
          </p:nvPr>
        </p:nvSpPr>
        <p:spPr/>
        <p:txBody>
          <a:bodyPr/>
          <a:lstStyle/>
          <a:p>
            <a:fld id="{43A95E3C-A4B3-4481-A2DB-4F1BDF94EC6A}" type="slidenum">
              <a:rPr/>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 name="PlaceHolder 1"/>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a:solidFill>
                  <a:srgbClr val="000000"/>
                </a:solidFill>
                <a:latin typeface="Arial Black"/>
              </a:rPr>
              <a:t>Task 3: Explore Simulation Space </a:t>
            </a:r>
            <a:endParaRPr lang="en-US" sz="3600" b="0" strike="noStrike" spc="-1">
              <a:latin typeface="Arial"/>
            </a:endParaRPr>
          </a:p>
        </p:txBody>
      </p:sp>
      <p:sp>
        <p:nvSpPr>
          <p:cNvPr id="371" name="PlaceHolder 2"/>
          <p:cNvSpPr>
            <a:spLocks noGrp="1"/>
          </p:cNvSpPr>
          <p:nvPr>
            <p:ph/>
          </p:nvPr>
        </p:nvSpPr>
        <p:spPr>
          <a:xfrm>
            <a:off x="838080" y="1825560"/>
            <a:ext cx="10514520" cy="3990960"/>
          </a:xfrm>
          <a:prstGeom prst="rect">
            <a:avLst/>
          </a:prstGeom>
          <a:noFill/>
          <a:ln w="0">
            <a:noFill/>
          </a:ln>
        </p:spPr>
        <p:txBody>
          <a:bodyPr lIns="90000" tIns="45000" rIns="90000" bIns="45000" anchor="t">
            <a:normAutofit fontScale="92000" lnSpcReduction="10000"/>
          </a:bodyPr>
          <a:lstStyle/>
          <a:p>
            <a:pPr marL="228600" indent="-228600">
              <a:lnSpc>
                <a:spcPct val="100000"/>
              </a:lnSpc>
              <a:spcBef>
                <a:spcPts val="1001"/>
              </a:spcBef>
              <a:buClr>
                <a:srgbClr val="000000"/>
              </a:buClr>
              <a:buFont typeface="Arial"/>
              <a:buChar char="•"/>
            </a:pPr>
            <a:r>
              <a:rPr lang="en-US" sz="2800" b="0" strike="noStrike" spc="-1">
                <a:solidFill>
                  <a:srgbClr val="000000"/>
                </a:solidFill>
                <a:latin typeface="Arial"/>
              </a:rPr>
              <a:t>Subtask 3.1: Investigate sensitivity of battery life and cost to design parameters</a:t>
            </a:r>
            <a:endParaRPr lang="en-US" sz="2800" b="0" strike="noStrike" spc="-1">
              <a:latin typeface="Arial"/>
            </a:endParaRPr>
          </a:p>
          <a:p>
            <a:pPr marL="685800" lvl="1" indent="-228600">
              <a:lnSpc>
                <a:spcPct val="100000"/>
              </a:lnSpc>
              <a:spcBef>
                <a:spcPts val="499"/>
              </a:spcBef>
              <a:buClr>
                <a:srgbClr val="000000"/>
              </a:buClr>
              <a:buFont typeface="Arial"/>
              <a:buChar char="•"/>
            </a:pPr>
            <a:r>
              <a:rPr lang="en-US" sz="2400" b="0" strike="noStrike" spc="-1">
                <a:solidFill>
                  <a:srgbClr val="000000"/>
                </a:solidFill>
                <a:latin typeface="Arial"/>
              </a:rPr>
              <a:t>Explore impact of key design and operating parameters on performance</a:t>
            </a:r>
            <a:endParaRPr lang="en-US" sz="2400" b="0" strike="noStrike" spc="-1">
              <a:latin typeface="Arial"/>
            </a:endParaRPr>
          </a:p>
          <a:p>
            <a:pPr marL="685800" lvl="1" indent="-228600">
              <a:lnSpc>
                <a:spcPct val="100000"/>
              </a:lnSpc>
              <a:spcBef>
                <a:spcPts val="499"/>
              </a:spcBef>
              <a:buClr>
                <a:srgbClr val="000000"/>
              </a:buClr>
              <a:buFont typeface="Arial"/>
              <a:buChar char="•"/>
            </a:pPr>
            <a:r>
              <a:rPr lang="en-US" sz="2400" b="0" strike="noStrike" spc="-1">
                <a:solidFill>
                  <a:srgbClr val="000000"/>
                </a:solidFill>
                <a:latin typeface="Arial"/>
              </a:rPr>
              <a:t>Complete sensitivity study identifying key parameters influencing aircraft and battery performance and viability</a:t>
            </a:r>
            <a:endParaRPr lang="en-US" sz="2400" b="0" strike="noStrike" spc="-1">
              <a:latin typeface="Arial"/>
            </a:endParaRPr>
          </a:p>
          <a:p>
            <a:pPr marL="228600" indent="-228600">
              <a:lnSpc>
                <a:spcPct val="100000"/>
              </a:lnSpc>
              <a:spcBef>
                <a:spcPts val="1001"/>
              </a:spcBef>
              <a:buClr>
                <a:srgbClr val="000000"/>
              </a:buClr>
              <a:buFont typeface="Arial"/>
              <a:buChar char="•"/>
            </a:pPr>
            <a:r>
              <a:rPr lang="en-US" sz="2800" b="0" strike="noStrike" spc="-1">
                <a:solidFill>
                  <a:srgbClr val="000000"/>
                </a:solidFill>
                <a:latin typeface="Arial"/>
              </a:rPr>
              <a:t>Subtask 3.2: Develop parametric design-space simulations</a:t>
            </a:r>
            <a:endParaRPr lang="en-US" sz="2800" b="0" strike="noStrike" spc="-1">
              <a:latin typeface="Arial"/>
            </a:endParaRPr>
          </a:p>
          <a:p>
            <a:pPr marL="685800" lvl="1" indent="-228600">
              <a:lnSpc>
                <a:spcPct val="100000"/>
              </a:lnSpc>
              <a:spcBef>
                <a:spcPts val="499"/>
              </a:spcBef>
              <a:buClr>
                <a:srgbClr val="000000"/>
              </a:buClr>
              <a:buFont typeface="Arial"/>
              <a:buChar char="•"/>
            </a:pPr>
            <a:r>
              <a:rPr lang="en-US" sz="2400" b="0" strike="noStrike" spc="-1">
                <a:solidFill>
                  <a:srgbClr val="000000"/>
                </a:solidFill>
                <a:latin typeface="Arial"/>
              </a:rPr>
              <a:t>Perform comprehensive parametric simulation campaign emphasizing the key parameters identified in Subtask 3.1</a:t>
            </a:r>
            <a:endParaRPr lang="en-US" sz="2400" b="0" strike="noStrike" spc="-1">
              <a:latin typeface="Arial"/>
            </a:endParaRPr>
          </a:p>
          <a:p>
            <a:pPr marL="685800" lvl="1" indent="-228600">
              <a:lnSpc>
                <a:spcPct val="100000"/>
              </a:lnSpc>
              <a:spcBef>
                <a:spcPts val="499"/>
              </a:spcBef>
              <a:buClr>
                <a:srgbClr val="000000"/>
              </a:buClr>
              <a:buFont typeface="Arial"/>
              <a:buChar char="•"/>
            </a:pPr>
            <a:r>
              <a:rPr lang="en-US" sz="2400" b="0" strike="noStrike" spc="-1">
                <a:solidFill>
                  <a:srgbClr val="000000"/>
                </a:solidFill>
                <a:latin typeface="Arial"/>
              </a:rPr>
              <a:t>Resulting dataset will establish relationships between design choices and performance metrics</a:t>
            </a:r>
            <a:endParaRPr lang="en-US" sz="2400" b="0" strike="noStrike" spc="-1">
              <a:latin typeface="Arial"/>
            </a:endParaRPr>
          </a:p>
          <a:p>
            <a:pPr>
              <a:lnSpc>
                <a:spcPct val="100000"/>
              </a:lnSpc>
              <a:spcBef>
                <a:spcPts val="1001"/>
              </a:spcBef>
              <a:buNone/>
            </a:pPr>
            <a:endParaRPr lang="en-US" sz="2800" b="0" strike="noStrike" spc="-1">
              <a:latin typeface="Arial"/>
            </a:endParaRPr>
          </a:p>
        </p:txBody>
      </p:sp>
      <p:sp>
        <p:nvSpPr>
          <p:cNvPr id="4" name="PlaceHolder 3"/>
          <p:cNvSpPr>
            <a:spLocks noGrp="1"/>
          </p:cNvSpPr>
          <p:nvPr>
            <p:ph type="sldNum" idx="3"/>
          </p:nvPr>
        </p:nvSpPr>
        <p:spPr/>
        <p:txBody>
          <a:bodyPr/>
          <a:lstStyle/>
          <a:p>
            <a:fld id="{484B69DE-BE9C-4116-863B-09D65806982D}" type="slidenum">
              <a:rPr/>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 name="PlaceHolder 1"/>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a:solidFill>
                  <a:srgbClr val="000000"/>
                </a:solidFill>
                <a:latin typeface="Arial Black"/>
              </a:rPr>
              <a:t>Task 3: Explore Simulation Space </a:t>
            </a:r>
            <a:endParaRPr lang="en-US" sz="3600" b="0" strike="noStrike" spc="-1">
              <a:latin typeface="Arial"/>
            </a:endParaRPr>
          </a:p>
        </p:txBody>
      </p:sp>
      <p:sp>
        <p:nvSpPr>
          <p:cNvPr id="373" name="PlaceHolder 2"/>
          <p:cNvSpPr>
            <a:spLocks noGrp="1"/>
          </p:cNvSpPr>
          <p:nvPr>
            <p:ph/>
          </p:nvPr>
        </p:nvSpPr>
        <p:spPr>
          <a:xfrm>
            <a:off x="838080" y="1825560"/>
            <a:ext cx="5095080" cy="3990960"/>
          </a:xfrm>
          <a:prstGeom prst="rect">
            <a:avLst/>
          </a:prstGeom>
          <a:noFill/>
          <a:ln w="0">
            <a:noFill/>
          </a:ln>
        </p:spPr>
        <p:txBody>
          <a:bodyPr lIns="90000" tIns="45000" rIns="90000" bIns="45000" anchor="t">
            <a:normAutofit fontScale="88500" lnSpcReduction="20000"/>
          </a:bodyPr>
          <a:lstStyle/>
          <a:p>
            <a:pPr marL="228600" indent="-228600">
              <a:lnSpc>
                <a:spcPct val="100000"/>
              </a:lnSpc>
              <a:spcBef>
                <a:spcPts val="1001"/>
              </a:spcBef>
              <a:buClr>
                <a:srgbClr val="000000"/>
              </a:buClr>
              <a:buFont typeface="Arial"/>
              <a:buChar char="•"/>
            </a:pPr>
            <a:r>
              <a:rPr lang="en-US" sz="2800" b="0" strike="noStrike" spc="-1">
                <a:solidFill>
                  <a:srgbClr val="000000"/>
                </a:solidFill>
                <a:latin typeface="Arial"/>
              </a:rPr>
              <a:t>Subtask 3.3: Develop Kriging-based surrogate models for aircraft-level performance</a:t>
            </a:r>
            <a:endParaRPr lang="en-US" sz="2800" b="0" strike="noStrike" spc="-1">
              <a:latin typeface="Arial"/>
            </a:endParaRPr>
          </a:p>
          <a:p>
            <a:pPr marL="685800" lvl="1" indent="-228600">
              <a:lnSpc>
                <a:spcPct val="100000"/>
              </a:lnSpc>
              <a:spcBef>
                <a:spcPts val="499"/>
              </a:spcBef>
              <a:buClr>
                <a:srgbClr val="000000"/>
              </a:buClr>
              <a:buFont typeface="Arial"/>
              <a:buChar char="•"/>
            </a:pPr>
            <a:r>
              <a:rPr lang="en-US" sz="2400" b="0" strike="noStrike" spc="-1">
                <a:solidFill>
                  <a:srgbClr val="000000"/>
                </a:solidFill>
                <a:latin typeface="Arial"/>
              </a:rPr>
              <a:t>Develop surrogate models mapping the parametric results of Subtask 3.2 to aircraft-level outcomes, such as battery useful life, H</a:t>
            </a:r>
            <a:r>
              <a:rPr lang="en-US" sz="2400" b="0" strike="noStrike" spc="-1" baseline="-25000">
                <a:solidFill>
                  <a:srgbClr val="000000"/>
                </a:solidFill>
                <a:latin typeface="Arial"/>
              </a:rPr>
              <a:t>2</a:t>
            </a:r>
            <a:r>
              <a:rPr lang="en-US" sz="2400" b="0" strike="noStrike" spc="-1">
                <a:solidFill>
                  <a:srgbClr val="000000"/>
                </a:solidFill>
                <a:latin typeface="Arial"/>
              </a:rPr>
              <a:t> consumption, maintenance burden, life cycle cost, and aircraft availability</a:t>
            </a:r>
            <a:endParaRPr lang="en-US" sz="2400" b="0" strike="noStrike" spc="-1">
              <a:latin typeface="Arial"/>
            </a:endParaRPr>
          </a:p>
          <a:p>
            <a:pPr marL="685800" lvl="1" indent="-228600">
              <a:lnSpc>
                <a:spcPct val="100000"/>
              </a:lnSpc>
              <a:spcBef>
                <a:spcPts val="499"/>
              </a:spcBef>
              <a:buClr>
                <a:srgbClr val="000000"/>
              </a:buClr>
              <a:buFont typeface="Arial"/>
              <a:buChar char="•"/>
            </a:pPr>
            <a:r>
              <a:rPr lang="en-US" sz="2400" b="0" strike="noStrike" spc="-1">
                <a:solidFill>
                  <a:srgbClr val="000000"/>
                </a:solidFill>
                <a:latin typeface="Arial"/>
              </a:rPr>
              <a:t>Function as a design tool identifying optimal design and control strategies for desired performance metrics</a:t>
            </a:r>
            <a:endParaRPr lang="en-US" sz="2400" b="0" strike="noStrike" spc="-1">
              <a:latin typeface="Arial"/>
            </a:endParaRPr>
          </a:p>
          <a:p>
            <a:pPr>
              <a:lnSpc>
                <a:spcPct val="100000"/>
              </a:lnSpc>
              <a:spcBef>
                <a:spcPts val="1001"/>
              </a:spcBef>
              <a:buNone/>
            </a:pPr>
            <a:endParaRPr lang="en-US" sz="2800" b="0" strike="noStrike" spc="-1">
              <a:latin typeface="Arial"/>
            </a:endParaRPr>
          </a:p>
        </p:txBody>
      </p:sp>
      <p:pic>
        <p:nvPicPr>
          <p:cNvPr id="374" name="Picture 5"/>
          <p:cNvPicPr/>
          <p:nvPr/>
        </p:nvPicPr>
        <p:blipFill>
          <a:blip r:embed="rId3"/>
          <a:stretch/>
        </p:blipFill>
        <p:spPr>
          <a:xfrm>
            <a:off x="6257520" y="1409400"/>
            <a:ext cx="4532040" cy="4037760"/>
          </a:xfrm>
          <a:prstGeom prst="rect">
            <a:avLst/>
          </a:prstGeom>
          <a:ln w="0">
            <a:noFill/>
          </a:ln>
        </p:spPr>
      </p:pic>
      <p:sp>
        <p:nvSpPr>
          <p:cNvPr id="375" name="TextBox 6"/>
          <p:cNvSpPr/>
          <p:nvPr/>
        </p:nvSpPr>
        <p:spPr>
          <a:xfrm>
            <a:off x="6327720" y="5448600"/>
            <a:ext cx="4872600" cy="515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en-US" sz="1400" b="0" strike="noStrike" spc="-1">
                <a:solidFill>
                  <a:srgbClr val="000000"/>
                </a:solidFill>
                <a:latin typeface="Arial"/>
                <a:ea typeface="DejaVu Sans"/>
              </a:rPr>
              <a:t>Conceptual surrogate model mapping stack capacity and weight onto useful life</a:t>
            </a:r>
            <a:endParaRPr lang="en-US" sz="1400" b="0" strike="noStrike" spc="-1">
              <a:latin typeface="Arial"/>
            </a:endParaRPr>
          </a:p>
        </p:txBody>
      </p:sp>
      <p:sp>
        <p:nvSpPr>
          <p:cNvPr id="4" name="PlaceHolder 3"/>
          <p:cNvSpPr>
            <a:spLocks noGrp="1"/>
          </p:cNvSpPr>
          <p:nvPr>
            <p:ph type="sldNum" idx="3"/>
          </p:nvPr>
        </p:nvSpPr>
        <p:spPr/>
        <p:txBody>
          <a:bodyPr/>
          <a:lstStyle/>
          <a:p>
            <a:fld id="{BC32ECD5-D4AD-4686-BE67-B9F5F9D722E5}" type="slidenum">
              <a:rPr/>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 name="PlaceHolder 1"/>
          <p:cNvSpPr>
            <a:spLocks noGrp="1"/>
          </p:cNvSpPr>
          <p:nvPr>
            <p:ph type="title"/>
          </p:nvPr>
        </p:nvSpPr>
        <p:spPr>
          <a:xfrm>
            <a:off x="838080" y="365040"/>
            <a:ext cx="10514520" cy="1324440"/>
          </a:xfrm>
          <a:prstGeom prst="rect">
            <a:avLst/>
          </a:prstGeom>
          <a:noFill/>
          <a:ln w="0">
            <a:noFill/>
          </a:ln>
        </p:spPr>
        <p:txBody>
          <a:bodyPr lIns="90000" tIns="45000" rIns="90000" bIns="45000" anchor="ctr">
            <a:noAutofit/>
          </a:bodyPr>
          <a:lstStyle/>
          <a:p>
            <a:pPr>
              <a:lnSpc>
                <a:spcPct val="90000"/>
              </a:lnSpc>
              <a:buNone/>
            </a:pPr>
            <a:r>
              <a:rPr lang="en-US" sz="3600" b="0" strike="noStrike" spc="-1">
                <a:solidFill>
                  <a:srgbClr val="000000"/>
                </a:solidFill>
                <a:latin typeface="Arial Black"/>
              </a:rPr>
              <a:t>Proposed Timeline </a:t>
            </a:r>
            <a:endParaRPr lang="en-US" sz="3600" b="0" strike="noStrike" spc="-1">
              <a:latin typeface="Arial"/>
            </a:endParaRPr>
          </a:p>
        </p:txBody>
      </p:sp>
      <p:sp>
        <p:nvSpPr>
          <p:cNvPr id="377" name="PlaceHolder 2"/>
          <p:cNvSpPr>
            <a:spLocks noGrp="1"/>
          </p:cNvSpPr>
          <p:nvPr>
            <p:ph/>
          </p:nvPr>
        </p:nvSpPr>
        <p:spPr>
          <a:xfrm>
            <a:off x="838080" y="1825560"/>
            <a:ext cx="10514520" cy="3990960"/>
          </a:xfrm>
          <a:prstGeom prst="rect">
            <a:avLst/>
          </a:prstGeom>
          <a:noFill/>
          <a:ln w="0">
            <a:noFill/>
          </a:ln>
        </p:spPr>
        <p:txBody>
          <a:bodyPr lIns="90000" tIns="45000" rIns="90000" bIns="45000" anchor="t">
            <a:normAutofit fontScale="73000" lnSpcReduction="20000"/>
          </a:bodyPr>
          <a:lstStyle/>
          <a:p>
            <a:pPr marL="228600" indent="-228600">
              <a:lnSpc>
                <a:spcPct val="100000"/>
              </a:lnSpc>
              <a:spcBef>
                <a:spcPts val="1001"/>
              </a:spcBef>
              <a:buClr>
                <a:srgbClr val="000000"/>
              </a:buClr>
              <a:buFont typeface="Arial"/>
              <a:buChar char="•"/>
            </a:pPr>
            <a:r>
              <a:rPr lang="en-US" sz="2800" b="1" strike="noStrike" spc="-1">
                <a:solidFill>
                  <a:srgbClr val="000000"/>
                </a:solidFill>
                <a:latin typeface="Arial"/>
              </a:rPr>
              <a:t>September 2026</a:t>
            </a:r>
            <a:r>
              <a:rPr lang="en-US" sz="2800" b="0" strike="noStrike" spc="-1">
                <a:solidFill>
                  <a:srgbClr val="000000"/>
                </a:solidFill>
                <a:latin typeface="Arial"/>
              </a:rPr>
              <a:t>: Completion of physical component models (Subtask 1.1).  Begin construction of testbed (Subtask 1.3).</a:t>
            </a:r>
            <a:endParaRPr lang="en-US" sz="2800" b="0" strike="noStrike" spc="-1">
              <a:latin typeface="Arial"/>
            </a:endParaRPr>
          </a:p>
          <a:p>
            <a:pPr marL="228600" indent="-228600">
              <a:lnSpc>
                <a:spcPct val="100000"/>
              </a:lnSpc>
              <a:spcBef>
                <a:spcPts val="1001"/>
              </a:spcBef>
              <a:buClr>
                <a:srgbClr val="000000"/>
              </a:buClr>
              <a:buFont typeface="Arial"/>
              <a:buChar char="•"/>
            </a:pPr>
            <a:r>
              <a:rPr lang="en-US" sz="2800" b="1" strike="noStrike" spc="-1">
                <a:solidFill>
                  <a:srgbClr val="000000"/>
                </a:solidFill>
                <a:latin typeface="Arial"/>
              </a:rPr>
              <a:t>October 2026</a:t>
            </a:r>
            <a:r>
              <a:rPr lang="en-US" sz="2800" b="0" strike="noStrike" spc="-1">
                <a:solidFill>
                  <a:srgbClr val="000000"/>
                </a:solidFill>
                <a:latin typeface="Arial"/>
              </a:rPr>
              <a:t>: Complete degradation models (Subtask 1.2) and basic EMS controller models (Subtask 2.1) and obtain initial simulation results (Subtask 1.2).</a:t>
            </a:r>
            <a:endParaRPr lang="en-US" sz="2800" b="0" strike="noStrike" spc="-1">
              <a:latin typeface="Arial"/>
            </a:endParaRPr>
          </a:p>
          <a:p>
            <a:pPr marL="228600" indent="-228600">
              <a:lnSpc>
                <a:spcPct val="100000"/>
              </a:lnSpc>
              <a:spcBef>
                <a:spcPts val="1001"/>
              </a:spcBef>
              <a:buClr>
                <a:srgbClr val="000000"/>
              </a:buClr>
              <a:buFont typeface="Arial"/>
              <a:buChar char="•"/>
            </a:pPr>
            <a:r>
              <a:rPr lang="en-US" sz="2800" b="1" strike="noStrike" spc="-1">
                <a:solidFill>
                  <a:srgbClr val="000000"/>
                </a:solidFill>
                <a:latin typeface="Arial"/>
              </a:rPr>
              <a:t>November 2026</a:t>
            </a:r>
            <a:r>
              <a:rPr lang="en-US" sz="2800" b="0" strike="noStrike" spc="-1">
                <a:solidFill>
                  <a:srgbClr val="000000"/>
                </a:solidFill>
                <a:latin typeface="Arial"/>
              </a:rPr>
              <a:t>: Complete testbed construction (Subtask 1.3).</a:t>
            </a:r>
            <a:endParaRPr lang="en-US" sz="2800" b="0" strike="noStrike" spc="-1">
              <a:latin typeface="Arial"/>
            </a:endParaRPr>
          </a:p>
          <a:p>
            <a:pPr marL="228600" indent="-228600">
              <a:lnSpc>
                <a:spcPct val="100000"/>
              </a:lnSpc>
              <a:spcBef>
                <a:spcPts val="1001"/>
              </a:spcBef>
              <a:buClr>
                <a:srgbClr val="000000"/>
              </a:buClr>
              <a:buFont typeface="Arial"/>
              <a:buChar char="•"/>
            </a:pPr>
            <a:r>
              <a:rPr lang="en-US" sz="2800" b="1" strike="noStrike" spc="-1">
                <a:solidFill>
                  <a:srgbClr val="000000"/>
                </a:solidFill>
                <a:latin typeface="Arial"/>
              </a:rPr>
              <a:t>December 2026 and January 2027</a:t>
            </a:r>
            <a:r>
              <a:rPr lang="en-US" sz="2800" b="0" strike="noStrike" spc="-1">
                <a:solidFill>
                  <a:srgbClr val="000000"/>
                </a:solidFill>
                <a:latin typeface="Arial"/>
              </a:rPr>
              <a:t>: Calibrate controllers (Subtast 2.2) and validate results on testbed (Subtask 2.3).</a:t>
            </a:r>
            <a:endParaRPr lang="en-US" sz="2800" b="0" strike="noStrike" spc="-1">
              <a:latin typeface="Arial"/>
            </a:endParaRPr>
          </a:p>
          <a:p>
            <a:pPr marL="228600" indent="-228600">
              <a:lnSpc>
                <a:spcPct val="100000"/>
              </a:lnSpc>
              <a:spcBef>
                <a:spcPts val="1001"/>
              </a:spcBef>
              <a:buClr>
                <a:srgbClr val="000000"/>
              </a:buClr>
              <a:buFont typeface="Arial"/>
              <a:buChar char="•"/>
            </a:pPr>
            <a:r>
              <a:rPr lang="en-US" sz="2800" b="1" strike="noStrike" spc="-1">
                <a:solidFill>
                  <a:srgbClr val="000000"/>
                </a:solidFill>
                <a:latin typeface="Arial"/>
              </a:rPr>
              <a:t>February 2027</a:t>
            </a:r>
            <a:r>
              <a:rPr lang="en-US" sz="2800" b="0" strike="noStrike" spc="-1">
                <a:solidFill>
                  <a:srgbClr val="000000"/>
                </a:solidFill>
                <a:latin typeface="Arial"/>
              </a:rPr>
              <a:t>: Perform sensitivity analysis and parametric study (Subtask 3.1 and 3.2).</a:t>
            </a:r>
            <a:endParaRPr lang="en-US" sz="2800" b="0" strike="noStrike" spc="-1">
              <a:latin typeface="Arial"/>
            </a:endParaRPr>
          </a:p>
          <a:p>
            <a:pPr marL="228600" indent="-228600">
              <a:lnSpc>
                <a:spcPct val="100000"/>
              </a:lnSpc>
              <a:spcBef>
                <a:spcPts val="1001"/>
              </a:spcBef>
              <a:buClr>
                <a:srgbClr val="000000"/>
              </a:buClr>
              <a:buFont typeface="Arial"/>
              <a:buChar char="•"/>
            </a:pPr>
            <a:r>
              <a:rPr lang="en-US" sz="2800" b="1" strike="noStrike" spc="-1">
                <a:solidFill>
                  <a:srgbClr val="000000"/>
                </a:solidFill>
                <a:latin typeface="Arial"/>
              </a:rPr>
              <a:t>March and April 2027</a:t>
            </a:r>
            <a:r>
              <a:rPr lang="en-US" sz="2800" b="0" strike="noStrike" spc="-1">
                <a:solidFill>
                  <a:srgbClr val="000000"/>
                </a:solidFill>
                <a:latin typeface="Arial"/>
              </a:rPr>
              <a:t>: Build surrogate models (Subtask 3.3) and submit final results for defense and publication</a:t>
            </a:r>
            <a:endParaRPr lang="en-US" sz="2800" b="0" strike="noStrike" spc="-1">
              <a:latin typeface="Arial"/>
            </a:endParaRPr>
          </a:p>
          <a:p>
            <a:pPr>
              <a:lnSpc>
                <a:spcPct val="100000"/>
              </a:lnSpc>
              <a:spcBef>
                <a:spcPts val="1001"/>
              </a:spcBef>
              <a:buNone/>
            </a:pPr>
            <a:endParaRPr lang="en-US" sz="2800" b="0" strike="noStrike" spc="-1">
              <a:latin typeface="Arial"/>
            </a:endParaRPr>
          </a:p>
        </p:txBody>
      </p:sp>
      <p:sp>
        <p:nvSpPr>
          <p:cNvPr id="4" name="PlaceHolder 3"/>
          <p:cNvSpPr>
            <a:spLocks noGrp="1"/>
          </p:cNvSpPr>
          <p:nvPr>
            <p:ph type="sldNum" idx="3"/>
          </p:nvPr>
        </p:nvSpPr>
        <p:spPr/>
        <p:txBody>
          <a:bodyPr/>
          <a:lstStyle/>
          <a:p>
            <a:fld id="{6E6106D8-C08E-4960-A91A-991DB5ADCAD2}" type="slidenum">
              <a:rPr/>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PlaceHolder 1"/>
          <p:cNvSpPr>
            <a:spLocks noGrp="1"/>
          </p:cNvSpPr>
          <p:nvPr>
            <p:ph type="sldNum" idx="10"/>
          </p:nvPr>
        </p:nvSpPr>
        <p:spPr>
          <a:xfrm>
            <a:off x="304920" y="6095880"/>
            <a:ext cx="1140840" cy="302760"/>
          </a:xfrm>
          <a:prstGeom prst="rect">
            <a:avLst/>
          </a:prstGeom>
          <a:noFill/>
          <a:ln w="0">
            <a:noFill/>
          </a:ln>
        </p:spPr>
        <p:txBody>
          <a:bodyPr lIns="119880" tIns="60120" rIns="119880" bIns="60120" anchor="t">
            <a:noAutofit/>
          </a:bodyPr>
          <a:lstStyle>
            <a:lvl1pPr>
              <a:lnSpc>
                <a:spcPct val="100000"/>
              </a:lnSpc>
              <a:buNone/>
              <a:tabLst>
                <a:tab pos="0" algn="l"/>
              </a:tabLst>
              <a:defRPr lang="en-US" sz="1400" b="0" strike="noStrike" spc="-1">
                <a:solidFill>
                  <a:srgbClr val="8B8B8B"/>
                </a:solidFill>
                <a:latin typeface="Arial"/>
                <a:ea typeface="ＭＳ Ｐゴシック"/>
              </a:defRPr>
            </a:lvl1pPr>
          </a:lstStyle>
          <a:p>
            <a:pPr>
              <a:lnSpc>
                <a:spcPct val="100000"/>
              </a:lnSpc>
              <a:buNone/>
              <a:tabLst>
                <a:tab pos="0" algn="l"/>
              </a:tabLst>
            </a:pPr>
            <a:fld id="{0BBAAD92-DE03-46A2-81DB-C85D1469FA64}" type="slidenum">
              <a:rPr lang="en-US" sz="1400" b="0" strike="noStrike" spc="-1">
                <a:solidFill>
                  <a:srgbClr val="8B8B8B"/>
                </a:solidFill>
                <a:latin typeface="Arial"/>
                <a:ea typeface="ＭＳ Ｐゴシック"/>
              </a:rPr>
              <a:t>36</a:t>
            </a:fld>
            <a:endParaRPr lang="en-US" sz="1400" b="0" strike="noStrike" spc="-1">
              <a:latin typeface="Times New Roman"/>
            </a:endParaRPr>
          </a:p>
        </p:txBody>
      </p:sp>
      <p:sp>
        <p:nvSpPr>
          <p:cNvPr id="379" name="Title 1"/>
          <p:cNvSpPr/>
          <p:nvPr/>
        </p:nvSpPr>
        <p:spPr>
          <a:xfrm>
            <a:off x="0" y="152640"/>
            <a:ext cx="12189960" cy="684000"/>
          </a:xfrm>
          <a:prstGeom prst="rect">
            <a:avLst/>
          </a:prstGeom>
          <a:noFill/>
          <a:ln w="9360">
            <a:noFill/>
          </a:ln>
        </p:spPr>
        <p:style>
          <a:lnRef idx="0">
            <a:scrgbClr r="0" g="0" b="0"/>
          </a:lnRef>
          <a:fillRef idx="0">
            <a:scrgbClr r="0" g="0" b="0"/>
          </a:fillRef>
          <a:effectRef idx="0">
            <a:scrgbClr r="0" g="0" b="0"/>
          </a:effectRef>
          <a:fontRef idx="minor"/>
        </p:style>
        <p:txBody>
          <a:bodyPr lIns="91800" tIns="45000" rIns="91800" bIns="45000" numCol="1" spcCol="0" anchor="ctr">
            <a:noAutofit/>
          </a:bodyPr>
          <a:lstStyle/>
          <a:p>
            <a:pPr algn="ctr">
              <a:lnSpc>
                <a:spcPct val="100000"/>
              </a:lnSpc>
              <a:buNone/>
            </a:pPr>
            <a:r>
              <a:rPr lang="en-US" sz="3200" b="1" strike="noStrike" spc="-1">
                <a:solidFill>
                  <a:srgbClr val="000000"/>
                </a:solidFill>
                <a:latin typeface="Arial"/>
                <a:ea typeface="ＭＳ Ｐゴシック"/>
              </a:rPr>
              <a:t>Acknowledgements</a:t>
            </a:r>
            <a:endParaRPr lang="en-US" sz="3200" b="0" strike="noStrike" spc="-1">
              <a:latin typeface="Arial"/>
            </a:endParaRPr>
          </a:p>
        </p:txBody>
      </p:sp>
      <p:sp>
        <p:nvSpPr>
          <p:cNvPr id="380" name="TextBox 7"/>
          <p:cNvSpPr/>
          <p:nvPr/>
        </p:nvSpPr>
        <p:spPr>
          <a:xfrm>
            <a:off x="685800" y="4835520"/>
            <a:ext cx="10818720" cy="1093320"/>
          </a:xfrm>
          <a:prstGeom prst="rect">
            <a:avLst/>
          </a:prstGeom>
          <a:noFill/>
          <a:ln w="0">
            <a:noFill/>
          </a:ln>
        </p:spPr>
        <p:style>
          <a:lnRef idx="0">
            <a:scrgbClr r="0" g="0" b="0"/>
          </a:lnRef>
          <a:fillRef idx="0">
            <a:scrgbClr r="0" g="0" b="0"/>
          </a:fillRef>
          <a:effectRef idx="0">
            <a:scrgbClr r="0" g="0" b="0"/>
          </a:effectRef>
          <a:fontRef idx="minor"/>
        </p:style>
        <p:txBody>
          <a:bodyPr lIns="119880" tIns="60120" rIns="119880" bIns="60120" anchor="t">
            <a:spAutoFit/>
          </a:bodyPr>
          <a:lstStyle/>
          <a:p>
            <a:pPr algn="ctr">
              <a:lnSpc>
                <a:spcPct val="100000"/>
              </a:lnSpc>
              <a:buNone/>
            </a:pPr>
            <a:r>
              <a:rPr lang="en-US" sz="1600" b="0" strike="noStrike" spc="-1">
                <a:solidFill>
                  <a:srgbClr val="000000"/>
                </a:solidFill>
                <a:latin typeface="Arial"/>
                <a:ea typeface="ＭＳ Ｐゴシック"/>
              </a:rPr>
              <a:t>This material is based in part upon work supported by the Air Force Office of Scientific Research (AFOSR) through award no. FA9550-21-1-0083.  This work is also partly supported by the National Science Foundation (NSF) grant number 2237696.  Any opinions, findings, conclusions, or recommendations expressed in this material are those of the authors and do not necessarily reflect the views of the National Science Foundation or the United States Air Force</a:t>
            </a:r>
            <a:endParaRPr lang="en-US" sz="1600" b="0" strike="noStrike" spc="-1">
              <a:latin typeface="Arial"/>
            </a:endParaRPr>
          </a:p>
        </p:txBody>
      </p:sp>
      <p:pic>
        <p:nvPicPr>
          <p:cNvPr id="381" name="Picture 10" descr="A qr code with a cat&#10;&#10;Description automatically generated"/>
          <p:cNvPicPr/>
          <p:nvPr/>
        </p:nvPicPr>
        <p:blipFill>
          <a:blip r:embed="rId3"/>
          <a:stretch/>
        </p:blipFill>
        <p:spPr>
          <a:xfrm>
            <a:off x="7982280" y="1209600"/>
            <a:ext cx="3338640" cy="3338640"/>
          </a:xfrm>
          <a:prstGeom prst="rect">
            <a:avLst/>
          </a:prstGeom>
          <a:ln w="0">
            <a:noFill/>
          </a:ln>
        </p:spPr>
      </p:pic>
      <p:pic>
        <p:nvPicPr>
          <p:cNvPr id="382" name="Picture 4" descr="Air Force Office of Scientific Research (AFOSR) – Directory of  Organizations and Experts | Global Biodefense"/>
          <p:cNvPicPr/>
          <p:nvPr/>
        </p:nvPicPr>
        <p:blipFill>
          <a:blip r:embed="rId4"/>
          <a:stretch/>
        </p:blipFill>
        <p:spPr>
          <a:xfrm>
            <a:off x="193320" y="1589400"/>
            <a:ext cx="4153320" cy="2768040"/>
          </a:xfrm>
          <a:prstGeom prst="rect">
            <a:avLst/>
          </a:prstGeom>
          <a:ln w="0">
            <a:noFill/>
          </a:ln>
        </p:spPr>
      </p:pic>
      <p:pic>
        <p:nvPicPr>
          <p:cNvPr id="383" name="Picture 6" descr="National Science Foundation - Wikipedia"/>
          <p:cNvPicPr/>
          <p:nvPr/>
        </p:nvPicPr>
        <p:blipFill>
          <a:blip r:embed="rId5"/>
          <a:stretch/>
        </p:blipFill>
        <p:spPr>
          <a:xfrm>
            <a:off x="4209480" y="1398600"/>
            <a:ext cx="3149640" cy="3149640"/>
          </a:xfrm>
          <a:prstGeom prst="rect">
            <a:avLst/>
          </a:prstGeom>
          <a:ln w="0">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 name="PlaceHolder 1"/>
          <p:cNvSpPr>
            <a:spLocks noGrp="1"/>
          </p:cNvSpPr>
          <p:nvPr>
            <p:ph type="sldNum" idx="11"/>
          </p:nvPr>
        </p:nvSpPr>
        <p:spPr>
          <a:xfrm>
            <a:off x="304920" y="6095880"/>
            <a:ext cx="1140840" cy="302760"/>
          </a:xfrm>
          <a:prstGeom prst="rect">
            <a:avLst/>
          </a:prstGeom>
          <a:noFill/>
          <a:ln w="0">
            <a:noFill/>
          </a:ln>
        </p:spPr>
        <p:txBody>
          <a:bodyPr lIns="119880" tIns="60120" rIns="119880" bIns="60120" anchor="t">
            <a:noAutofit/>
          </a:bodyPr>
          <a:lstStyle>
            <a:lvl1pPr>
              <a:lnSpc>
                <a:spcPct val="100000"/>
              </a:lnSpc>
              <a:buNone/>
              <a:tabLst>
                <a:tab pos="0" algn="l"/>
              </a:tabLst>
              <a:defRPr lang="en-US" sz="1400" b="0" strike="noStrike" spc="-1">
                <a:solidFill>
                  <a:srgbClr val="8B8B8B"/>
                </a:solidFill>
                <a:latin typeface="Arial"/>
                <a:ea typeface="ＭＳ Ｐゴシック"/>
              </a:defRPr>
            </a:lvl1pPr>
          </a:lstStyle>
          <a:p>
            <a:pPr>
              <a:lnSpc>
                <a:spcPct val="100000"/>
              </a:lnSpc>
              <a:buNone/>
              <a:tabLst>
                <a:tab pos="0" algn="l"/>
              </a:tabLst>
            </a:pPr>
            <a:fld id="{3E491EAB-4C34-43D8-A00F-7AB37B37C97E}" type="slidenum">
              <a:rPr lang="en-US" sz="1400" b="0" strike="noStrike" spc="-1">
                <a:solidFill>
                  <a:srgbClr val="8B8B8B"/>
                </a:solidFill>
                <a:latin typeface="Arial"/>
                <a:ea typeface="ＭＳ Ｐゴシック"/>
              </a:rPr>
              <a:t>37</a:t>
            </a:fld>
            <a:endParaRPr lang="en-US" sz="1400" b="0" strike="noStrike" spc="-1">
              <a:latin typeface="Times New Roman"/>
            </a:endParaRPr>
          </a:p>
        </p:txBody>
      </p:sp>
      <p:sp>
        <p:nvSpPr>
          <p:cNvPr id="385" name="Title 1"/>
          <p:cNvSpPr/>
          <p:nvPr/>
        </p:nvSpPr>
        <p:spPr>
          <a:xfrm>
            <a:off x="0" y="152640"/>
            <a:ext cx="12189960" cy="684000"/>
          </a:xfrm>
          <a:prstGeom prst="rect">
            <a:avLst/>
          </a:prstGeom>
          <a:noFill/>
          <a:ln w="9360">
            <a:noFill/>
          </a:ln>
        </p:spPr>
        <p:style>
          <a:lnRef idx="0">
            <a:scrgbClr r="0" g="0" b="0"/>
          </a:lnRef>
          <a:fillRef idx="0">
            <a:scrgbClr r="0" g="0" b="0"/>
          </a:fillRef>
          <a:effectRef idx="0">
            <a:scrgbClr r="0" g="0" b="0"/>
          </a:effectRef>
          <a:fontRef idx="minor"/>
        </p:style>
        <p:txBody>
          <a:bodyPr lIns="91800" tIns="45000" rIns="91800" bIns="45000" numCol="1" spcCol="0" anchor="ctr">
            <a:noAutofit/>
          </a:bodyPr>
          <a:lstStyle/>
          <a:p>
            <a:pPr algn="ctr">
              <a:lnSpc>
                <a:spcPct val="100000"/>
              </a:lnSpc>
              <a:buNone/>
            </a:pPr>
            <a:r>
              <a:rPr lang="en-US" sz="3200" b="1" strike="noStrike" spc="-1">
                <a:solidFill>
                  <a:srgbClr val="000000"/>
                </a:solidFill>
                <a:latin typeface="Arial"/>
                <a:ea typeface="ＭＳ Ｐゴシック"/>
              </a:rPr>
              <a:t>Acknowledgements</a:t>
            </a:r>
            <a:endParaRPr lang="en-US" sz="3200" b="0" strike="noStrike" spc="-1">
              <a:latin typeface="Arial"/>
            </a:endParaRPr>
          </a:p>
        </p:txBody>
      </p:sp>
      <p:sp>
        <p:nvSpPr>
          <p:cNvPr id="386" name="TextBox 7"/>
          <p:cNvSpPr/>
          <p:nvPr/>
        </p:nvSpPr>
        <p:spPr>
          <a:xfrm>
            <a:off x="685800" y="838080"/>
            <a:ext cx="10818720" cy="2869859"/>
          </a:xfrm>
          <a:prstGeom prst="rect">
            <a:avLst/>
          </a:prstGeom>
          <a:noFill/>
          <a:ln w="0">
            <a:noFill/>
          </a:ln>
        </p:spPr>
        <p:style>
          <a:lnRef idx="0">
            <a:scrgbClr r="0" g="0" b="0"/>
          </a:lnRef>
          <a:fillRef idx="0">
            <a:scrgbClr r="0" g="0" b="0"/>
          </a:fillRef>
          <a:effectRef idx="0">
            <a:scrgbClr r="0" g="0" b="0"/>
          </a:effectRef>
          <a:fontRef idx="minor"/>
        </p:style>
        <p:txBody>
          <a:bodyPr lIns="119880" tIns="60120" rIns="119880" bIns="60120" anchor="t">
            <a:spAutoFit/>
          </a:bodyPr>
          <a:lstStyle/>
          <a:p>
            <a:pPr>
              <a:lnSpc>
                <a:spcPct val="100000"/>
              </a:lnSpc>
              <a:buNone/>
            </a:pPr>
            <a:r>
              <a:rPr lang="en-US" sz="3200" b="0" strike="noStrike" spc="-1" dirty="0">
                <a:solidFill>
                  <a:srgbClr val="000000"/>
                </a:solidFill>
                <a:latin typeface="Arial"/>
                <a:ea typeface="ＭＳ Ｐゴシック"/>
              </a:rPr>
              <a:t>Special thanks to the following people:</a:t>
            </a:r>
            <a:endParaRPr lang="en-US" sz="3200" b="0" strike="noStrike" spc="-1" dirty="0">
              <a:latin typeface="Arial"/>
            </a:endParaRPr>
          </a:p>
          <a:p>
            <a:pPr>
              <a:lnSpc>
                <a:spcPct val="100000"/>
              </a:lnSpc>
              <a:buNone/>
            </a:pPr>
            <a:endParaRPr lang="en-US" sz="2660" b="0" strike="noStrike" spc="-1" dirty="0">
              <a:latin typeface="Arial"/>
            </a:endParaRPr>
          </a:p>
          <a:p>
            <a:pPr>
              <a:lnSpc>
                <a:spcPct val="100000"/>
              </a:lnSpc>
              <a:buNone/>
            </a:pPr>
            <a:r>
              <a:rPr lang="en-US" sz="2400" b="0" strike="noStrike" spc="-1" dirty="0">
                <a:solidFill>
                  <a:srgbClr val="000000"/>
                </a:solidFill>
                <a:latin typeface="Arial"/>
                <a:ea typeface="ＭＳ Ｐゴシック"/>
              </a:rPr>
              <a:t>Jim Ferguson, Tim Gabriel, Michael Romero, and Kenny Dukes of SRNL for their support</a:t>
            </a:r>
            <a:endParaRPr lang="en-US" sz="2400" b="0" strike="noStrike" spc="-1" dirty="0">
              <a:latin typeface="Arial"/>
            </a:endParaRPr>
          </a:p>
          <a:p>
            <a:pPr>
              <a:lnSpc>
                <a:spcPct val="100000"/>
              </a:lnSpc>
              <a:buNone/>
            </a:pPr>
            <a:endParaRPr lang="en-US" sz="2400" b="0" strike="noStrike" spc="-1" dirty="0">
              <a:latin typeface="Arial"/>
            </a:endParaRPr>
          </a:p>
          <a:p>
            <a:pPr>
              <a:lnSpc>
                <a:spcPct val="100000"/>
              </a:lnSpc>
              <a:buNone/>
            </a:pPr>
            <a:r>
              <a:rPr lang="en-US" sz="2400" b="0" strike="noStrike" spc="-1" dirty="0">
                <a:solidFill>
                  <a:srgbClr val="000000"/>
                </a:solidFill>
                <a:latin typeface="Arial"/>
                <a:ea typeface="ＭＳ Ｐゴシック"/>
              </a:rPr>
              <a:t>Dr. Asimov and Mr. Anderson, Clarke, and Rodenberry for providing personal inspiration</a:t>
            </a:r>
            <a:endParaRPr lang="en-US" sz="2400" b="0" strike="noStrike" spc="-1" dirty="0">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PlaceHolder 1"/>
          <p:cNvSpPr>
            <a:spLocks noGrp="1"/>
          </p:cNvSpPr>
          <p:nvPr>
            <p:ph type="title"/>
          </p:nvPr>
        </p:nvSpPr>
        <p:spPr>
          <a:xfrm>
            <a:off x="831960" y="1396800"/>
            <a:ext cx="10514520" cy="1185120"/>
          </a:xfrm>
          <a:prstGeom prst="rect">
            <a:avLst/>
          </a:prstGeom>
          <a:noFill/>
          <a:ln w="0">
            <a:noFill/>
          </a:ln>
        </p:spPr>
        <p:txBody>
          <a:bodyPr lIns="90000" tIns="45000" rIns="90000" bIns="45000" anchor="t">
            <a:noAutofit/>
          </a:bodyPr>
          <a:lstStyle/>
          <a:p>
            <a:pPr algn="ctr">
              <a:lnSpc>
                <a:spcPct val="90000"/>
              </a:lnSpc>
              <a:buNone/>
            </a:pPr>
            <a:r>
              <a:rPr lang="en-US" sz="3600" b="0" strike="noStrike" spc="-1">
                <a:solidFill>
                  <a:srgbClr val="FFFFFF"/>
                </a:solidFill>
                <a:latin typeface="Arial Black"/>
              </a:rPr>
              <a:t>Thank You for Your Time</a:t>
            </a:r>
            <a:endParaRPr lang="en-US" sz="3600" b="0" strike="noStrike" spc="-1">
              <a:latin typeface="Arial"/>
            </a:endParaRPr>
          </a:p>
        </p:txBody>
      </p:sp>
      <p:sp>
        <p:nvSpPr>
          <p:cNvPr id="388" name="PlaceHolder 2"/>
          <p:cNvSpPr>
            <a:spLocks noGrp="1"/>
          </p:cNvSpPr>
          <p:nvPr>
            <p:ph/>
          </p:nvPr>
        </p:nvSpPr>
        <p:spPr>
          <a:xfrm>
            <a:off x="831960" y="4867920"/>
            <a:ext cx="5492880" cy="1499040"/>
          </a:xfrm>
          <a:prstGeom prst="rect">
            <a:avLst/>
          </a:prstGeom>
          <a:noFill/>
          <a:ln w="0">
            <a:noFill/>
          </a:ln>
        </p:spPr>
        <p:txBody>
          <a:bodyPr lIns="90000" tIns="45000" rIns="90000" bIns="45000" anchor="b">
            <a:noAutofit/>
          </a:bodyPr>
          <a:lstStyle/>
          <a:p>
            <a:pPr>
              <a:lnSpc>
                <a:spcPct val="100000"/>
              </a:lnSpc>
              <a:buNone/>
              <a:tabLst>
                <a:tab pos="0" algn="l"/>
              </a:tabLst>
            </a:pPr>
            <a:r>
              <a:rPr lang="en-US" sz="1800" b="0" strike="noStrike" spc="-1">
                <a:solidFill>
                  <a:srgbClr val="FFFFFF"/>
                </a:solidFill>
                <a:latin typeface="Arial"/>
              </a:rPr>
              <a:t>Name: Nathaniel Cooper</a:t>
            </a:r>
            <a:endParaRPr lang="en-US" sz="1800" b="0" strike="noStrike" spc="-1">
              <a:latin typeface="Arial"/>
            </a:endParaRPr>
          </a:p>
          <a:p>
            <a:pPr>
              <a:lnSpc>
                <a:spcPct val="100000"/>
              </a:lnSpc>
              <a:buNone/>
              <a:tabLst>
                <a:tab pos="0" algn="l"/>
              </a:tabLst>
            </a:pPr>
            <a:r>
              <a:rPr lang="en-US" sz="1800" b="0" strike="noStrike" spc="-1">
                <a:solidFill>
                  <a:srgbClr val="FFFFFF"/>
                </a:solidFill>
                <a:latin typeface="Arial"/>
              </a:rPr>
              <a:t>Title: Doctoral Candidate</a:t>
            </a:r>
            <a:endParaRPr lang="en-US" sz="1800" b="0" strike="noStrike" spc="-1">
              <a:latin typeface="Arial"/>
            </a:endParaRPr>
          </a:p>
          <a:p>
            <a:pPr>
              <a:lnSpc>
                <a:spcPct val="100000"/>
              </a:lnSpc>
              <a:buNone/>
              <a:tabLst>
                <a:tab pos="0" algn="l"/>
              </a:tabLst>
            </a:pPr>
            <a:r>
              <a:rPr lang="en-US" sz="1800" b="0" strike="noStrike" spc="-1">
                <a:solidFill>
                  <a:srgbClr val="FFFFFF"/>
                </a:solidFill>
                <a:latin typeface="Arial"/>
              </a:rPr>
              <a:t>Email: coopern2@email.sc.edu</a:t>
            </a:r>
            <a:endParaRPr lang="en-US" sz="1800" b="0" strike="noStrike" spc="-1">
              <a:latin typeface="Arial"/>
            </a:endParaRPr>
          </a:p>
          <a:p>
            <a:pPr>
              <a:lnSpc>
                <a:spcPct val="100000"/>
              </a:lnSpc>
              <a:buNone/>
              <a:tabLst>
                <a:tab pos="0" algn="l"/>
              </a:tabLst>
            </a:pPr>
            <a:r>
              <a:rPr lang="en-US" sz="1800" b="0" strike="noStrike" spc="-1">
                <a:solidFill>
                  <a:srgbClr val="FFFFFF"/>
                </a:solidFill>
                <a:latin typeface="Arial"/>
              </a:rPr>
              <a:t>Lab GitHub: github.com/arts-laboratory</a:t>
            </a:r>
            <a:endParaRPr lang="en-US" sz="1800" b="0" strike="noStrike" spc="-1">
              <a:latin typeface="Arial"/>
            </a:endParaRPr>
          </a:p>
        </p:txBody>
      </p:sp>
      <p:pic>
        <p:nvPicPr>
          <p:cNvPr id="389" name="Picture 4"/>
          <p:cNvPicPr/>
          <p:nvPr/>
        </p:nvPicPr>
        <p:blipFill>
          <a:blip r:embed="rId2"/>
          <a:stretch/>
        </p:blipFill>
        <p:spPr>
          <a:xfrm>
            <a:off x="4466880" y="1998360"/>
            <a:ext cx="3257640" cy="2706840"/>
          </a:xfrm>
          <a:prstGeom prst="rect">
            <a:avLst/>
          </a:prstGeom>
          <a:ln w="0">
            <a:noFill/>
          </a:ln>
        </p:spPr>
      </p:pic>
      <p:sp>
        <p:nvSpPr>
          <p:cNvPr id="390" name="TextBox 5"/>
          <p:cNvSpPr/>
          <p:nvPr/>
        </p:nvSpPr>
        <p:spPr>
          <a:xfrm>
            <a:off x="5524560" y="4837680"/>
            <a:ext cx="1141920" cy="196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700" b="0" strike="noStrike" spc="-1">
                <a:solidFill>
                  <a:srgbClr val="FFFFFF"/>
                </a:solidFill>
                <a:latin typeface="Arial"/>
                <a:ea typeface="DejaVu Sans"/>
              </a:rPr>
              <a:t>https://xkcd.com/2268/</a:t>
            </a:r>
            <a:endParaRPr lang="en-US" sz="700" b="0" strike="noStrike" spc="-1">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73000A"/>
      </a:dk2>
      <a:lt2>
        <a:srgbClr val="E7E6E6"/>
      </a:lt2>
      <a:accent1>
        <a:srgbClr val="0D3841"/>
      </a:accent1>
      <a:accent2>
        <a:srgbClr val="E23B38"/>
      </a:accent2>
      <a:accent3>
        <a:srgbClr val="759005"/>
      </a:accent3>
      <a:accent4>
        <a:srgbClr val="FFF89E"/>
      </a:accent4>
      <a:accent5>
        <a:srgbClr val="3277B6"/>
      </a:accent5>
      <a:accent6>
        <a:srgbClr val="C1D832"/>
      </a:accent6>
      <a:hlink>
        <a:srgbClr val="73000A"/>
      </a:hlink>
      <a:folHlink>
        <a:srgbClr val="E23B3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73000A"/>
      </a:dk2>
      <a:lt2>
        <a:srgbClr val="E7E6E6"/>
      </a:lt2>
      <a:accent1>
        <a:srgbClr val="0D3841"/>
      </a:accent1>
      <a:accent2>
        <a:srgbClr val="E23B38"/>
      </a:accent2>
      <a:accent3>
        <a:srgbClr val="759005"/>
      </a:accent3>
      <a:accent4>
        <a:srgbClr val="FFF89E"/>
      </a:accent4>
      <a:accent5>
        <a:srgbClr val="3277B6"/>
      </a:accent5>
      <a:accent6>
        <a:srgbClr val="C1D832"/>
      </a:accent6>
      <a:hlink>
        <a:srgbClr val="73000A"/>
      </a:hlink>
      <a:folHlink>
        <a:srgbClr val="E23B3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73000A"/>
      </a:dk2>
      <a:lt2>
        <a:srgbClr val="E7E6E6"/>
      </a:lt2>
      <a:accent1>
        <a:srgbClr val="0D3841"/>
      </a:accent1>
      <a:accent2>
        <a:srgbClr val="E23B38"/>
      </a:accent2>
      <a:accent3>
        <a:srgbClr val="759005"/>
      </a:accent3>
      <a:accent4>
        <a:srgbClr val="FFF89E"/>
      </a:accent4>
      <a:accent5>
        <a:srgbClr val="3277B6"/>
      </a:accent5>
      <a:accent6>
        <a:srgbClr val="C1D832"/>
      </a:accent6>
      <a:hlink>
        <a:srgbClr val="73000A"/>
      </a:hlink>
      <a:folHlink>
        <a:srgbClr val="E23B3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73000A"/>
      </a:dk2>
      <a:lt2>
        <a:srgbClr val="E7E6E6"/>
      </a:lt2>
      <a:accent1>
        <a:srgbClr val="0D3841"/>
      </a:accent1>
      <a:accent2>
        <a:srgbClr val="E23B38"/>
      </a:accent2>
      <a:accent3>
        <a:srgbClr val="759005"/>
      </a:accent3>
      <a:accent4>
        <a:srgbClr val="FFF89E"/>
      </a:accent4>
      <a:accent5>
        <a:srgbClr val="3277B6"/>
      </a:accent5>
      <a:accent6>
        <a:srgbClr val="C1D832"/>
      </a:accent6>
      <a:hlink>
        <a:srgbClr val="73000A"/>
      </a:hlink>
      <a:folHlink>
        <a:srgbClr val="E23B3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73000A"/>
      </a:dk2>
      <a:lt2>
        <a:srgbClr val="E7E6E6"/>
      </a:lt2>
      <a:accent1>
        <a:srgbClr val="0D3841"/>
      </a:accent1>
      <a:accent2>
        <a:srgbClr val="E23B38"/>
      </a:accent2>
      <a:accent3>
        <a:srgbClr val="759005"/>
      </a:accent3>
      <a:accent4>
        <a:srgbClr val="FFF89E"/>
      </a:accent4>
      <a:accent5>
        <a:srgbClr val="3277B6"/>
      </a:accent5>
      <a:accent6>
        <a:srgbClr val="C1D832"/>
      </a:accent6>
      <a:hlink>
        <a:srgbClr val="73000A"/>
      </a:hlink>
      <a:folHlink>
        <a:srgbClr val="E23B3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73000A"/>
      </a:dk2>
      <a:lt2>
        <a:srgbClr val="E7E6E6"/>
      </a:lt2>
      <a:accent1>
        <a:srgbClr val="0D3841"/>
      </a:accent1>
      <a:accent2>
        <a:srgbClr val="E23B38"/>
      </a:accent2>
      <a:accent3>
        <a:srgbClr val="759005"/>
      </a:accent3>
      <a:accent4>
        <a:srgbClr val="FFF89E"/>
      </a:accent4>
      <a:accent5>
        <a:srgbClr val="3277B6"/>
      </a:accent5>
      <a:accent6>
        <a:srgbClr val="C1D832"/>
      </a:accent6>
      <a:hlink>
        <a:srgbClr val="73000A"/>
      </a:hlink>
      <a:folHlink>
        <a:srgbClr val="E23B3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73000A"/>
      </a:dk2>
      <a:lt2>
        <a:srgbClr val="E7E6E6"/>
      </a:lt2>
      <a:accent1>
        <a:srgbClr val="0D3841"/>
      </a:accent1>
      <a:accent2>
        <a:srgbClr val="E23B38"/>
      </a:accent2>
      <a:accent3>
        <a:srgbClr val="759005"/>
      </a:accent3>
      <a:accent4>
        <a:srgbClr val="FFF89E"/>
      </a:accent4>
      <a:accent5>
        <a:srgbClr val="3277B6"/>
      </a:accent5>
      <a:accent6>
        <a:srgbClr val="C1D832"/>
      </a:accent6>
      <a:hlink>
        <a:srgbClr val="73000A"/>
      </a:hlink>
      <a:folHlink>
        <a:srgbClr val="E23B3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usc_engineering_powerpoint</Template>
  <TotalTime>1194</TotalTime>
  <Words>3669</Words>
  <Application>Microsoft Office PowerPoint</Application>
  <PresentationFormat>Widescreen</PresentationFormat>
  <Paragraphs>396</Paragraphs>
  <Slides>38</Slides>
  <Notes>33</Notes>
  <HiddenSlides>0</HiddenSlides>
  <MMClips>0</MMClips>
  <ScaleCrop>false</ScaleCrop>
  <HeadingPairs>
    <vt:vector size="6" baseType="variant">
      <vt:variant>
        <vt:lpstr>Fonts Used</vt:lpstr>
      </vt:variant>
      <vt:variant>
        <vt:i4>7</vt:i4>
      </vt:variant>
      <vt:variant>
        <vt:lpstr>Theme</vt:lpstr>
      </vt:variant>
      <vt:variant>
        <vt:i4>6</vt:i4>
      </vt:variant>
      <vt:variant>
        <vt:lpstr>Slide Titles</vt:lpstr>
      </vt:variant>
      <vt:variant>
        <vt:i4>38</vt:i4>
      </vt:variant>
    </vt:vector>
  </HeadingPairs>
  <TitlesOfParts>
    <vt:vector size="51" baseType="lpstr">
      <vt:lpstr>Arial</vt:lpstr>
      <vt:lpstr>Arial Black</vt:lpstr>
      <vt:lpstr>Cambria Math</vt:lpstr>
      <vt:lpstr>Noto Sans CJK SC</vt:lpstr>
      <vt:lpstr>Symbol</vt:lpstr>
      <vt:lpstr>Times New Roman</vt:lpstr>
      <vt:lpstr>Wingdings</vt:lpstr>
      <vt:lpstr>Office Theme</vt:lpstr>
      <vt:lpstr>Office Theme</vt:lpstr>
      <vt:lpstr>Office Theme</vt:lpstr>
      <vt:lpstr>Office Theme</vt:lpstr>
      <vt:lpstr>Office Theme</vt:lpstr>
      <vt:lpstr>Office Theme</vt:lpstr>
      <vt:lpstr>Development of Powertrain Component Models, Energy Management Strategies, and Economic and Performance Surrogate Models for All-Electric Aircraft in an Open-Source Framework</vt:lpstr>
      <vt:lpstr>Personal Information</vt:lpstr>
      <vt:lpstr>Agenda</vt:lpstr>
      <vt:lpstr>Relevant Publications</vt:lpstr>
      <vt:lpstr>Relevant Publications</vt:lpstr>
      <vt:lpstr>Other Publications</vt:lpstr>
      <vt:lpstr>Other Publications (Master’s Degree)</vt:lpstr>
      <vt:lpstr>Motivation</vt:lpstr>
      <vt:lpstr>Background and Initial Results</vt:lpstr>
      <vt:lpstr>Hybrid Electric Architectures </vt:lpstr>
      <vt:lpstr>Hybrid Electric Architectures </vt:lpstr>
      <vt:lpstr>Hybrid Electric Architectures </vt:lpstr>
      <vt:lpstr>Energy Management Systems</vt:lpstr>
      <vt:lpstr>Energy Management Systems </vt:lpstr>
      <vt:lpstr>Energy Management Systems</vt:lpstr>
      <vt:lpstr>Power Train Modeling: Power Supplies </vt:lpstr>
      <vt:lpstr>Power Train Modeling: Fuel Cell</vt:lpstr>
      <vt:lpstr>Power Train Modeling: Battery Stack </vt:lpstr>
      <vt:lpstr>Power Train Modeling: Fuel &amp; Air Supply Systems </vt:lpstr>
      <vt:lpstr>Power Train Modeling: Fuel &amp; Air Supply Systems </vt:lpstr>
      <vt:lpstr>Power Train Modeling: Thermal Loop</vt:lpstr>
      <vt:lpstr>Power Train Modeling: Fuel Cell Cooling Plates</vt:lpstr>
      <vt:lpstr>Power Train Modeling: Effectiveness-NTU Relations</vt:lpstr>
      <vt:lpstr>Power Train Modeling: Operational Mode Control</vt:lpstr>
      <vt:lpstr>Generic Flight Profile</vt:lpstr>
      <vt:lpstr>Fluctuations Study: Stack Sizing and  Study Parameters</vt:lpstr>
      <vt:lpstr>Fluctuations Study: Initial Results</vt:lpstr>
      <vt:lpstr>Objectives and Research Plan</vt:lpstr>
      <vt:lpstr>Major Objectives </vt:lpstr>
      <vt:lpstr>Task 1: Complete hybrid electric toolbox </vt:lpstr>
      <vt:lpstr>Task 1: Complete hybrid electric toolbox </vt:lpstr>
      <vt:lpstr>Task 2: Develop Energy Management Systems and Controllers</vt:lpstr>
      <vt:lpstr>Task 3: Explore Simulation Space </vt:lpstr>
      <vt:lpstr>Task 3: Explore Simulation Space </vt:lpstr>
      <vt:lpstr>Proposed Timeline </vt:lpstr>
      <vt:lpstr>PowerPoint Presentation</vt:lpstr>
      <vt:lpstr>PowerPoint Presentation</vt:lpstr>
      <vt:lpstr>Thank You for Your Time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Austin Downey</dc:creator>
  <dc:description/>
  <cp:lastModifiedBy>Cooper, Nathaniel</cp:lastModifiedBy>
  <cp:revision>82</cp:revision>
  <dcterms:created xsi:type="dcterms:W3CDTF">2024-06-17T18:22:44Z</dcterms:created>
  <dcterms:modified xsi:type="dcterms:W3CDTF">2026-08-28T12:52:52Z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27</vt:i4>
  </property>
  <property fmtid="{D5CDD505-2E9C-101B-9397-08002B2CF9AE}" pid="3" name="PresentationFormat">
    <vt:lpwstr>Widescreen</vt:lpwstr>
  </property>
  <property fmtid="{D5CDD505-2E9C-101B-9397-08002B2CF9AE}" pid="4" name="Slides">
    <vt:i4>34</vt:i4>
  </property>
</Properties>
</file>